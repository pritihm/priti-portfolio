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handoutMasterIdLst>
    <p:handoutMasterId r:id="rId71"/>
  </p:handoutMasterIdLst>
  <p:sldIdLst>
    <p:sldId id="256" r:id="rId2"/>
    <p:sldId id="257" r:id="rId3"/>
    <p:sldId id="307" r:id="rId4"/>
    <p:sldId id="274" r:id="rId5"/>
    <p:sldId id="268" r:id="rId6"/>
    <p:sldId id="261" r:id="rId7"/>
    <p:sldId id="269" r:id="rId8"/>
    <p:sldId id="271" r:id="rId9"/>
    <p:sldId id="272" r:id="rId10"/>
    <p:sldId id="273" r:id="rId11"/>
    <p:sldId id="279" r:id="rId12"/>
    <p:sldId id="275" r:id="rId13"/>
    <p:sldId id="276" r:id="rId14"/>
    <p:sldId id="310" r:id="rId15"/>
    <p:sldId id="277" r:id="rId16"/>
    <p:sldId id="278"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320" r:id="rId32"/>
    <p:sldId id="294" r:id="rId33"/>
    <p:sldId id="308" r:id="rId34"/>
    <p:sldId id="296" r:id="rId35"/>
    <p:sldId id="297" r:id="rId36"/>
    <p:sldId id="298" r:id="rId37"/>
    <p:sldId id="317" r:id="rId38"/>
    <p:sldId id="314" r:id="rId39"/>
    <p:sldId id="316" r:id="rId40"/>
    <p:sldId id="321" r:id="rId41"/>
    <p:sldId id="302" r:id="rId42"/>
    <p:sldId id="318" r:id="rId43"/>
    <p:sldId id="319" r:id="rId44"/>
    <p:sldId id="311" r:id="rId45"/>
    <p:sldId id="312" r:id="rId46"/>
    <p:sldId id="313" r:id="rId47"/>
    <p:sldId id="315" r:id="rId48"/>
    <p:sldId id="322" r:id="rId49"/>
    <p:sldId id="306" r:id="rId50"/>
    <p:sldId id="334" r:id="rId51"/>
    <p:sldId id="323" r:id="rId52"/>
    <p:sldId id="324" r:id="rId53"/>
    <p:sldId id="325" r:id="rId54"/>
    <p:sldId id="327" r:id="rId55"/>
    <p:sldId id="328" r:id="rId56"/>
    <p:sldId id="329" r:id="rId57"/>
    <p:sldId id="330" r:id="rId58"/>
    <p:sldId id="331" r:id="rId59"/>
    <p:sldId id="332" r:id="rId60"/>
    <p:sldId id="333" r:id="rId61"/>
    <p:sldId id="326" r:id="rId62"/>
    <p:sldId id="300" r:id="rId63"/>
    <p:sldId id="301" r:id="rId64"/>
    <p:sldId id="303" r:id="rId65"/>
    <p:sldId id="304" r:id="rId66"/>
    <p:sldId id="305" r:id="rId67"/>
    <p:sldId id="295" r:id="rId68"/>
    <p:sldId id="309" r:id="rId6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4608" autoAdjust="0"/>
  </p:normalViewPr>
  <p:slideViewPr>
    <p:cSldViewPr>
      <p:cViewPr varScale="1">
        <p:scale>
          <a:sx n="107" d="100"/>
          <a:sy n="107" d="100"/>
        </p:scale>
        <p:origin x="970"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3" d="100"/>
          <a:sy n="63" d="100"/>
        </p:scale>
        <p:origin x="-3163"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3"/>
    </mc:Choice>
    <mc:Fallback>
      <c:style val="43"/>
    </mc:Fallback>
  </mc:AlternateContent>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2160" b="1" i="0" u="none" strike="noStrike" kern="1200" baseline="0">
                <a:solidFill>
                  <a:prstClr val="white"/>
                </a:solidFill>
                <a:latin typeface="+mn-lt"/>
                <a:ea typeface="+mn-ea"/>
                <a:cs typeface="+mn-cs"/>
              </a:defRPr>
            </a:pPr>
            <a:r>
              <a:rPr lang="en-US" sz="1800" b="1" dirty="0"/>
              <a:t>Efforts &amp; Work Preferences Chart</a:t>
            </a:r>
            <a:endParaRPr lang="en-US" dirty="0"/>
          </a:p>
        </c:rich>
      </c:tx>
      <c:layout>
        <c:manualLayout>
          <c:xMode val="edge"/>
          <c:yMode val="edge"/>
          <c:x val="0.35268100957077336"/>
          <c:y val="4.8913043478260872E-2"/>
        </c:manualLayout>
      </c:layout>
      <c:overlay val="0"/>
    </c:title>
    <c:autoTitleDeleted val="0"/>
    <c:plotArea>
      <c:layout>
        <c:manualLayout>
          <c:layoutTarget val="inner"/>
          <c:xMode val="edge"/>
          <c:yMode val="edge"/>
          <c:x val="5.0632705002783822E-2"/>
          <c:y val="0.15193053161254291"/>
          <c:w val="0.93084877647870534"/>
          <c:h val="0.51928015654848314"/>
        </c:manualLayout>
      </c:layout>
      <c:barChart>
        <c:barDir val="col"/>
        <c:grouping val="clustered"/>
        <c:varyColors val="0"/>
        <c:ser>
          <c:idx val="0"/>
          <c:order val="0"/>
          <c:tx>
            <c:strRef>
              <c:f>Sheet1!$B$1</c:f>
              <c:strCache>
                <c:ptCount val="1"/>
                <c:pt idx="0">
                  <c:v>Percentage</c:v>
                </c:pt>
              </c:strCache>
            </c:strRef>
          </c:tx>
          <c:invertIfNegative val="0"/>
          <c:dPt>
            <c:idx val="0"/>
            <c:invertIfNegative val="0"/>
            <c:bubble3D val="0"/>
            <c:spPr>
              <a:solidFill>
                <a:srgbClr val="00B050"/>
              </a:solidFill>
            </c:spPr>
            <c:extLst>
              <c:ext xmlns:c16="http://schemas.microsoft.com/office/drawing/2014/chart" uri="{C3380CC4-5D6E-409C-BE32-E72D297353CC}">
                <c16:uniqueId val="{00000000-FFAE-497B-AF31-CD44918A7117}"/>
              </c:ext>
            </c:extLst>
          </c:dPt>
          <c:dPt>
            <c:idx val="2"/>
            <c:invertIfNegative val="0"/>
            <c:bubble3D val="0"/>
            <c:spPr>
              <a:solidFill>
                <a:srgbClr val="FFC000"/>
              </a:solidFill>
            </c:spPr>
            <c:extLst>
              <c:ext xmlns:c16="http://schemas.microsoft.com/office/drawing/2014/chart" uri="{C3380CC4-5D6E-409C-BE32-E72D297353CC}">
                <c16:uniqueId val="{00000001-FFAE-497B-AF31-CD44918A7117}"/>
              </c:ext>
            </c:extLst>
          </c:dPt>
          <c:dPt>
            <c:idx val="3"/>
            <c:invertIfNegative val="0"/>
            <c:bubble3D val="0"/>
            <c:spPr>
              <a:solidFill>
                <a:schemeClr val="accent2">
                  <a:lumMod val="75000"/>
                </a:schemeClr>
              </a:solidFill>
            </c:spPr>
            <c:extLst>
              <c:ext xmlns:c16="http://schemas.microsoft.com/office/drawing/2014/chart" uri="{C3380CC4-5D6E-409C-BE32-E72D297353CC}">
                <c16:uniqueId val="{00000002-FFAE-497B-AF31-CD44918A7117}"/>
              </c:ext>
            </c:extLst>
          </c:dPt>
          <c:dPt>
            <c:idx val="4"/>
            <c:invertIfNegative val="0"/>
            <c:bubble3D val="0"/>
            <c:spPr>
              <a:solidFill>
                <a:schemeClr val="accent6">
                  <a:lumMod val="75000"/>
                </a:schemeClr>
              </a:solidFill>
            </c:spPr>
            <c:extLst>
              <c:ext xmlns:c16="http://schemas.microsoft.com/office/drawing/2014/chart" uri="{C3380CC4-5D6E-409C-BE32-E72D297353CC}">
                <c16:uniqueId val="{00000003-FFAE-497B-AF31-CD44918A7117}"/>
              </c:ext>
            </c:extLst>
          </c:dPt>
          <c:dPt>
            <c:idx val="5"/>
            <c:invertIfNegative val="0"/>
            <c:bubble3D val="0"/>
            <c:spPr>
              <a:solidFill>
                <a:srgbClr val="92D050"/>
              </a:solidFill>
            </c:spPr>
            <c:extLst>
              <c:ext xmlns:c16="http://schemas.microsoft.com/office/drawing/2014/chart" uri="{C3380CC4-5D6E-409C-BE32-E72D297353CC}">
                <c16:uniqueId val="{00000004-FFAE-497B-AF31-CD44918A7117}"/>
              </c:ext>
            </c:extLst>
          </c:dPt>
          <c:dPt>
            <c:idx val="6"/>
            <c:invertIfNegative val="0"/>
            <c:bubble3D val="0"/>
            <c:spPr>
              <a:solidFill>
                <a:schemeClr val="accent4">
                  <a:lumMod val="60000"/>
                  <a:lumOff val="40000"/>
                </a:schemeClr>
              </a:solidFill>
            </c:spPr>
            <c:extLst>
              <c:ext xmlns:c16="http://schemas.microsoft.com/office/drawing/2014/chart" uri="{C3380CC4-5D6E-409C-BE32-E72D297353CC}">
                <c16:uniqueId val="{00000005-FFAE-497B-AF31-CD44918A7117}"/>
              </c:ext>
            </c:extLst>
          </c:dPt>
          <c:dPt>
            <c:idx val="7"/>
            <c:invertIfNegative val="0"/>
            <c:bubble3D val="0"/>
            <c:spPr>
              <a:solidFill>
                <a:schemeClr val="bg1">
                  <a:lumMod val="75000"/>
                </a:schemeClr>
              </a:solidFill>
            </c:spPr>
            <c:extLst>
              <c:ext xmlns:c16="http://schemas.microsoft.com/office/drawing/2014/chart" uri="{C3380CC4-5D6E-409C-BE32-E72D297353CC}">
                <c16:uniqueId val="{00000006-FFAE-497B-AF31-CD44918A7117}"/>
              </c:ext>
            </c:extLst>
          </c:dPt>
          <c:dLbls>
            <c:dLbl>
              <c:idx val="0"/>
              <c:spPr/>
              <c:txPr>
                <a:bodyPr/>
                <a:lstStyle/>
                <a:p>
                  <a:pPr>
                    <a:defRPr sz="1200">
                      <a:solidFill>
                        <a:schemeClr val="accent3">
                          <a:lumMod val="60000"/>
                          <a:lumOff val="40000"/>
                        </a:schemeClr>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0-FFAE-497B-AF31-CD44918A7117}"/>
                </c:ext>
              </c:extLst>
            </c:dLbl>
            <c:dLbl>
              <c:idx val="1"/>
              <c:spPr/>
              <c:txPr>
                <a:bodyPr/>
                <a:lstStyle/>
                <a:p>
                  <a:pPr>
                    <a:defRPr sz="1200">
                      <a:solidFill>
                        <a:schemeClr val="tx2">
                          <a:lumMod val="40000"/>
                          <a:lumOff val="60000"/>
                        </a:schemeClr>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7-FFAE-497B-AF31-CD44918A7117}"/>
                </c:ext>
              </c:extLst>
            </c:dLbl>
            <c:dLbl>
              <c:idx val="2"/>
              <c:spPr/>
              <c:txPr>
                <a:bodyPr/>
                <a:lstStyle/>
                <a:p>
                  <a:pPr>
                    <a:defRPr sz="1200">
                      <a:solidFill>
                        <a:srgbClr val="FFFF00"/>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1-FFAE-497B-AF31-CD44918A7117}"/>
                </c:ext>
              </c:extLst>
            </c:dLbl>
            <c:dLbl>
              <c:idx val="3"/>
              <c:spPr/>
              <c:txPr>
                <a:bodyPr/>
                <a:lstStyle/>
                <a:p>
                  <a:pPr>
                    <a:defRPr sz="1200">
                      <a:solidFill>
                        <a:srgbClr val="FF0000"/>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2-FFAE-497B-AF31-CD44918A7117}"/>
                </c:ext>
              </c:extLst>
            </c:dLbl>
            <c:dLbl>
              <c:idx val="4"/>
              <c:spPr/>
              <c:txPr>
                <a:bodyPr/>
                <a:lstStyle/>
                <a:p>
                  <a:pPr>
                    <a:defRPr sz="1200">
                      <a:solidFill>
                        <a:srgbClr val="FFC000"/>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3-FFAE-497B-AF31-CD44918A7117}"/>
                </c:ext>
              </c:extLst>
            </c:dLbl>
            <c:dLbl>
              <c:idx val="5"/>
              <c:spPr/>
              <c:txPr>
                <a:bodyPr/>
                <a:lstStyle/>
                <a:p>
                  <a:pPr>
                    <a:defRPr sz="1200">
                      <a:solidFill>
                        <a:srgbClr val="92D050"/>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4-FFAE-497B-AF31-CD44918A7117}"/>
                </c:ext>
              </c:extLst>
            </c:dLbl>
            <c:dLbl>
              <c:idx val="6"/>
              <c:spPr/>
              <c:txPr>
                <a:bodyPr/>
                <a:lstStyle/>
                <a:p>
                  <a:pPr>
                    <a:defRPr sz="1200">
                      <a:solidFill>
                        <a:schemeClr val="accent4">
                          <a:lumMod val="40000"/>
                          <a:lumOff val="60000"/>
                        </a:schemeClr>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5-FFAE-497B-AF31-CD44918A7117}"/>
                </c:ext>
              </c:extLst>
            </c:dLbl>
            <c:dLbl>
              <c:idx val="7"/>
              <c:spPr/>
              <c:txPr>
                <a:bodyPr/>
                <a:lstStyle/>
                <a:p>
                  <a:pPr>
                    <a:defRPr sz="1200">
                      <a:solidFill>
                        <a:schemeClr val="bg1">
                          <a:lumMod val="85000"/>
                        </a:schemeClr>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6-FFAE-497B-AF31-CD44918A7117}"/>
                </c:ext>
              </c:extLst>
            </c:dLbl>
            <c:spPr>
              <a:noFill/>
              <a:ln>
                <a:noFill/>
              </a:ln>
              <a:effectLst/>
            </c:spPr>
            <c:txPr>
              <a:bodyPr/>
              <a:lstStyle/>
              <a:p>
                <a:pPr>
                  <a:defRPr sz="12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Students</c:v>
                </c:pt>
                <c:pt idx="1">
                  <c:v>Website</c:v>
                </c:pt>
                <c:pt idx="2">
                  <c:v>E-commerce</c:v>
                </c:pt>
                <c:pt idx="3">
                  <c:v>Mobile Apps</c:v>
                </c:pt>
                <c:pt idx="4">
                  <c:v>Digital Mktg</c:v>
                </c:pt>
                <c:pt idx="5">
                  <c:v>IOT</c:v>
                </c:pt>
                <c:pt idx="6">
                  <c:v>Digital Trns</c:v>
                </c:pt>
                <c:pt idx="7">
                  <c:v>AR-VR</c:v>
                </c:pt>
              </c:strCache>
            </c:strRef>
          </c:cat>
          <c:val>
            <c:numRef>
              <c:f>Sheet1!$B$2:$B$9</c:f>
              <c:numCache>
                <c:formatCode>General</c:formatCode>
                <c:ptCount val="8"/>
                <c:pt idx="0">
                  <c:v>100</c:v>
                </c:pt>
                <c:pt idx="1">
                  <c:v>80</c:v>
                </c:pt>
                <c:pt idx="2">
                  <c:v>70</c:v>
                </c:pt>
                <c:pt idx="3">
                  <c:v>60</c:v>
                </c:pt>
                <c:pt idx="4">
                  <c:v>50</c:v>
                </c:pt>
                <c:pt idx="5">
                  <c:v>40</c:v>
                </c:pt>
                <c:pt idx="6">
                  <c:v>30</c:v>
                </c:pt>
                <c:pt idx="7">
                  <c:v>20</c:v>
                </c:pt>
              </c:numCache>
            </c:numRef>
          </c:val>
          <c:extLst>
            <c:ext xmlns:c16="http://schemas.microsoft.com/office/drawing/2014/chart" uri="{C3380CC4-5D6E-409C-BE32-E72D297353CC}">
              <c16:uniqueId val="{00000008-FFAE-497B-AF31-CD44918A7117}"/>
            </c:ext>
          </c:extLst>
        </c:ser>
        <c:dLbls>
          <c:showLegendKey val="0"/>
          <c:showVal val="0"/>
          <c:showCatName val="0"/>
          <c:showSerName val="0"/>
          <c:showPercent val="0"/>
          <c:showBubbleSize val="0"/>
        </c:dLbls>
        <c:gapWidth val="150"/>
        <c:axId val="158173824"/>
        <c:axId val="158179712"/>
      </c:barChart>
      <c:catAx>
        <c:axId val="158173824"/>
        <c:scaling>
          <c:orientation val="minMax"/>
        </c:scaling>
        <c:delete val="0"/>
        <c:axPos val="b"/>
        <c:numFmt formatCode="General" sourceLinked="0"/>
        <c:majorTickMark val="out"/>
        <c:minorTickMark val="none"/>
        <c:tickLblPos val="nextTo"/>
        <c:txPr>
          <a:bodyPr rot="-5400000" vert="horz"/>
          <a:lstStyle/>
          <a:p>
            <a:pPr>
              <a:defRPr sz="1200"/>
            </a:pPr>
            <a:endParaRPr lang="en-US"/>
          </a:p>
        </c:txPr>
        <c:crossAx val="158179712"/>
        <c:crosses val="autoZero"/>
        <c:auto val="1"/>
        <c:lblAlgn val="ctr"/>
        <c:lblOffset val="100"/>
        <c:noMultiLvlLbl val="0"/>
      </c:catAx>
      <c:valAx>
        <c:axId val="158179712"/>
        <c:scaling>
          <c:orientation val="minMax"/>
        </c:scaling>
        <c:delete val="1"/>
        <c:axPos val="l"/>
        <c:majorGridlines/>
        <c:numFmt formatCode="General" sourceLinked="1"/>
        <c:majorTickMark val="out"/>
        <c:minorTickMark val="none"/>
        <c:tickLblPos val="nextTo"/>
        <c:crossAx val="15817382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EEBEAC-CAD6-4544-ABF2-97E2C2835D9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F95CF1BD-BCF4-486B-94DC-EBDD418330D2}">
      <dgm:prSet phldrT="[Text]" custT="1"/>
      <dgm:spPr/>
      <dgm:t>
        <a:bodyPr/>
        <a:lstStyle/>
        <a:p>
          <a:r>
            <a:rPr lang="en-IN" sz="1200" b="1" dirty="0">
              <a:solidFill>
                <a:srgbClr val="FFFF00"/>
              </a:solidFill>
            </a:rPr>
            <a:t>Planning/ BRD</a:t>
          </a:r>
          <a:endParaRPr lang="en-US" sz="1200" b="1" dirty="0">
            <a:solidFill>
              <a:srgbClr val="FFFF00"/>
            </a:solidFill>
          </a:endParaRPr>
        </a:p>
      </dgm:t>
    </dgm:pt>
    <dgm:pt modelId="{1C5FE7F2-A91E-4F20-9535-2BF182ACD365}" type="parTrans" cxnId="{29169A22-AB7B-4469-B805-91337FDD559A}">
      <dgm:prSet/>
      <dgm:spPr/>
      <dgm:t>
        <a:bodyPr/>
        <a:lstStyle/>
        <a:p>
          <a:endParaRPr lang="en-US"/>
        </a:p>
      </dgm:t>
    </dgm:pt>
    <dgm:pt modelId="{4F3AA56E-13C5-48AB-9DAC-570AF28B8319}" type="sibTrans" cxnId="{29169A22-AB7B-4469-B805-91337FDD559A}">
      <dgm:prSet/>
      <dgm:spPr/>
      <dgm:t>
        <a:bodyPr/>
        <a:lstStyle/>
        <a:p>
          <a:endParaRPr lang="en-US"/>
        </a:p>
      </dgm:t>
    </dgm:pt>
    <dgm:pt modelId="{801E7190-D57D-41EE-A869-CCAC2FF57B2B}">
      <dgm:prSet phldrT="[Text]"/>
      <dgm:spPr/>
      <dgm:t>
        <a:bodyPr/>
        <a:lstStyle/>
        <a:p>
          <a:r>
            <a:rPr lang="en-US" dirty="0"/>
            <a:t>Define the project scope and objectives. Identify resources, timelines, and budget. Conduct feasibility studies and risk assessments.</a:t>
          </a:r>
        </a:p>
      </dgm:t>
    </dgm:pt>
    <dgm:pt modelId="{D0BF0867-A4D4-47C4-B394-067275238B0A}" type="parTrans" cxnId="{596AD352-74FA-4E20-8DF6-5CA4BBBC4CEF}">
      <dgm:prSet/>
      <dgm:spPr/>
      <dgm:t>
        <a:bodyPr/>
        <a:lstStyle/>
        <a:p>
          <a:endParaRPr lang="en-US"/>
        </a:p>
      </dgm:t>
    </dgm:pt>
    <dgm:pt modelId="{EEE4038D-DC4A-4739-AC3A-04E746F21B75}" type="sibTrans" cxnId="{596AD352-74FA-4E20-8DF6-5CA4BBBC4CEF}">
      <dgm:prSet/>
      <dgm:spPr/>
      <dgm:t>
        <a:bodyPr/>
        <a:lstStyle/>
        <a:p>
          <a:endParaRPr lang="en-US"/>
        </a:p>
      </dgm:t>
    </dgm:pt>
    <dgm:pt modelId="{F97C6002-F1C3-439C-BB43-D849414859E7}">
      <dgm:prSet phldrT="[Text]" custT="1"/>
      <dgm:spPr/>
      <dgm:t>
        <a:bodyPr/>
        <a:lstStyle/>
        <a:p>
          <a:r>
            <a:rPr lang="en-US" sz="1200" b="1" dirty="0">
              <a:solidFill>
                <a:schemeClr val="accent1">
                  <a:lumMod val="20000"/>
                  <a:lumOff val="80000"/>
                </a:schemeClr>
              </a:solidFill>
            </a:rPr>
            <a:t>Requirements</a:t>
          </a:r>
          <a:r>
            <a:rPr lang="en-US" sz="1200" b="1" dirty="0">
              <a:solidFill>
                <a:srgbClr val="002060"/>
              </a:solidFill>
            </a:rPr>
            <a:t> </a:t>
          </a:r>
          <a:r>
            <a:rPr lang="en-US" sz="1200" b="1" dirty="0">
              <a:solidFill>
                <a:schemeClr val="accent1">
                  <a:lumMod val="20000"/>
                  <a:lumOff val="80000"/>
                </a:schemeClr>
              </a:solidFill>
            </a:rPr>
            <a:t>Analysis</a:t>
          </a:r>
        </a:p>
      </dgm:t>
    </dgm:pt>
    <dgm:pt modelId="{AB9A18AF-B388-41BB-A9F6-4A7A47741C58}" type="parTrans" cxnId="{6F8BEBF2-641F-4DB2-9E41-26CF141AA775}">
      <dgm:prSet/>
      <dgm:spPr/>
      <dgm:t>
        <a:bodyPr/>
        <a:lstStyle/>
        <a:p>
          <a:endParaRPr lang="en-US"/>
        </a:p>
      </dgm:t>
    </dgm:pt>
    <dgm:pt modelId="{7EEE5C2E-124B-4D98-B451-4EC19C9A89D1}" type="sibTrans" cxnId="{6F8BEBF2-641F-4DB2-9E41-26CF141AA775}">
      <dgm:prSet/>
      <dgm:spPr/>
      <dgm:t>
        <a:bodyPr/>
        <a:lstStyle/>
        <a:p>
          <a:endParaRPr lang="en-US"/>
        </a:p>
      </dgm:t>
    </dgm:pt>
    <dgm:pt modelId="{4D446AD4-AC83-4071-BC3D-C9D9EB5C31CF}">
      <dgm:prSet phldrT="[Text]"/>
      <dgm:spPr/>
      <dgm:t>
        <a:bodyPr/>
        <a:lstStyle/>
        <a:p>
          <a:r>
            <a:rPr lang="en-US" dirty="0"/>
            <a:t>Gather and document functional and non-functional requirements. Engage with stakeholders to ensure all needs are captured.</a:t>
          </a:r>
        </a:p>
      </dgm:t>
    </dgm:pt>
    <dgm:pt modelId="{D9E76CBB-47F1-4070-8682-293FDC915879}" type="parTrans" cxnId="{13EBC3B1-A716-47A2-978D-7BE235DDC4DD}">
      <dgm:prSet/>
      <dgm:spPr/>
      <dgm:t>
        <a:bodyPr/>
        <a:lstStyle/>
        <a:p>
          <a:endParaRPr lang="en-US"/>
        </a:p>
      </dgm:t>
    </dgm:pt>
    <dgm:pt modelId="{FE6217F3-82E7-4053-BA7F-467DBE7BC9EA}" type="sibTrans" cxnId="{13EBC3B1-A716-47A2-978D-7BE235DDC4DD}">
      <dgm:prSet/>
      <dgm:spPr/>
      <dgm:t>
        <a:bodyPr/>
        <a:lstStyle/>
        <a:p>
          <a:endParaRPr lang="en-US"/>
        </a:p>
      </dgm:t>
    </dgm:pt>
    <dgm:pt modelId="{8CAE8D3D-75A5-452D-B4E6-3256DECEBD62}">
      <dgm:prSet phldrT="[Text]" custT="1"/>
      <dgm:spPr/>
      <dgm:t>
        <a:bodyPr/>
        <a:lstStyle/>
        <a:p>
          <a:r>
            <a:rPr lang="en-IN" sz="1200" b="1" dirty="0"/>
            <a:t>Design</a:t>
          </a:r>
          <a:endParaRPr lang="en-US" sz="1200" b="1" dirty="0"/>
        </a:p>
      </dgm:t>
    </dgm:pt>
    <dgm:pt modelId="{FAE881C9-CD11-4B12-B9B9-281D0F9F8414}" type="parTrans" cxnId="{22455920-4833-4D37-ADA2-ECA74CC3C241}">
      <dgm:prSet/>
      <dgm:spPr/>
      <dgm:t>
        <a:bodyPr/>
        <a:lstStyle/>
        <a:p>
          <a:endParaRPr lang="en-US"/>
        </a:p>
      </dgm:t>
    </dgm:pt>
    <dgm:pt modelId="{F50BCB32-A16B-4F9C-B2BE-D6CBF6610AEF}" type="sibTrans" cxnId="{22455920-4833-4D37-ADA2-ECA74CC3C241}">
      <dgm:prSet/>
      <dgm:spPr/>
      <dgm:t>
        <a:bodyPr/>
        <a:lstStyle/>
        <a:p>
          <a:endParaRPr lang="en-US"/>
        </a:p>
      </dgm:t>
    </dgm:pt>
    <dgm:pt modelId="{07589BF5-6F9F-4699-8420-795A68F7EB91}">
      <dgm:prSet phldrT="[Text]"/>
      <dgm:spPr/>
      <dgm:t>
        <a:bodyPr/>
        <a:lstStyle/>
        <a:p>
          <a:r>
            <a:rPr lang="en-US" dirty="0"/>
            <a:t>Create architectural designs and detailed specifications. Plan the system architecture, database design, and user interfaces.</a:t>
          </a:r>
        </a:p>
      </dgm:t>
    </dgm:pt>
    <dgm:pt modelId="{B7B4DC83-900F-4895-8ECC-2CC3EE6EA8AA}" type="parTrans" cxnId="{DAB698A6-9559-40B0-9E88-3B999D50B303}">
      <dgm:prSet/>
      <dgm:spPr/>
      <dgm:t>
        <a:bodyPr/>
        <a:lstStyle/>
        <a:p>
          <a:endParaRPr lang="en-US"/>
        </a:p>
      </dgm:t>
    </dgm:pt>
    <dgm:pt modelId="{0E084A40-1DE6-4341-9830-44D948C1F514}" type="sibTrans" cxnId="{DAB698A6-9559-40B0-9E88-3B999D50B303}">
      <dgm:prSet/>
      <dgm:spPr/>
      <dgm:t>
        <a:bodyPr/>
        <a:lstStyle/>
        <a:p>
          <a:endParaRPr lang="en-US"/>
        </a:p>
      </dgm:t>
    </dgm:pt>
    <dgm:pt modelId="{2326350D-63D9-45B1-81DE-D9352566D28F}">
      <dgm:prSet custT="1"/>
      <dgm:spPr/>
      <dgm:t>
        <a:bodyPr/>
        <a:lstStyle/>
        <a:p>
          <a:r>
            <a:rPr lang="en-IN" sz="1200" b="1" dirty="0">
              <a:solidFill>
                <a:schemeClr val="accent6">
                  <a:lumMod val="60000"/>
                  <a:lumOff val="40000"/>
                </a:schemeClr>
              </a:solidFill>
            </a:rPr>
            <a:t>Development</a:t>
          </a:r>
          <a:endParaRPr lang="en-US" sz="1200" b="1" dirty="0">
            <a:solidFill>
              <a:schemeClr val="accent6">
                <a:lumMod val="60000"/>
                <a:lumOff val="40000"/>
              </a:schemeClr>
            </a:solidFill>
          </a:endParaRPr>
        </a:p>
      </dgm:t>
    </dgm:pt>
    <dgm:pt modelId="{A30311C1-6CD4-4DC0-AE5A-20B26B9BC2B7}" type="parTrans" cxnId="{FAC8F71C-6667-4A91-A854-BC7BDE112CFF}">
      <dgm:prSet/>
      <dgm:spPr/>
      <dgm:t>
        <a:bodyPr/>
        <a:lstStyle/>
        <a:p>
          <a:endParaRPr lang="en-US"/>
        </a:p>
      </dgm:t>
    </dgm:pt>
    <dgm:pt modelId="{840B18DE-2344-40B8-8C9E-A3FCE3598F19}" type="sibTrans" cxnId="{FAC8F71C-6667-4A91-A854-BC7BDE112CFF}">
      <dgm:prSet/>
      <dgm:spPr/>
      <dgm:t>
        <a:bodyPr/>
        <a:lstStyle/>
        <a:p>
          <a:endParaRPr lang="en-US"/>
        </a:p>
      </dgm:t>
    </dgm:pt>
    <dgm:pt modelId="{17E29201-3E41-4073-9216-8DA1006E67A2}">
      <dgm:prSet custT="1"/>
      <dgm:spPr/>
      <dgm:t>
        <a:bodyPr/>
        <a:lstStyle/>
        <a:p>
          <a:r>
            <a:rPr lang="en-IN" sz="1200" b="1" dirty="0">
              <a:solidFill>
                <a:schemeClr val="bg1">
                  <a:lumMod val="85000"/>
                </a:schemeClr>
              </a:solidFill>
            </a:rPr>
            <a:t>Testing</a:t>
          </a:r>
          <a:endParaRPr lang="en-US" sz="1200" b="1" dirty="0">
            <a:solidFill>
              <a:schemeClr val="bg1">
                <a:lumMod val="85000"/>
              </a:schemeClr>
            </a:solidFill>
          </a:endParaRPr>
        </a:p>
      </dgm:t>
    </dgm:pt>
    <dgm:pt modelId="{FC63FC1B-203F-41D3-9506-BF40B5973F55}" type="parTrans" cxnId="{EC0B185D-C3C2-40C3-B3FB-6AC039B3A344}">
      <dgm:prSet/>
      <dgm:spPr/>
      <dgm:t>
        <a:bodyPr/>
        <a:lstStyle/>
        <a:p>
          <a:endParaRPr lang="en-US"/>
        </a:p>
      </dgm:t>
    </dgm:pt>
    <dgm:pt modelId="{DACF3E66-A0A4-4BCD-A9F5-9B257CDB6D6B}" type="sibTrans" cxnId="{EC0B185D-C3C2-40C3-B3FB-6AC039B3A344}">
      <dgm:prSet/>
      <dgm:spPr/>
      <dgm:t>
        <a:bodyPr/>
        <a:lstStyle/>
        <a:p>
          <a:endParaRPr lang="en-US"/>
        </a:p>
      </dgm:t>
    </dgm:pt>
    <dgm:pt modelId="{98B0C498-2DB6-4FCC-9188-8D94096E33E8}">
      <dgm:prSet/>
      <dgm:spPr/>
      <dgm:t>
        <a:bodyPr/>
        <a:lstStyle/>
        <a:p>
          <a:r>
            <a:rPr lang="en-US" dirty="0"/>
            <a:t>Write the actual code based on design documents. Develop software components and integrate them.</a:t>
          </a:r>
        </a:p>
      </dgm:t>
    </dgm:pt>
    <dgm:pt modelId="{5E032DC4-D8FC-4F8C-8719-011D3B8351EC}" type="parTrans" cxnId="{62DC38B7-151F-4501-8C26-EBD66CFFCFEC}">
      <dgm:prSet/>
      <dgm:spPr/>
      <dgm:t>
        <a:bodyPr/>
        <a:lstStyle/>
        <a:p>
          <a:endParaRPr lang="en-US"/>
        </a:p>
      </dgm:t>
    </dgm:pt>
    <dgm:pt modelId="{40D841C0-F191-4324-912B-5C4BE251B14A}" type="sibTrans" cxnId="{62DC38B7-151F-4501-8C26-EBD66CFFCFEC}">
      <dgm:prSet/>
      <dgm:spPr/>
      <dgm:t>
        <a:bodyPr/>
        <a:lstStyle/>
        <a:p>
          <a:endParaRPr lang="en-US"/>
        </a:p>
      </dgm:t>
    </dgm:pt>
    <dgm:pt modelId="{2CF3FF87-493C-4CD5-B1A3-7CB6B056B65C}">
      <dgm:prSet/>
      <dgm:spPr/>
      <dgm:t>
        <a:bodyPr/>
        <a:lstStyle/>
        <a:p>
          <a:r>
            <a:rPr lang="en-US"/>
            <a:t>Perform various testing (unit, integration, system, acceptance) to identify and fix bugs. Ensure the software meets all requirements and functions correctly.</a:t>
          </a:r>
        </a:p>
      </dgm:t>
    </dgm:pt>
    <dgm:pt modelId="{CC472315-6C88-4BD0-94FB-CE711BF2E92E}" type="parTrans" cxnId="{DEEB0730-127F-493E-B6DE-011793528202}">
      <dgm:prSet/>
      <dgm:spPr/>
      <dgm:t>
        <a:bodyPr/>
        <a:lstStyle/>
        <a:p>
          <a:endParaRPr lang="en-US"/>
        </a:p>
      </dgm:t>
    </dgm:pt>
    <dgm:pt modelId="{9435DF39-6F86-42C1-B6C8-DB4C114CF3C2}" type="sibTrans" cxnId="{DEEB0730-127F-493E-B6DE-011793528202}">
      <dgm:prSet/>
      <dgm:spPr/>
      <dgm:t>
        <a:bodyPr/>
        <a:lstStyle/>
        <a:p>
          <a:endParaRPr lang="en-US"/>
        </a:p>
      </dgm:t>
    </dgm:pt>
    <dgm:pt modelId="{C6DB677B-A69D-43C0-81D6-6F8E0DC03F60}" type="pres">
      <dgm:prSet presAssocID="{68EEBEAC-CAD6-4544-ABF2-97E2C2835D9A}" presName="linearFlow" presStyleCnt="0">
        <dgm:presLayoutVars>
          <dgm:dir/>
          <dgm:animLvl val="lvl"/>
          <dgm:resizeHandles val="exact"/>
        </dgm:presLayoutVars>
      </dgm:prSet>
      <dgm:spPr/>
    </dgm:pt>
    <dgm:pt modelId="{8DFC56A3-B7D9-47C1-9CA9-BE591D4872A3}" type="pres">
      <dgm:prSet presAssocID="{F95CF1BD-BCF4-486B-94DC-EBDD418330D2}" presName="composite" presStyleCnt="0"/>
      <dgm:spPr/>
    </dgm:pt>
    <dgm:pt modelId="{EE18BB88-C45F-4BF2-9193-BB266BCB3A0E}" type="pres">
      <dgm:prSet presAssocID="{F95CF1BD-BCF4-486B-94DC-EBDD418330D2}" presName="parentText" presStyleLbl="alignNode1" presStyleIdx="0" presStyleCnt="5" custScaleX="189484">
        <dgm:presLayoutVars>
          <dgm:chMax val="1"/>
          <dgm:bulletEnabled val="1"/>
        </dgm:presLayoutVars>
      </dgm:prSet>
      <dgm:spPr>
        <a:prstGeom prst="upArrow">
          <a:avLst/>
        </a:prstGeom>
      </dgm:spPr>
    </dgm:pt>
    <dgm:pt modelId="{8AB83528-A0D2-4A5D-BC41-F8F79DBFA433}" type="pres">
      <dgm:prSet presAssocID="{F95CF1BD-BCF4-486B-94DC-EBDD418330D2}" presName="descendantText" presStyleLbl="alignAcc1" presStyleIdx="0" presStyleCnt="5" custScaleX="91246">
        <dgm:presLayoutVars>
          <dgm:bulletEnabled val="1"/>
        </dgm:presLayoutVars>
      </dgm:prSet>
      <dgm:spPr/>
    </dgm:pt>
    <dgm:pt modelId="{3FCD788D-12C8-4E42-93B1-B0B030393EA7}" type="pres">
      <dgm:prSet presAssocID="{4F3AA56E-13C5-48AB-9DAC-570AF28B8319}" presName="sp" presStyleCnt="0"/>
      <dgm:spPr/>
    </dgm:pt>
    <dgm:pt modelId="{EE7F40AE-915A-4711-AB31-32184146343D}" type="pres">
      <dgm:prSet presAssocID="{F97C6002-F1C3-439C-BB43-D849414859E7}" presName="composite" presStyleCnt="0"/>
      <dgm:spPr/>
    </dgm:pt>
    <dgm:pt modelId="{DF7A71D5-10BB-44C7-BB03-B35E8423CD16}" type="pres">
      <dgm:prSet presAssocID="{F97C6002-F1C3-439C-BB43-D849414859E7}" presName="parentText" presStyleLbl="alignNode1" presStyleIdx="1" presStyleCnt="5" custScaleX="189484">
        <dgm:presLayoutVars>
          <dgm:chMax val="1"/>
          <dgm:bulletEnabled val="1"/>
        </dgm:presLayoutVars>
      </dgm:prSet>
      <dgm:spPr>
        <a:prstGeom prst="upArrow">
          <a:avLst/>
        </a:prstGeom>
      </dgm:spPr>
    </dgm:pt>
    <dgm:pt modelId="{13C2FD04-F903-425B-BCEE-D3DF8B9B0DA4}" type="pres">
      <dgm:prSet presAssocID="{F97C6002-F1C3-439C-BB43-D849414859E7}" presName="descendantText" presStyleLbl="alignAcc1" presStyleIdx="1" presStyleCnt="5" custScaleX="85418">
        <dgm:presLayoutVars>
          <dgm:bulletEnabled val="1"/>
        </dgm:presLayoutVars>
      </dgm:prSet>
      <dgm:spPr/>
    </dgm:pt>
    <dgm:pt modelId="{AAEDBB34-3D03-4169-B6CE-3914FFD1EDA1}" type="pres">
      <dgm:prSet presAssocID="{7EEE5C2E-124B-4D98-B451-4EC19C9A89D1}" presName="sp" presStyleCnt="0"/>
      <dgm:spPr/>
    </dgm:pt>
    <dgm:pt modelId="{1345998E-7BBA-4E37-94C8-6CFA0AB142DA}" type="pres">
      <dgm:prSet presAssocID="{8CAE8D3D-75A5-452D-B4E6-3256DECEBD62}" presName="composite" presStyleCnt="0"/>
      <dgm:spPr/>
    </dgm:pt>
    <dgm:pt modelId="{0EEE6857-F255-4153-8843-07A6A5993A69}" type="pres">
      <dgm:prSet presAssocID="{8CAE8D3D-75A5-452D-B4E6-3256DECEBD62}" presName="parentText" presStyleLbl="alignNode1" presStyleIdx="2" presStyleCnt="5" custScaleX="189484">
        <dgm:presLayoutVars>
          <dgm:chMax val="1"/>
          <dgm:bulletEnabled val="1"/>
        </dgm:presLayoutVars>
      </dgm:prSet>
      <dgm:spPr>
        <a:prstGeom prst="upArrow">
          <a:avLst/>
        </a:prstGeom>
      </dgm:spPr>
    </dgm:pt>
    <dgm:pt modelId="{6CB7C40D-CE5D-4C95-AE50-338B0230EDFD}" type="pres">
      <dgm:prSet presAssocID="{8CAE8D3D-75A5-452D-B4E6-3256DECEBD62}" presName="descendantText" presStyleLbl="alignAcc1" presStyleIdx="2" presStyleCnt="5" custScaleX="91246">
        <dgm:presLayoutVars>
          <dgm:bulletEnabled val="1"/>
        </dgm:presLayoutVars>
      </dgm:prSet>
      <dgm:spPr/>
    </dgm:pt>
    <dgm:pt modelId="{C0DA97A6-82A0-490C-B3E8-1162C25AC210}" type="pres">
      <dgm:prSet presAssocID="{F50BCB32-A16B-4F9C-B2BE-D6CBF6610AEF}" presName="sp" presStyleCnt="0"/>
      <dgm:spPr/>
    </dgm:pt>
    <dgm:pt modelId="{BA40ABD2-B62A-4F99-8D96-1720D9EFCB13}" type="pres">
      <dgm:prSet presAssocID="{2326350D-63D9-45B1-81DE-D9352566D28F}" presName="composite" presStyleCnt="0"/>
      <dgm:spPr/>
    </dgm:pt>
    <dgm:pt modelId="{34D67B41-521C-426A-B647-18FFD9D59F77}" type="pres">
      <dgm:prSet presAssocID="{2326350D-63D9-45B1-81DE-D9352566D28F}" presName="parentText" presStyleLbl="alignNode1" presStyleIdx="3" presStyleCnt="5" custScaleX="189484">
        <dgm:presLayoutVars>
          <dgm:chMax val="1"/>
          <dgm:bulletEnabled val="1"/>
        </dgm:presLayoutVars>
      </dgm:prSet>
      <dgm:spPr>
        <a:prstGeom prst="upArrow">
          <a:avLst/>
        </a:prstGeom>
      </dgm:spPr>
    </dgm:pt>
    <dgm:pt modelId="{5D52042E-07E6-43D7-A320-B76CF76E1400}" type="pres">
      <dgm:prSet presAssocID="{2326350D-63D9-45B1-81DE-D9352566D28F}" presName="descendantText" presStyleLbl="alignAcc1" presStyleIdx="3" presStyleCnt="5" custScaleX="91246">
        <dgm:presLayoutVars>
          <dgm:bulletEnabled val="1"/>
        </dgm:presLayoutVars>
      </dgm:prSet>
      <dgm:spPr/>
    </dgm:pt>
    <dgm:pt modelId="{21E08F81-6E9D-4EAD-AEFE-29C56A5B446C}" type="pres">
      <dgm:prSet presAssocID="{840B18DE-2344-40B8-8C9E-A3FCE3598F19}" presName="sp" presStyleCnt="0"/>
      <dgm:spPr/>
    </dgm:pt>
    <dgm:pt modelId="{7556635E-73DC-4A4A-A241-2B0FC3C6611F}" type="pres">
      <dgm:prSet presAssocID="{17E29201-3E41-4073-9216-8DA1006E67A2}" presName="composite" presStyleCnt="0"/>
      <dgm:spPr/>
    </dgm:pt>
    <dgm:pt modelId="{A6C7EEB2-1DC5-4CB1-A3D6-C278509A3449}" type="pres">
      <dgm:prSet presAssocID="{17E29201-3E41-4073-9216-8DA1006E67A2}" presName="parentText" presStyleLbl="alignNode1" presStyleIdx="4" presStyleCnt="5" custScaleX="189484">
        <dgm:presLayoutVars>
          <dgm:chMax val="1"/>
          <dgm:bulletEnabled val="1"/>
        </dgm:presLayoutVars>
      </dgm:prSet>
      <dgm:spPr>
        <a:prstGeom prst="upArrow">
          <a:avLst/>
        </a:prstGeom>
      </dgm:spPr>
    </dgm:pt>
    <dgm:pt modelId="{5878F111-CB11-4F78-9467-E31D7FBD2124}" type="pres">
      <dgm:prSet presAssocID="{17E29201-3E41-4073-9216-8DA1006E67A2}" presName="descendantText" presStyleLbl="alignAcc1" presStyleIdx="4" presStyleCnt="5" custScaleX="91246">
        <dgm:presLayoutVars>
          <dgm:bulletEnabled val="1"/>
        </dgm:presLayoutVars>
      </dgm:prSet>
      <dgm:spPr/>
    </dgm:pt>
  </dgm:ptLst>
  <dgm:cxnLst>
    <dgm:cxn modelId="{6EAE1F0A-2312-44F3-B748-CB86D0D52542}" type="presOf" srcId="{2CF3FF87-493C-4CD5-B1A3-7CB6B056B65C}" destId="{5878F111-CB11-4F78-9467-E31D7FBD2124}" srcOrd="0" destOrd="0" presId="urn:microsoft.com/office/officeart/2005/8/layout/chevron2"/>
    <dgm:cxn modelId="{FAC8F71C-6667-4A91-A854-BC7BDE112CFF}" srcId="{68EEBEAC-CAD6-4544-ABF2-97E2C2835D9A}" destId="{2326350D-63D9-45B1-81DE-D9352566D28F}" srcOrd="3" destOrd="0" parTransId="{A30311C1-6CD4-4DC0-AE5A-20B26B9BC2B7}" sibTransId="{840B18DE-2344-40B8-8C9E-A3FCE3598F19}"/>
    <dgm:cxn modelId="{22455920-4833-4D37-ADA2-ECA74CC3C241}" srcId="{68EEBEAC-CAD6-4544-ABF2-97E2C2835D9A}" destId="{8CAE8D3D-75A5-452D-B4E6-3256DECEBD62}" srcOrd="2" destOrd="0" parTransId="{FAE881C9-CD11-4B12-B9B9-281D0F9F8414}" sibTransId="{F50BCB32-A16B-4F9C-B2BE-D6CBF6610AEF}"/>
    <dgm:cxn modelId="{29169A22-AB7B-4469-B805-91337FDD559A}" srcId="{68EEBEAC-CAD6-4544-ABF2-97E2C2835D9A}" destId="{F95CF1BD-BCF4-486B-94DC-EBDD418330D2}" srcOrd="0" destOrd="0" parTransId="{1C5FE7F2-A91E-4F20-9535-2BF182ACD365}" sibTransId="{4F3AA56E-13C5-48AB-9DAC-570AF28B8319}"/>
    <dgm:cxn modelId="{05FC5C25-9D4F-4A6E-9417-77E32BBD331B}" type="presOf" srcId="{8CAE8D3D-75A5-452D-B4E6-3256DECEBD62}" destId="{0EEE6857-F255-4153-8843-07A6A5993A69}" srcOrd="0" destOrd="0" presId="urn:microsoft.com/office/officeart/2005/8/layout/chevron2"/>
    <dgm:cxn modelId="{DEEB0730-127F-493E-B6DE-011793528202}" srcId="{17E29201-3E41-4073-9216-8DA1006E67A2}" destId="{2CF3FF87-493C-4CD5-B1A3-7CB6B056B65C}" srcOrd="0" destOrd="0" parTransId="{CC472315-6C88-4BD0-94FB-CE711BF2E92E}" sibTransId="{9435DF39-6F86-42C1-B6C8-DB4C114CF3C2}"/>
    <dgm:cxn modelId="{2D027532-DD11-4947-947B-E8C844F9012E}" type="presOf" srcId="{2326350D-63D9-45B1-81DE-D9352566D28F}" destId="{34D67B41-521C-426A-B647-18FFD9D59F77}" srcOrd="0" destOrd="0" presId="urn:microsoft.com/office/officeart/2005/8/layout/chevron2"/>
    <dgm:cxn modelId="{EC0B185D-C3C2-40C3-B3FB-6AC039B3A344}" srcId="{68EEBEAC-CAD6-4544-ABF2-97E2C2835D9A}" destId="{17E29201-3E41-4073-9216-8DA1006E67A2}" srcOrd="4" destOrd="0" parTransId="{FC63FC1B-203F-41D3-9506-BF40B5973F55}" sibTransId="{DACF3E66-A0A4-4BCD-A9F5-9B257CDB6D6B}"/>
    <dgm:cxn modelId="{914D0E4D-B57C-4B15-9268-55B643225CC0}" type="presOf" srcId="{4D446AD4-AC83-4071-BC3D-C9D9EB5C31CF}" destId="{13C2FD04-F903-425B-BCEE-D3DF8B9B0DA4}" srcOrd="0" destOrd="0" presId="urn:microsoft.com/office/officeart/2005/8/layout/chevron2"/>
    <dgm:cxn modelId="{F3910B71-BCD3-4C0C-9E68-366BE2ED0981}" type="presOf" srcId="{07589BF5-6F9F-4699-8420-795A68F7EB91}" destId="{6CB7C40D-CE5D-4C95-AE50-338B0230EDFD}" srcOrd="0" destOrd="0" presId="urn:microsoft.com/office/officeart/2005/8/layout/chevron2"/>
    <dgm:cxn modelId="{596AD352-74FA-4E20-8DF6-5CA4BBBC4CEF}" srcId="{F95CF1BD-BCF4-486B-94DC-EBDD418330D2}" destId="{801E7190-D57D-41EE-A869-CCAC2FF57B2B}" srcOrd="0" destOrd="0" parTransId="{D0BF0867-A4D4-47C4-B394-067275238B0A}" sibTransId="{EEE4038D-DC4A-4739-AC3A-04E746F21B75}"/>
    <dgm:cxn modelId="{9C10B974-EE48-4C11-B62E-1A39557C2726}" type="presOf" srcId="{F97C6002-F1C3-439C-BB43-D849414859E7}" destId="{DF7A71D5-10BB-44C7-BB03-B35E8423CD16}" srcOrd="0" destOrd="0" presId="urn:microsoft.com/office/officeart/2005/8/layout/chevron2"/>
    <dgm:cxn modelId="{CA28F288-F09E-494A-8038-9B68C8580BEC}" type="presOf" srcId="{68EEBEAC-CAD6-4544-ABF2-97E2C2835D9A}" destId="{C6DB677B-A69D-43C0-81D6-6F8E0DC03F60}" srcOrd="0" destOrd="0" presId="urn:microsoft.com/office/officeart/2005/8/layout/chevron2"/>
    <dgm:cxn modelId="{0656A698-B539-4921-BE0D-017DBDD97C0E}" type="presOf" srcId="{98B0C498-2DB6-4FCC-9188-8D94096E33E8}" destId="{5D52042E-07E6-43D7-A320-B76CF76E1400}" srcOrd="0" destOrd="0" presId="urn:microsoft.com/office/officeart/2005/8/layout/chevron2"/>
    <dgm:cxn modelId="{DAB698A6-9559-40B0-9E88-3B999D50B303}" srcId="{8CAE8D3D-75A5-452D-B4E6-3256DECEBD62}" destId="{07589BF5-6F9F-4699-8420-795A68F7EB91}" srcOrd="0" destOrd="0" parTransId="{B7B4DC83-900F-4895-8ECC-2CC3EE6EA8AA}" sibTransId="{0E084A40-1DE6-4341-9830-44D948C1F514}"/>
    <dgm:cxn modelId="{91D1C3A7-21E3-4F14-B595-1EB2B8CE624A}" type="presOf" srcId="{F95CF1BD-BCF4-486B-94DC-EBDD418330D2}" destId="{EE18BB88-C45F-4BF2-9193-BB266BCB3A0E}" srcOrd="0" destOrd="0" presId="urn:microsoft.com/office/officeart/2005/8/layout/chevron2"/>
    <dgm:cxn modelId="{3A4AD7A8-C8BC-42F6-83B8-2BA7744B52E1}" type="presOf" srcId="{801E7190-D57D-41EE-A869-CCAC2FF57B2B}" destId="{8AB83528-A0D2-4A5D-BC41-F8F79DBFA433}" srcOrd="0" destOrd="0" presId="urn:microsoft.com/office/officeart/2005/8/layout/chevron2"/>
    <dgm:cxn modelId="{13EBC3B1-A716-47A2-978D-7BE235DDC4DD}" srcId="{F97C6002-F1C3-439C-BB43-D849414859E7}" destId="{4D446AD4-AC83-4071-BC3D-C9D9EB5C31CF}" srcOrd="0" destOrd="0" parTransId="{D9E76CBB-47F1-4070-8682-293FDC915879}" sibTransId="{FE6217F3-82E7-4053-BA7F-467DBE7BC9EA}"/>
    <dgm:cxn modelId="{62DC38B7-151F-4501-8C26-EBD66CFFCFEC}" srcId="{2326350D-63D9-45B1-81DE-D9352566D28F}" destId="{98B0C498-2DB6-4FCC-9188-8D94096E33E8}" srcOrd="0" destOrd="0" parTransId="{5E032DC4-D8FC-4F8C-8719-011D3B8351EC}" sibTransId="{40D841C0-F191-4324-912B-5C4BE251B14A}"/>
    <dgm:cxn modelId="{421D39CE-9582-4F37-AF3D-A54491F0513A}" type="presOf" srcId="{17E29201-3E41-4073-9216-8DA1006E67A2}" destId="{A6C7EEB2-1DC5-4CB1-A3D6-C278509A3449}" srcOrd="0" destOrd="0" presId="urn:microsoft.com/office/officeart/2005/8/layout/chevron2"/>
    <dgm:cxn modelId="{6F8BEBF2-641F-4DB2-9E41-26CF141AA775}" srcId="{68EEBEAC-CAD6-4544-ABF2-97E2C2835D9A}" destId="{F97C6002-F1C3-439C-BB43-D849414859E7}" srcOrd="1" destOrd="0" parTransId="{AB9A18AF-B388-41BB-A9F6-4A7A47741C58}" sibTransId="{7EEE5C2E-124B-4D98-B451-4EC19C9A89D1}"/>
    <dgm:cxn modelId="{85CED3B4-E3CD-4798-A85F-542C540BE3E9}" type="presParOf" srcId="{C6DB677B-A69D-43C0-81D6-6F8E0DC03F60}" destId="{8DFC56A3-B7D9-47C1-9CA9-BE591D4872A3}" srcOrd="0" destOrd="0" presId="urn:microsoft.com/office/officeart/2005/8/layout/chevron2"/>
    <dgm:cxn modelId="{17A0C772-804B-4BAE-9D92-AC9DA48709D0}" type="presParOf" srcId="{8DFC56A3-B7D9-47C1-9CA9-BE591D4872A3}" destId="{EE18BB88-C45F-4BF2-9193-BB266BCB3A0E}" srcOrd="0" destOrd="0" presId="urn:microsoft.com/office/officeart/2005/8/layout/chevron2"/>
    <dgm:cxn modelId="{21362457-0D93-4DFE-BCBA-FC663D957B4D}" type="presParOf" srcId="{8DFC56A3-B7D9-47C1-9CA9-BE591D4872A3}" destId="{8AB83528-A0D2-4A5D-BC41-F8F79DBFA433}" srcOrd="1" destOrd="0" presId="urn:microsoft.com/office/officeart/2005/8/layout/chevron2"/>
    <dgm:cxn modelId="{85214369-0729-4A74-BD6F-A1495E9BA9AC}" type="presParOf" srcId="{C6DB677B-A69D-43C0-81D6-6F8E0DC03F60}" destId="{3FCD788D-12C8-4E42-93B1-B0B030393EA7}" srcOrd="1" destOrd="0" presId="urn:microsoft.com/office/officeart/2005/8/layout/chevron2"/>
    <dgm:cxn modelId="{45E12985-3BF2-459E-AF3E-CD3BFB9555D1}" type="presParOf" srcId="{C6DB677B-A69D-43C0-81D6-6F8E0DC03F60}" destId="{EE7F40AE-915A-4711-AB31-32184146343D}" srcOrd="2" destOrd="0" presId="urn:microsoft.com/office/officeart/2005/8/layout/chevron2"/>
    <dgm:cxn modelId="{31087CDC-269C-4A17-B4A5-293BCD597A9C}" type="presParOf" srcId="{EE7F40AE-915A-4711-AB31-32184146343D}" destId="{DF7A71D5-10BB-44C7-BB03-B35E8423CD16}" srcOrd="0" destOrd="0" presId="urn:microsoft.com/office/officeart/2005/8/layout/chevron2"/>
    <dgm:cxn modelId="{929B576C-F04F-48BF-91EC-084AEA205D97}" type="presParOf" srcId="{EE7F40AE-915A-4711-AB31-32184146343D}" destId="{13C2FD04-F903-425B-BCEE-D3DF8B9B0DA4}" srcOrd="1" destOrd="0" presId="urn:microsoft.com/office/officeart/2005/8/layout/chevron2"/>
    <dgm:cxn modelId="{5C1B1FF0-4F90-4CBA-B3BD-990F7B2452C7}" type="presParOf" srcId="{C6DB677B-A69D-43C0-81D6-6F8E0DC03F60}" destId="{AAEDBB34-3D03-4169-B6CE-3914FFD1EDA1}" srcOrd="3" destOrd="0" presId="urn:microsoft.com/office/officeart/2005/8/layout/chevron2"/>
    <dgm:cxn modelId="{CA5F59CF-E331-4D2D-92CB-9A34959AF218}" type="presParOf" srcId="{C6DB677B-A69D-43C0-81D6-6F8E0DC03F60}" destId="{1345998E-7BBA-4E37-94C8-6CFA0AB142DA}" srcOrd="4" destOrd="0" presId="urn:microsoft.com/office/officeart/2005/8/layout/chevron2"/>
    <dgm:cxn modelId="{664C390D-AB8F-429B-A4A0-785C5C99ECFC}" type="presParOf" srcId="{1345998E-7BBA-4E37-94C8-6CFA0AB142DA}" destId="{0EEE6857-F255-4153-8843-07A6A5993A69}" srcOrd="0" destOrd="0" presId="urn:microsoft.com/office/officeart/2005/8/layout/chevron2"/>
    <dgm:cxn modelId="{A83EAF27-008D-4F4C-9D56-BF1512D44CBC}" type="presParOf" srcId="{1345998E-7BBA-4E37-94C8-6CFA0AB142DA}" destId="{6CB7C40D-CE5D-4C95-AE50-338B0230EDFD}" srcOrd="1" destOrd="0" presId="urn:microsoft.com/office/officeart/2005/8/layout/chevron2"/>
    <dgm:cxn modelId="{72AE4DA5-AD0B-43C3-A7A0-AD7964D6D057}" type="presParOf" srcId="{C6DB677B-A69D-43C0-81D6-6F8E0DC03F60}" destId="{C0DA97A6-82A0-490C-B3E8-1162C25AC210}" srcOrd="5" destOrd="0" presId="urn:microsoft.com/office/officeart/2005/8/layout/chevron2"/>
    <dgm:cxn modelId="{6291180D-4CBB-4086-B676-DDDDCC6BBB2B}" type="presParOf" srcId="{C6DB677B-A69D-43C0-81D6-6F8E0DC03F60}" destId="{BA40ABD2-B62A-4F99-8D96-1720D9EFCB13}" srcOrd="6" destOrd="0" presId="urn:microsoft.com/office/officeart/2005/8/layout/chevron2"/>
    <dgm:cxn modelId="{56E19F3D-2D6D-4B07-9988-B32312EDE4B6}" type="presParOf" srcId="{BA40ABD2-B62A-4F99-8D96-1720D9EFCB13}" destId="{34D67B41-521C-426A-B647-18FFD9D59F77}" srcOrd="0" destOrd="0" presId="urn:microsoft.com/office/officeart/2005/8/layout/chevron2"/>
    <dgm:cxn modelId="{A3800169-E2BA-4E68-BE0E-A274BCAE05CA}" type="presParOf" srcId="{BA40ABD2-B62A-4F99-8D96-1720D9EFCB13}" destId="{5D52042E-07E6-43D7-A320-B76CF76E1400}" srcOrd="1" destOrd="0" presId="urn:microsoft.com/office/officeart/2005/8/layout/chevron2"/>
    <dgm:cxn modelId="{60D57096-6F5A-48DC-8016-20E41237F42A}" type="presParOf" srcId="{C6DB677B-A69D-43C0-81D6-6F8E0DC03F60}" destId="{21E08F81-6E9D-4EAD-AEFE-29C56A5B446C}" srcOrd="7" destOrd="0" presId="urn:microsoft.com/office/officeart/2005/8/layout/chevron2"/>
    <dgm:cxn modelId="{EF63BBBD-CDCB-40FF-A0EA-7BF666545AC8}" type="presParOf" srcId="{C6DB677B-A69D-43C0-81D6-6F8E0DC03F60}" destId="{7556635E-73DC-4A4A-A241-2B0FC3C6611F}" srcOrd="8" destOrd="0" presId="urn:microsoft.com/office/officeart/2005/8/layout/chevron2"/>
    <dgm:cxn modelId="{78D59838-BAD4-4251-80D8-8AE35621B394}" type="presParOf" srcId="{7556635E-73DC-4A4A-A241-2B0FC3C6611F}" destId="{A6C7EEB2-1DC5-4CB1-A3D6-C278509A3449}" srcOrd="0" destOrd="0" presId="urn:microsoft.com/office/officeart/2005/8/layout/chevron2"/>
    <dgm:cxn modelId="{083034D1-B27E-4930-967A-F6D101A8AC91}" type="presParOf" srcId="{7556635E-73DC-4A4A-A241-2B0FC3C6611F}" destId="{5878F111-CB11-4F78-9467-E31D7FBD212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FF0FE1-D1F6-4B01-80A1-2C8F290214D6}" type="doc">
      <dgm:prSet loTypeId="urn:microsoft.com/office/officeart/2005/8/layout/radial4" loCatId="relationship" qsTypeId="urn:microsoft.com/office/officeart/2005/8/quickstyle/3d1" qsCatId="3D" csTypeId="urn:microsoft.com/office/officeart/2005/8/colors/colorful5" csCatId="colorful" phldr="1"/>
      <dgm:spPr/>
      <dgm:t>
        <a:bodyPr/>
        <a:lstStyle/>
        <a:p>
          <a:endParaRPr lang="en-US"/>
        </a:p>
      </dgm:t>
    </dgm:pt>
    <dgm:pt modelId="{BA148D3A-05CC-4DD7-9A34-2669AC72C0D6}">
      <dgm:prSet phldrT="[Text]"/>
      <dgm:spPr/>
      <dgm:t>
        <a:bodyPr/>
        <a:lstStyle/>
        <a:p>
          <a:r>
            <a:rPr lang="en-IN" b="1" dirty="0">
              <a:solidFill>
                <a:schemeClr val="tx1"/>
              </a:solidFill>
            </a:rPr>
            <a:t>Business</a:t>
          </a:r>
          <a:endParaRPr lang="en-US" b="1" dirty="0">
            <a:solidFill>
              <a:schemeClr val="tx1"/>
            </a:solidFill>
          </a:endParaRPr>
        </a:p>
      </dgm:t>
    </dgm:pt>
    <dgm:pt modelId="{986753F6-4BD9-41EB-97EE-142E72A02F43}" type="parTrans" cxnId="{90E3B9CE-B438-4A43-A618-7BB97284FC83}">
      <dgm:prSet/>
      <dgm:spPr/>
      <dgm:t>
        <a:bodyPr/>
        <a:lstStyle/>
        <a:p>
          <a:endParaRPr lang="en-US" b="1">
            <a:solidFill>
              <a:schemeClr val="tx1"/>
            </a:solidFill>
          </a:endParaRPr>
        </a:p>
      </dgm:t>
    </dgm:pt>
    <dgm:pt modelId="{7024B1FD-6E05-4868-8970-52BD2CCA513B}" type="sibTrans" cxnId="{90E3B9CE-B438-4A43-A618-7BB97284FC83}">
      <dgm:prSet/>
      <dgm:spPr/>
      <dgm:t>
        <a:bodyPr/>
        <a:lstStyle/>
        <a:p>
          <a:endParaRPr lang="en-US" b="1">
            <a:solidFill>
              <a:schemeClr val="tx1"/>
            </a:solidFill>
          </a:endParaRPr>
        </a:p>
      </dgm:t>
    </dgm:pt>
    <dgm:pt modelId="{CA23BC39-8AA0-48AE-9F78-1BE69BC62A9E}">
      <dgm:prSet phldrT="[Text]"/>
      <dgm:spPr/>
      <dgm:t>
        <a:bodyPr/>
        <a:lstStyle/>
        <a:p>
          <a:r>
            <a:rPr lang="en-IN" b="1" dirty="0">
              <a:solidFill>
                <a:schemeClr val="tx1"/>
              </a:solidFill>
            </a:rPr>
            <a:t>Direct Client</a:t>
          </a:r>
          <a:endParaRPr lang="en-US" b="1" dirty="0">
            <a:solidFill>
              <a:schemeClr val="tx1"/>
            </a:solidFill>
          </a:endParaRPr>
        </a:p>
      </dgm:t>
    </dgm:pt>
    <dgm:pt modelId="{CA4016C6-2F45-49CC-BCE8-0B621F653CBB}" type="parTrans" cxnId="{05188A78-CAAD-4CF6-80A0-BCA986DDFDCA}">
      <dgm:prSet/>
      <dgm:spPr/>
      <dgm:t>
        <a:bodyPr/>
        <a:lstStyle/>
        <a:p>
          <a:endParaRPr lang="en-US" b="1">
            <a:solidFill>
              <a:schemeClr val="tx1"/>
            </a:solidFill>
          </a:endParaRPr>
        </a:p>
      </dgm:t>
    </dgm:pt>
    <dgm:pt modelId="{F5288C83-6D38-4316-8F83-F2895B92557E}" type="sibTrans" cxnId="{05188A78-CAAD-4CF6-80A0-BCA986DDFDCA}">
      <dgm:prSet/>
      <dgm:spPr/>
      <dgm:t>
        <a:bodyPr/>
        <a:lstStyle/>
        <a:p>
          <a:endParaRPr lang="en-US" b="1">
            <a:solidFill>
              <a:schemeClr val="tx1"/>
            </a:solidFill>
          </a:endParaRPr>
        </a:p>
      </dgm:t>
    </dgm:pt>
    <dgm:pt modelId="{43E79433-97FE-4EFD-A478-EFB81EF52911}">
      <dgm:prSet phldrT="[Text]"/>
      <dgm:spPr/>
      <dgm:t>
        <a:bodyPr/>
        <a:lstStyle/>
        <a:p>
          <a:r>
            <a:rPr lang="en-IN" b="1" dirty="0">
              <a:solidFill>
                <a:schemeClr val="tx1"/>
              </a:solidFill>
            </a:rPr>
            <a:t>Channel Partner</a:t>
          </a:r>
          <a:endParaRPr lang="en-US" b="1" dirty="0">
            <a:solidFill>
              <a:schemeClr val="tx1"/>
            </a:solidFill>
          </a:endParaRPr>
        </a:p>
      </dgm:t>
    </dgm:pt>
    <dgm:pt modelId="{8FB8BE40-E424-4E2A-AB65-294F103E1BC0}" type="parTrans" cxnId="{F3383297-D3EE-4F4E-9D74-68A2D98BF611}">
      <dgm:prSet/>
      <dgm:spPr/>
      <dgm:t>
        <a:bodyPr/>
        <a:lstStyle/>
        <a:p>
          <a:endParaRPr lang="en-US" b="1">
            <a:solidFill>
              <a:schemeClr val="tx1"/>
            </a:solidFill>
          </a:endParaRPr>
        </a:p>
      </dgm:t>
    </dgm:pt>
    <dgm:pt modelId="{FDB7B6E7-0B1B-4C28-91F7-6F38F17D4D1F}" type="sibTrans" cxnId="{F3383297-D3EE-4F4E-9D74-68A2D98BF611}">
      <dgm:prSet/>
      <dgm:spPr/>
      <dgm:t>
        <a:bodyPr/>
        <a:lstStyle/>
        <a:p>
          <a:endParaRPr lang="en-US" b="1">
            <a:solidFill>
              <a:schemeClr val="tx1"/>
            </a:solidFill>
          </a:endParaRPr>
        </a:p>
      </dgm:t>
    </dgm:pt>
    <dgm:pt modelId="{1D1A6A45-93AD-4963-91DE-8A10716495BC}">
      <dgm:prSet phldrT="[Text]"/>
      <dgm:spPr/>
      <dgm:t>
        <a:bodyPr/>
        <a:lstStyle/>
        <a:p>
          <a:r>
            <a:rPr lang="en-IN" b="1" dirty="0">
              <a:solidFill>
                <a:schemeClr val="tx1"/>
              </a:solidFill>
            </a:rPr>
            <a:t>Tech Partnership</a:t>
          </a:r>
          <a:endParaRPr lang="en-US" b="1" dirty="0">
            <a:solidFill>
              <a:schemeClr val="tx1"/>
            </a:solidFill>
          </a:endParaRPr>
        </a:p>
      </dgm:t>
    </dgm:pt>
    <dgm:pt modelId="{62C0BB37-ED3F-494B-986B-BC5DDF30AF7B}" type="parTrans" cxnId="{3599F943-160A-4BD8-86E8-9065663B41C2}">
      <dgm:prSet/>
      <dgm:spPr/>
      <dgm:t>
        <a:bodyPr/>
        <a:lstStyle/>
        <a:p>
          <a:endParaRPr lang="en-US" b="1">
            <a:solidFill>
              <a:schemeClr val="tx1"/>
            </a:solidFill>
          </a:endParaRPr>
        </a:p>
      </dgm:t>
    </dgm:pt>
    <dgm:pt modelId="{4591DDEA-39DE-4D55-91F0-3F5C1046E11F}" type="sibTrans" cxnId="{3599F943-160A-4BD8-86E8-9065663B41C2}">
      <dgm:prSet/>
      <dgm:spPr/>
      <dgm:t>
        <a:bodyPr/>
        <a:lstStyle/>
        <a:p>
          <a:endParaRPr lang="en-US" b="1">
            <a:solidFill>
              <a:schemeClr val="tx1"/>
            </a:solidFill>
          </a:endParaRPr>
        </a:p>
      </dgm:t>
    </dgm:pt>
    <dgm:pt modelId="{4B3585EB-C9CB-48E3-B776-C7F5D8F7C9DC}">
      <dgm:prSet/>
      <dgm:spPr/>
      <dgm:t>
        <a:bodyPr/>
        <a:lstStyle/>
        <a:p>
          <a:r>
            <a:rPr lang="en-IN" b="1" dirty="0">
              <a:solidFill>
                <a:schemeClr val="tx1"/>
              </a:solidFill>
            </a:rPr>
            <a:t>Project Outsourcing</a:t>
          </a:r>
          <a:endParaRPr lang="en-US" b="1" dirty="0">
            <a:solidFill>
              <a:schemeClr val="tx1"/>
            </a:solidFill>
          </a:endParaRPr>
        </a:p>
      </dgm:t>
    </dgm:pt>
    <dgm:pt modelId="{DC372B58-2D81-4EFF-AE89-8698AB5E203C}" type="parTrans" cxnId="{68BAD8FC-D11C-4B3E-9821-D7CDE6596343}">
      <dgm:prSet/>
      <dgm:spPr/>
      <dgm:t>
        <a:bodyPr/>
        <a:lstStyle/>
        <a:p>
          <a:endParaRPr lang="en-US" b="1">
            <a:solidFill>
              <a:schemeClr val="tx1"/>
            </a:solidFill>
          </a:endParaRPr>
        </a:p>
      </dgm:t>
    </dgm:pt>
    <dgm:pt modelId="{D9765C51-451F-49D6-9F22-534D384703ED}" type="sibTrans" cxnId="{68BAD8FC-D11C-4B3E-9821-D7CDE6596343}">
      <dgm:prSet/>
      <dgm:spPr/>
      <dgm:t>
        <a:bodyPr/>
        <a:lstStyle/>
        <a:p>
          <a:endParaRPr lang="en-US" b="1">
            <a:solidFill>
              <a:schemeClr val="tx1"/>
            </a:solidFill>
          </a:endParaRPr>
        </a:p>
      </dgm:t>
    </dgm:pt>
    <dgm:pt modelId="{7737EF5E-8CAD-438D-A577-DB65982FBB24}">
      <dgm:prSet/>
      <dgm:spPr/>
      <dgm:t>
        <a:bodyPr/>
        <a:lstStyle/>
        <a:p>
          <a:r>
            <a:rPr lang="en-IN" b="1" dirty="0">
              <a:solidFill>
                <a:schemeClr val="tx1"/>
              </a:solidFill>
            </a:rPr>
            <a:t>Project Maintenance</a:t>
          </a:r>
          <a:endParaRPr lang="en-US" b="1" dirty="0">
            <a:solidFill>
              <a:schemeClr val="tx1"/>
            </a:solidFill>
          </a:endParaRPr>
        </a:p>
      </dgm:t>
    </dgm:pt>
    <dgm:pt modelId="{283B0873-0A23-41A9-93E1-7BD3A17E6904}" type="parTrans" cxnId="{0DFFB967-4D0B-4A05-9065-7CEB785C9A84}">
      <dgm:prSet/>
      <dgm:spPr/>
      <dgm:t>
        <a:bodyPr/>
        <a:lstStyle/>
        <a:p>
          <a:endParaRPr lang="en-US"/>
        </a:p>
      </dgm:t>
    </dgm:pt>
    <dgm:pt modelId="{C91543C6-C4DC-445B-B250-832845DC1798}" type="sibTrans" cxnId="{0DFFB967-4D0B-4A05-9065-7CEB785C9A84}">
      <dgm:prSet/>
      <dgm:spPr/>
      <dgm:t>
        <a:bodyPr/>
        <a:lstStyle/>
        <a:p>
          <a:endParaRPr lang="en-US"/>
        </a:p>
      </dgm:t>
    </dgm:pt>
    <dgm:pt modelId="{FB14857B-7F7C-4F71-BB03-E784C29041A3}" type="pres">
      <dgm:prSet presAssocID="{FDFF0FE1-D1F6-4B01-80A1-2C8F290214D6}" presName="cycle" presStyleCnt="0">
        <dgm:presLayoutVars>
          <dgm:chMax val="1"/>
          <dgm:dir/>
          <dgm:animLvl val="ctr"/>
          <dgm:resizeHandles val="exact"/>
        </dgm:presLayoutVars>
      </dgm:prSet>
      <dgm:spPr/>
    </dgm:pt>
    <dgm:pt modelId="{424C5905-64D1-4796-82B5-901265E4DEB9}" type="pres">
      <dgm:prSet presAssocID="{BA148D3A-05CC-4DD7-9A34-2669AC72C0D6}" presName="centerShape" presStyleLbl="node0" presStyleIdx="0" presStyleCnt="1"/>
      <dgm:spPr/>
    </dgm:pt>
    <dgm:pt modelId="{35D984D4-3D5B-4691-AAAB-C2C94CE55099}" type="pres">
      <dgm:prSet presAssocID="{CA4016C6-2F45-49CC-BCE8-0B621F653CBB}" presName="parTrans" presStyleLbl="bgSibTrans2D1" presStyleIdx="0" presStyleCnt="5"/>
      <dgm:spPr/>
    </dgm:pt>
    <dgm:pt modelId="{241C40CC-D8CB-4D9C-BF7F-4D446E73EC0E}" type="pres">
      <dgm:prSet presAssocID="{CA23BC39-8AA0-48AE-9F78-1BE69BC62A9E}" presName="node" presStyleLbl="node1" presStyleIdx="0" presStyleCnt="5">
        <dgm:presLayoutVars>
          <dgm:bulletEnabled val="1"/>
        </dgm:presLayoutVars>
      </dgm:prSet>
      <dgm:spPr/>
    </dgm:pt>
    <dgm:pt modelId="{D8F08D78-29D0-4F7D-A477-55C4E6EAC0CE}" type="pres">
      <dgm:prSet presAssocID="{8FB8BE40-E424-4E2A-AB65-294F103E1BC0}" presName="parTrans" presStyleLbl="bgSibTrans2D1" presStyleIdx="1" presStyleCnt="5"/>
      <dgm:spPr/>
    </dgm:pt>
    <dgm:pt modelId="{05E73244-CA5D-4BCE-BB3C-F08523EA0F76}" type="pres">
      <dgm:prSet presAssocID="{43E79433-97FE-4EFD-A478-EFB81EF52911}" presName="node" presStyleLbl="node1" presStyleIdx="1" presStyleCnt="5">
        <dgm:presLayoutVars>
          <dgm:bulletEnabled val="1"/>
        </dgm:presLayoutVars>
      </dgm:prSet>
      <dgm:spPr/>
    </dgm:pt>
    <dgm:pt modelId="{F8EEB9B0-1109-471E-958F-7091D6481A90}" type="pres">
      <dgm:prSet presAssocID="{62C0BB37-ED3F-494B-986B-BC5DDF30AF7B}" presName="parTrans" presStyleLbl="bgSibTrans2D1" presStyleIdx="2" presStyleCnt="5"/>
      <dgm:spPr/>
    </dgm:pt>
    <dgm:pt modelId="{83FC198F-E3EA-4E14-A100-E4CEFC974B7E}" type="pres">
      <dgm:prSet presAssocID="{1D1A6A45-93AD-4963-91DE-8A10716495BC}" presName="node" presStyleLbl="node1" presStyleIdx="2" presStyleCnt="5">
        <dgm:presLayoutVars>
          <dgm:bulletEnabled val="1"/>
        </dgm:presLayoutVars>
      </dgm:prSet>
      <dgm:spPr/>
    </dgm:pt>
    <dgm:pt modelId="{3618B69A-F068-4E81-978D-E4C6A30BC9D5}" type="pres">
      <dgm:prSet presAssocID="{DC372B58-2D81-4EFF-AE89-8698AB5E203C}" presName="parTrans" presStyleLbl="bgSibTrans2D1" presStyleIdx="3" presStyleCnt="5"/>
      <dgm:spPr/>
    </dgm:pt>
    <dgm:pt modelId="{800C153F-545E-4FE2-86AA-5D14DFA33408}" type="pres">
      <dgm:prSet presAssocID="{4B3585EB-C9CB-48E3-B776-C7F5D8F7C9DC}" presName="node" presStyleLbl="node1" presStyleIdx="3" presStyleCnt="5">
        <dgm:presLayoutVars>
          <dgm:bulletEnabled val="1"/>
        </dgm:presLayoutVars>
      </dgm:prSet>
      <dgm:spPr/>
    </dgm:pt>
    <dgm:pt modelId="{6591111B-E4C1-42EA-801A-E6D1C21BCFB7}" type="pres">
      <dgm:prSet presAssocID="{283B0873-0A23-41A9-93E1-7BD3A17E6904}" presName="parTrans" presStyleLbl="bgSibTrans2D1" presStyleIdx="4" presStyleCnt="5"/>
      <dgm:spPr/>
    </dgm:pt>
    <dgm:pt modelId="{00DE849D-94AD-4EEB-8458-A4749C402AB9}" type="pres">
      <dgm:prSet presAssocID="{7737EF5E-8CAD-438D-A577-DB65982FBB24}" presName="node" presStyleLbl="node1" presStyleIdx="4" presStyleCnt="5">
        <dgm:presLayoutVars>
          <dgm:bulletEnabled val="1"/>
        </dgm:presLayoutVars>
      </dgm:prSet>
      <dgm:spPr/>
    </dgm:pt>
  </dgm:ptLst>
  <dgm:cxnLst>
    <dgm:cxn modelId="{BB0EDE5F-2733-4CF4-A181-F32AD118CF75}" type="presOf" srcId="{CA4016C6-2F45-49CC-BCE8-0B621F653CBB}" destId="{35D984D4-3D5B-4691-AAAB-C2C94CE55099}" srcOrd="0" destOrd="0" presId="urn:microsoft.com/office/officeart/2005/8/layout/radial4"/>
    <dgm:cxn modelId="{3599F943-160A-4BD8-86E8-9065663B41C2}" srcId="{BA148D3A-05CC-4DD7-9A34-2669AC72C0D6}" destId="{1D1A6A45-93AD-4963-91DE-8A10716495BC}" srcOrd="2" destOrd="0" parTransId="{62C0BB37-ED3F-494B-986B-BC5DDF30AF7B}" sibTransId="{4591DDEA-39DE-4D55-91F0-3F5C1046E11F}"/>
    <dgm:cxn modelId="{DA264866-A9DA-41DF-B71E-8F1E54D278E5}" type="presOf" srcId="{DC372B58-2D81-4EFF-AE89-8698AB5E203C}" destId="{3618B69A-F068-4E81-978D-E4C6A30BC9D5}" srcOrd="0" destOrd="0" presId="urn:microsoft.com/office/officeart/2005/8/layout/radial4"/>
    <dgm:cxn modelId="{0DFFB967-4D0B-4A05-9065-7CEB785C9A84}" srcId="{BA148D3A-05CC-4DD7-9A34-2669AC72C0D6}" destId="{7737EF5E-8CAD-438D-A577-DB65982FBB24}" srcOrd="4" destOrd="0" parTransId="{283B0873-0A23-41A9-93E1-7BD3A17E6904}" sibTransId="{C91543C6-C4DC-445B-B250-832845DC1798}"/>
    <dgm:cxn modelId="{11BC1774-D603-4A7B-8A1B-CA600AA67241}" type="presOf" srcId="{4B3585EB-C9CB-48E3-B776-C7F5D8F7C9DC}" destId="{800C153F-545E-4FE2-86AA-5D14DFA33408}" srcOrd="0" destOrd="0" presId="urn:microsoft.com/office/officeart/2005/8/layout/radial4"/>
    <dgm:cxn modelId="{05188A78-CAAD-4CF6-80A0-BCA986DDFDCA}" srcId="{BA148D3A-05CC-4DD7-9A34-2669AC72C0D6}" destId="{CA23BC39-8AA0-48AE-9F78-1BE69BC62A9E}" srcOrd="0" destOrd="0" parTransId="{CA4016C6-2F45-49CC-BCE8-0B621F653CBB}" sibTransId="{F5288C83-6D38-4316-8F83-F2895B92557E}"/>
    <dgm:cxn modelId="{43C53D85-262F-4F04-9FBD-8A9C41D55399}" type="presOf" srcId="{FDFF0FE1-D1F6-4B01-80A1-2C8F290214D6}" destId="{FB14857B-7F7C-4F71-BB03-E784C29041A3}" srcOrd="0" destOrd="0" presId="urn:microsoft.com/office/officeart/2005/8/layout/radial4"/>
    <dgm:cxn modelId="{5043958C-8FB9-4261-B194-2B7B0DD7BDE1}" type="presOf" srcId="{CA23BC39-8AA0-48AE-9F78-1BE69BC62A9E}" destId="{241C40CC-D8CB-4D9C-BF7F-4D446E73EC0E}" srcOrd="0" destOrd="0" presId="urn:microsoft.com/office/officeart/2005/8/layout/radial4"/>
    <dgm:cxn modelId="{68336290-A6F3-4D45-9272-51103C40D678}" type="presOf" srcId="{7737EF5E-8CAD-438D-A577-DB65982FBB24}" destId="{00DE849D-94AD-4EEB-8458-A4749C402AB9}" srcOrd="0" destOrd="0" presId="urn:microsoft.com/office/officeart/2005/8/layout/radial4"/>
    <dgm:cxn modelId="{F3383297-D3EE-4F4E-9D74-68A2D98BF611}" srcId="{BA148D3A-05CC-4DD7-9A34-2669AC72C0D6}" destId="{43E79433-97FE-4EFD-A478-EFB81EF52911}" srcOrd="1" destOrd="0" parTransId="{8FB8BE40-E424-4E2A-AB65-294F103E1BC0}" sibTransId="{FDB7B6E7-0B1B-4C28-91F7-6F38F17D4D1F}"/>
    <dgm:cxn modelId="{5261CEAA-F047-4FAC-9BE2-D49836D642BD}" type="presOf" srcId="{1D1A6A45-93AD-4963-91DE-8A10716495BC}" destId="{83FC198F-E3EA-4E14-A100-E4CEFC974B7E}" srcOrd="0" destOrd="0" presId="urn:microsoft.com/office/officeart/2005/8/layout/radial4"/>
    <dgm:cxn modelId="{9D8E3FB1-631C-491C-B116-3F098DA0CA2C}" type="presOf" srcId="{8FB8BE40-E424-4E2A-AB65-294F103E1BC0}" destId="{D8F08D78-29D0-4F7D-A477-55C4E6EAC0CE}" srcOrd="0" destOrd="0" presId="urn:microsoft.com/office/officeart/2005/8/layout/radial4"/>
    <dgm:cxn modelId="{2D3872B7-E97F-4BFD-B4F9-E341286E64F8}" type="presOf" srcId="{62C0BB37-ED3F-494B-986B-BC5DDF30AF7B}" destId="{F8EEB9B0-1109-471E-958F-7091D6481A90}" srcOrd="0" destOrd="0" presId="urn:microsoft.com/office/officeart/2005/8/layout/radial4"/>
    <dgm:cxn modelId="{90E3B9CE-B438-4A43-A618-7BB97284FC83}" srcId="{FDFF0FE1-D1F6-4B01-80A1-2C8F290214D6}" destId="{BA148D3A-05CC-4DD7-9A34-2669AC72C0D6}" srcOrd="0" destOrd="0" parTransId="{986753F6-4BD9-41EB-97EE-142E72A02F43}" sibTransId="{7024B1FD-6E05-4868-8970-52BD2CCA513B}"/>
    <dgm:cxn modelId="{FF3039D7-5B75-4406-BB5F-9C7B962EC874}" type="presOf" srcId="{BA148D3A-05CC-4DD7-9A34-2669AC72C0D6}" destId="{424C5905-64D1-4796-82B5-901265E4DEB9}" srcOrd="0" destOrd="0" presId="urn:microsoft.com/office/officeart/2005/8/layout/radial4"/>
    <dgm:cxn modelId="{276F91F7-F51D-45EC-A4CB-B90D4B76FE3C}" type="presOf" srcId="{283B0873-0A23-41A9-93E1-7BD3A17E6904}" destId="{6591111B-E4C1-42EA-801A-E6D1C21BCFB7}" srcOrd="0" destOrd="0" presId="urn:microsoft.com/office/officeart/2005/8/layout/radial4"/>
    <dgm:cxn modelId="{68BAD8FC-D11C-4B3E-9821-D7CDE6596343}" srcId="{BA148D3A-05CC-4DD7-9A34-2669AC72C0D6}" destId="{4B3585EB-C9CB-48E3-B776-C7F5D8F7C9DC}" srcOrd="3" destOrd="0" parTransId="{DC372B58-2D81-4EFF-AE89-8698AB5E203C}" sibTransId="{D9765C51-451F-49D6-9F22-534D384703ED}"/>
    <dgm:cxn modelId="{CB6244FF-0DA9-4AE7-A5CE-347A8E0F810D}" type="presOf" srcId="{43E79433-97FE-4EFD-A478-EFB81EF52911}" destId="{05E73244-CA5D-4BCE-BB3C-F08523EA0F76}" srcOrd="0" destOrd="0" presId="urn:microsoft.com/office/officeart/2005/8/layout/radial4"/>
    <dgm:cxn modelId="{529D51B9-BCBE-493C-9C89-45BC78474B46}" type="presParOf" srcId="{FB14857B-7F7C-4F71-BB03-E784C29041A3}" destId="{424C5905-64D1-4796-82B5-901265E4DEB9}" srcOrd="0" destOrd="0" presId="urn:microsoft.com/office/officeart/2005/8/layout/radial4"/>
    <dgm:cxn modelId="{7F184EA3-BE6D-42A0-86E1-16BCF0317F8E}" type="presParOf" srcId="{FB14857B-7F7C-4F71-BB03-E784C29041A3}" destId="{35D984D4-3D5B-4691-AAAB-C2C94CE55099}" srcOrd="1" destOrd="0" presId="urn:microsoft.com/office/officeart/2005/8/layout/radial4"/>
    <dgm:cxn modelId="{0B93F4CA-5BF2-400C-A1EB-C683118B4166}" type="presParOf" srcId="{FB14857B-7F7C-4F71-BB03-E784C29041A3}" destId="{241C40CC-D8CB-4D9C-BF7F-4D446E73EC0E}" srcOrd="2" destOrd="0" presId="urn:microsoft.com/office/officeart/2005/8/layout/radial4"/>
    <dgm:cxn modelId="{93CDE05D-D194-412F-B037-123984A1D61A}" type="presParOf" srcId="{FB14857B-7F7C-4F71-BB03-E784C29041A3}" destId="{D8F08D78-29D0-4F7D-A477-55C4E6EAC0CE}" srcOrd="3" destOrd="0" presId="urn:microsoft.com/office/officeart/2005/8/layout/radial4"/>
    <dgm:cxn modelId="{D6905E72-7A48-4901-8A2A-70FDCAEAEFBD}" type="presParOf" srcId="{FB14857B-7F7C-4F71-BB03-E784C29041A3}" destId="{05E73244-CA5D-4BCE-BB3C-F08523EA0F76}" srcOrd="4" destOrd="0" presId="urn:microsoft.com/office/officeart/2005/8/layout/radial4"/>
    <dgm:cxn modelId="{106C506D-5F41-4A45-BF19-8FCCCD9265FE}" type="presParOf" srcId="{FB14857B-7F7C-4F71-BB03-E784C29041A3}" destId="{F8EEB9B0-1109-471E-958F-7091D6481A90}" srcOrd="5" destOrd="0" presId="urn:microsoft.com/office/officeart/2005/8/layout/radial4"/>
    <dgm:cxn modelId="{122ED49A-2B97-4ECF-8FD9-A6DCE7A71D12}" type="presParOf" srcId="{FB14857B-7F7C-4F71-BB03-E784C29041A3}" destId="{83FC198F-E3EA-4E14-A100-E4CEFC974B7E}" srcOrd="6" destOrd="0" presId="urn:microsoft.com/office/officeart/2005/8/layout/radial4"/>
    <dgm:cxn modelId="{1ABEF4B0-4656-4734-BD04-B4229B2DA507}" type="presParOf" srcId="{FB14857B-7F7C-4F71-BB03-E784C29041A3}" destId="{3618B69A-F068-4E81-978D-E4C6A30BC9D5}" srcOrd="7" destOrd="0" presId="urn:microsoft.com/office/officeart/2005/8/layout/radial4"/>
    <dgm:cxn modelId="{1367CC19-92D3-4D1B-8A96-7D524E8395A8}" type="presParOf" srcId="{FB14857B-7F7C-4F71-BB03-E784C29041A3}" destId="{800C153F-545E-4FE2-86AA-5D14DFA33408}" srcOrd="8" destOrd="0" presId="urn:microsoft.com/office/officeart/2005/8/layout/radial4"/>
    <dgm:cxn modelId="{DD7A3648-BE46-40B2-B09F-3B5A5DAE0470}" type="presParOf" srcId="{FB14857B-7F7C-4F71-BB03-E784C29041A3}" destId="{6591111B-E4C1-42EA-801A-E6D1C21BCFB7}" srcOrd="9" destOrd="0" presId="urn:microsoft.com/office/officeart/2005/8/layout/radial4"/>
    <dgm:cxn modelId="{A68E44C8-11D9-4E29-B72E-8CF8484476B0}" type="presParOf" srcId="{FB14857B-7F7C-4F71-BB03-E784C29041A3}" destId="{00DE849D-94AD-4EEB-8458-A4749C402AB9}" srcOrd="10"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8BB88-C45F-4BF2-9193-BB266BCB3A0E}">
      <dsp:nvSpPr>
        <dsp:cNvPr id="0" name=""/>
        <dsp:cNvSpPr/>
      </dsp:nvSpPr>
      <dsp:spPr>
        <a:xfrm rot="5400000">
          <a:off x="184985" y="-148926"/>
          <a:ext cx="932241" cy="1236513"/>
        </a:xfrm>
        <a:prstGeom prst="upArrow">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rgbClr val="FFFF00"/>
              </a:solidFill>
            </a:rPr>
            <a:t>Planning/ BRD</a:t>
          </a:r>
          <a:endParaRPr lang="en-US" sz="1200" b="1" kern="1200" dirty="0">
            <a:solidFill>
              <a:srgbClr val="FFFF00"/>
            </a:solidFill>
          </a:endParaRPr>
        </a:p>
      </dsp:txBody>
      <dsp:txXfrm rot="-5400000">
        <a:off x="32849" y="236270"/>
        <a:ext cx="1003453" cy="466121"/>
      </dsp:txXfrm>
    </dsp:sp>
    <dsp:sp modelId="{8AB83528-A0D2-4A5D-BC41-F8F79DBFA433}">
      <dsp:nvSpPr>
        <dsp:cNvPr id="0" name=""/>
        <dsp:cNvSpPr/>
      </dsp:nvSpPr>
      <dsp:spPr>
        <a:xfrm rot="5400000">
          <a:off x="4289784" y="-2992680"/>
          <a:ext cx="606275" cy="65980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Define the project scope and objectives. Identify resources, timelines, and budget. Conduct feasibility studies and risk assessments.</a:t>
          </a:r>
        </a:p>
      </dsp:txBody>
      <dsp:txXfrm rot="-5400000">
        <a:off x="1293894" y="32806"/>
        <a:ext cx="6568459" cy="547083"/>
      </dsp:txXfrm>
    </dsp:sp>
    <dsp:sp modelId="{DF7A71D5-10BB-44C7-BB03-B35E8423CD16}">
      <dsp:nvSpPr>
        <dsp:cNvPr id="0" name=""/>
        <dsp:cNvSpPr/>
      </dsp:nvSpPr>
      <dsp:spPr>
        <a:xfrm rot="5400000">
          <a:off x="184985" y="664158"/>
          <a:ext cx="932241" cy="1236513"/>
        </a:xfrm>
        <a:prstGeom prst="upArrow">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accent1">
                  <a:lumMod val="20000"/>
                  <a:lumOff val="80000"/>
                </a:schemeClr>
              </a:solidFill>
            </a:rPr>
            <a:t>Requirements</a:t>
          </a:r>
          <a:r>
            <a:rPr lang="en-US" sz="1200" b="1" kern="1200" dirty="0">
              <a:solidFill>
                <a:srgbClr val="002060"/>
              </a:solidFill>
            </a:rPr>
            <a:t> </a:t>
          </a:r>
          <a:r>
            <a:rPr lang="en-US" sz="1200" b="1" kern="1200" dirty="0">
              <a:solidFill>
                <a:schemeClr val="accent1">
                  <a:lumMod val="20000"/>
                  <a:lumOff val="80000"/>
                </a:schemeClr>
              </a:solidFill>
            </a:rPr>
            <a:t>Analysis</a:t>
          </a:r>
        </a:p>
      </dsp:txBody>
      <dsp:txXfrm rot="-5400000">
        <a:off x="32849" y="1049354"/>
        <a:ext cx="1003453" cy="466121"/>
      </dsp:txXfrm>
    </dsp:sp>
    <dsp:sp modelId="{13C2FD04-F903-425B-BCEE-D3DF8B9B0DA4}">
      <dsp:nvSpPr>
        <dsp:cNvPr id="0" name=""/>
        <dsp:cNvSpPr/>
      </dsp:nvSpPr>
      <dsp:spPr>
        <a:xfrm rot="5400000">
          <a:off x="4059015" y="-1771787"/>
          <a:ext cx="605956" cy="5782120"/>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Gather and document functional and non-functional requirements. Engage with stakeholders to ensure all needs are captured.</a:t>
          </a:r>
        </a:p>
      </dsp:txBody>
      <dsp:txXfrm rot="-5400000">
        <a:off x="1470933" y="845875"/>
        <a:ext cx="5752540" cy="546796"/>
      </dsp:txXfrm>
    </dsp:sp>
    <dsp:sp modelId="{0EEE6857-F255-4153-8843-07A6A5993A69}">
      <dsp:nvSpPr>
        <dsp:cNvPr id="0" name=""/>
        <dsp:cNvSpPr/>
      </dsp:nvSpPr>
      <dsp:spPr>
        <a:xfrm rot="5400000">
          <a:off x="184985" y="1477243"/>
          <a:ext cx="932241" cy="1236513"/>
        </a:xfrm>
        <a:prstGeom prst="upArrow">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t>Design</a:t>
          </a:r>
          <a:endParaRPr lang="en-US" sz="1200" b="1" kern="1200" dirty="0"/>
        </a:p>
      </dsp:txBody>
      <dsp:txXfrm rot="-5400000">
        <a:off x="32849" y="1862439"/>
        <a:ext cx="1003453" cy="466121"/>
      </dsp:txXfrm>
    </dsp:sp>
    <dsp:sp modelId="{6CB7C40D-CE5D-4C95-AE50-338B0230EDFD}">
      <dsp:nvSpPr>
        <dsp:cNvPr id="0" name=""/>
        <dsp:cNvSpPr/>
      </dsp:nvSpPr>
      <dsp:spPr>
        <a:xfrm rot="5400000">
          <a:off x="4289943" y="-1366670"/>
          <a:ext cx="605956" cy="65980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Create architectural designs and detailed specifications. Plan the system architecture, database design, and user interfaces.</a:t>
          </a:r>
        </a:p>
      </dsp:txBody>
      <dsp:txXfrm rot="-5400000">
        <a:off x="1293894" y="1658959"/>
        <a:ext cx="6568475" cy="546796"/>
      </dsp:txXfrm>
    </dsp:sp>
    <dsp:sp modelId="{34D67B41-521C-426A-B647-18FFD9D59F77}">
      <dsp:nvSpPr>
        <dsp:cNvPr id="0" name=""/>
        <dsp:cNvSpPr/>
      </dsp:nvSpPr>
      <dsp:spPr>
        <a:xfrm rot="5400000">
          <a:off x="184985" y="2290328"/>
          <a:ext cx="932241" cy="1236513"/>
        </a:xfrm>
        <a:prstGeom prst="upArrow">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chemeClr val="accent6">
                  <a:lumMod val="60000"/>
                  <a:lumOff val="40000"/>
                </a:schemeClr>
              </a:solidFill>
            </a:rPr>
            <a:t>Development</a:t>
          </a:r>
          <a:endParaRPr lang="en-US" sz="1200" b="1" kern="1200" dirty="0">
            <a:solidFill>
              <a:schemeClr val="accent6">
                <a:lumMod val="60000"/>
                <a:lumOff val="40000"/>
              </a:schemeClr>
            </a:solidFill>
          </a:endParaRPr>
        </a:p>
      </dsp:txBody>
      <dsp:txXfrm rot="-5400000">
        <a:off x="32849" y="2675524"/>
        <a:ext cx="1003453" cy="466121"/>
      </dsp:txXfrm>
    </dsp:sp>
    <dsp:sp modelId="{5D52042E-07E6-43D7-A320-B76CF76E1400}">
      <dsp:nvSpPr>
        <dsp:cNvPr id="0" name=""/>
        <dsp:cNvSpPr/>
      </dsp:nvSpPr>
      <dsp:spPr>
        <a:xfrm rot="5400000">
          <a:off x="4289943" y="-553585"/>
          <a:ext cx="605956" cy="65980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Write the actual code based on design documents. Develop software components and integrate them.</a:t>
          </a:r>
        </a:p>
      </dsp:txBody>
      <dsp:txXfrm rot="-5400000">
        <a:off x="1293894" y="2472044"/>
        <a:ext cx="6568475" cy="546796"/>
      </dsp:txXfrm>
    </dsp:sp>
    <dsp:sp modelId="{A6C7EEB2-1DC5-4CB1-A3D6-C278509A3449}">
      <dsp:nvSpPr>
        <dsp:cNvPr id="0" name=""/>
        <dsp:cNvSpPr/>
      </dsp:nvSpPr>
      <dsp:spPr>
        <a:xfrm rot="5400000">
          <a:off x="184985" y="3103413"/>
          <a:ext cx="932241" cy="1236513"/>
        </a:xfrm>
        <a:prstGeom prst="upArrow">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chemeClr val="bg1">
                  <a:lumMod val="85000"/>
                </a:schemeClr>
              </a:solidFill>
            </a:rPr>
            <a:t>Testing</a:t>
          </a:r>
          <a:endParaRPr lang="en-US" sz="1200" b="1" kern="1200" dirty="0">
            <a:solidFill>
              <a:schemeClr val="bg1">
                <a:lumMod val="85000"/>
              </a:schemeClr>
            </a:solidFill>
          </a:endParaRPr>
        </a:p>
      </dsp:txBody>
      <dsp:txXfrm rot="-5400000">
        <a:off x="32849" y="3488609"/>
        <a:ext cx="1003453" cy="466121"/>
      </dsp:txXfrm>
    </dsp:sp>
    <dsp:sp modelId="{5878F111-CB11-4F78-9467-E31D7FBD2124}">
      <dsp:nvSpPr>
        <dsp:cNvPr id="0" name=""/>
        <dsp:cNvSpPr/>
      </dsp:nvSpPr>
      <dsp:spPr>
        <a:xfrm rot="5400000">
          <a:off x="4289943" y="259500"/>
          <a:ext cx="605956" cy="65980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a:t>Perform various testing (unit, integration, system, acceptance) to identify and fix bugs. Ensure the software meets all requirements and functions correctly.</a:t>
          </a:r>
        </a:p>
      </dsp:txBody>
      <dsp:txXfrm rot="-5400000">
        <a:off x="1293894" y="3285129"/>
        <a:ext cx="6568475" cy="546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C5905-64D1-4796-82B5-901265E4DEB9}">
      <dsp:nvSpPr>
        <dsp:cNvPr id="0" name=""/>
        <dsp:cNvSpPr/>
      </dsp:nvSpPr>
      <dsp:spPr>
        <a:xfrm>
          <a:off x="2433387" y="2452125"/>
          <a:ext cx="1686425" cy="1686425"/>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IN" sz="2500" b="1" kern="1200" dirty="0">
              <a:solidFill>
                <a:schemeClr val="tx1"/>
              </a:solidFill>
            </a:rPr>
            <a:t>Business</a:t>
          </a:r>
          <a:endParaRPr lang="en-US" sz="2500" b="1" kern="1200" dirty="0">
            <a:solidFill>
              <a:schemeClr val="tx1"/>
            </a:solidFill>
          </a:endParaRPr>
        </a:p>
      </dsp:txBody>
      <dsp:txXfrm>
        <a:off x="2680358" y="2699096"/>
        <a:ext cx="1192483" cy="1192483"/>
      </dsp:txXfrm>
    </dsp:sp>
    <dsp:sp modelId="{35D984D4-3D5B-4691-AAAB-C2C94CE55099}">
      <dsp:nvSpPr>
        <dsp:cNvPr id="0" name=""/>
        <dsp:cNvSpPr/>
      </dsp:nvSpPr>
      <dsp:spPr>
        <a:xfrm rot="10800000">
          <a:off x="801553" y="3055022"/>
          <a:ext cx="1542083" cy="480631"/>
        </a:xfrm>
        <a:prstGeom prst="lef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905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241C40CC-D8CB-4D9C-BF7F-4D446E73EC0E}">
      <dsp:nvSpPr>
        <dsp:cNvPr id="0" name=""/>
        <dsp:cNvSpPr/>
      </dsp:nvSpPr>
      <dsp:spPr>
        <a:xfrm>
          <a:off x="501" y="2654496"/>
          <a:ext cx="1602103" cy="1281683"/>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Direct Client</a:t>
          </a:r>
          <a:endParaRPr lang="en-US" sz="2000" b="1" kern="1200" dirty="0">
            <a:solidFill>
              <a:schemeClr val="tx1"/>
            </a:solidFill>
          </a:endParaRPr>
        </a:p>
      </dsp:txBody>
      <dsp:txXfrm>
        <a:off x="38040" y="2692035"/>
        <a:ext cx="1527025" cy="1206605"/>
      </dsp:txXfrm>
    </dsp:sp>
    <dsp:sp modelId="{D8F08D78-29D0-4F7D-A477-55C4E6EAC0CE}">
      <dsp:nvSpPr>
        <dsp:cNvPr id="0" name=""/>
        <dsp:cNvSpPr/>
      </dsp:nvSpPr>
      <dsp:spPr>
        <a:xfrm rot="13500000">
          <a:off x="1300645" y="1850108"/>
          <a:ext cx="1542083" cy="480631"/>
        </a:xfrm>
        <a:prstGeom prst="leftArrow">
          <a:avLst>
            <a:gd name="adj1" fmla="val 60000"/>
            <a:gd name="adj2" fmla="val 50000"/>
          </a:avLst>
        </a:prstGeom>
        <a:gradFill rotWithShape="0">
          <a:gsLst>
            <a:gs pos="0">
              <a:schemeClr val="accent5">
                <a:hueOff val="-2483469"/>
                <a:satOff val="9953"/>
                <a:lumOff val="2157"/>
                <a:alphaOff val="0"/>
                <a:shade val="51000"/>
                <a:satMod val="130000"/>
              </a:schemeClr>
            </a:gs>
            <a:gs pos="80000">
              <a:schemeClr val="accent5">
                <a:hueOff val="-2483469"/>
                <a:satOff val="9953"/>
                <a:lumOff val="2157"/>
                <a:alphaOff val="0"/>
                <a:shade val="93000"/>
                <a:satMod val="130000"/>
              </a:schemeClr>
            </a:gs>
            <a:gs pos="100000">
              <a:schemeClr val="accent5">
                <a:hueOff val="-2483469"/>
                <a:satOff val="9953"/>
                <a:lumOff val="215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905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05E73244-CA5D-4BCE-BB3C-F08523EA0F76}">
      <dsp:nvSpPr>
        <dsp:cNvPr id="0" name=""/>
        <dsp:cNvSpPr/>
      </dsp:nvSpPr>
      <dsp:spPr>
        <a:xfrm>
          <a:off x="725426" y="904374"/>
          <a:ext cx="1602103" cy="1281683"/>
        </a:xfrm>
        <a:prstGeom prst="roundRect">
          <a:avLst>
            <a:gd name="adj" fmla="val 10000"/>
          </a:avLst>
        </a:prstGeom>
        <a:gradFill rotWithShape="0">
          <a:gsLst>
            <a:gs pos="0">
              <a:schemeClr val="accent5">
                <a:hueOff val="-2483469"/>
                <a:satOff val="9953"/>
                <a:lumOff val="2157"/>
                <a:alphaOff val="0"/>
                <a:shade val="51000"/>
                <a:satMod val="130000"/>
              </a:schemeClr>
            </a:gs>
            <a:gs pos="80000">
              <a:schemeClr val="accent5">
                <a:hueOff val="-2483469"/>
                <a:satOff val="9953"/>
                <a:lumOff val="2157"/>
                <a:alphaOff val="0"/>
                <a:shade val="93000"/>
                <a:satMod val="130000"/>
              </a:schemeClr>
            </a:gs>
            <a:gs pos="100000">
              <a:schemeClr val="accent5">
                <a:hueOff val="-2483469"/>
                <a:satOff val="9953"/>
                <a:lumOff val="215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Channel Partner</a:t>
          </a:r>
          <a:endParaRPr lang="en-US" sz="2000" b="1" kern="1200" dirty="0">
            <a:solidFill>
              <a:schemeClr val="tx1"/>
            </a:solidFill>
          </a:endParaRPr>
        </a:p>
      </dsp:txBody>
      <dsp:txXfrm>
        <a:off x="762965" y="941913"/>
        <a:ext cx="1527025" cy="1206605"/>
      </dsp:txXfrm>
    </dsp:sp>
    <dsp:sp modelId="{F8EEB9B0-1109-471E-958F-7091D6481A90}">
      <dsp:nvSpPr>
        <dsp:cNvPr id="0" name=""/>
        <dsp:cNvSpPr/>
      </dsp:nvSpPr>
      <dsp:spPr>
        <a:xfrm rot="16200000">
          <a:off x="2505558" y="1351017"/>
          <a:ext cx="1542083" cy="480631"/>
        </a:xfrm>
        <a:prstGeom prst="leftArrow">
          <a:avLst>
            <a:gd name="adj1" fmla="val 60000"/>
            <a:gd name="adj2" fmla="val 50000"/>
          </a:avLst>
        </a:prstGeom>
        <a:gradFill rotWithShape="0">
          <a:gsLst>
            <a:gs pos="0">
              <a:schemeClr val="accent5">
                <a:hueOff val="-4966938"/>
                <a:satOff val="19906"/>
                <a:lumOff val="4314"/>
                <a:alphaOff val="0"/>
                <a:shade val="51000"/>
                <a:satMod val="130000"/>
              </a:schemeClr>
            </a:gs>
            <a:gs pos="80000">
              <a:schemeClr val="accent5">
                <a:hueOff val="-4966938"/>
                <a:satOff val="19906"/>
                <a:lumOff val="4314"/>
                <a:alphaOff val="0"/>
                <a:shade val="93000"/>
                <a:satMod val="130000"/>
              </a:schemeClr>
            </a:gs>
            <a:gs pos="100000">
              <a:schemeClr val="accent5">
                <a:hueOff val="-4966938"/>
                <a:satOff val="19906"/>
                <a:lumOff val="431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905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83FC198F-E3EA-4E14-A100-E4CEFC974B7E}">
      <dsp:nvSpPr>
        <dsp:cNvPr id="0" name=""/>
        <dsp:cNvSpPr/>
      </dsp:nvSpPr>
      <dsp:spPr>
        <a:xfrm>
          <a:off x="2475548" y="179449"/>
          <a:ext cx="1602103" cy="1281683"/>
        </a:xfrm>
        <a:prstGeom prst="roundRect">
          <a:avLst>
            <a:gd name="adj" fmla="val 10000"/>
          </a:avLst>
        </a:prstGeom>
        <a:gradFill rotWithShape="0">
          <a:gsLst>
            <a:gs pos="0">
              <a:schemeClr val="accent5">
                <a:hueOff val="-4966938"/>
                <a:satOff val="19906"/>
                <a:lumOff val="4314"/>
                <a:alphaOff val="0"/>
                <a:shade val="51000"/>
                <a:satMod val="130000"/>
              </a:schemeClr>
            </a:gs>
            <a:gs pos="80000">
              <a:schemeClr val="accent5">
                <a:hueOff val="-4966938"/>
                <a:satOff val="19906"/>
                <a:lumOff val="4314"/>
                <a:alphaOff val="0"/>
                <a:shade val="93000"/>
                <a:satMod val="130000"/>
              </a:schemeClr>
            </a:gs>
            <a:gs pos="100000">
              <a:schemeClr val="accent5">
                <a:hueOff val="-4966938"/>
                <a:satOff val="19906"/>
                <a:lumOff val="431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Tech Partnership</a:t>
          </a:r>
          <a:endParaRPr lang="en-US" sz="2000" b="1" kern="1200" dirty="0">
            <a:solidFill>
              <a:schemeClr val="tx1"/>
            </a:solidFill>
          </a:endParaRPr>
        </a:p>
      </dsp:txBody>
      <dsp:txXfrm>
        <a:off x="2513087" y="216988"/>
        <a:ext cx="1527025" cy="1206605"/>
      </dsp:txXfrm>
    </dsp:sp>
    <dsp:sp modelId="{3618B69A-F068-4E81-978D-E4C6A30BC9D5}">
      <dsp:nvSpPr>
        <dsp:cNvPr id="0" name=""/>
        <dsp:cNvSpPr/>
      </dsp:nvSpPr>
      <dsp:spPr>
        <a:xfrm rot="18900000">
          <a:off x="3710471" y="1850108"/>
          <a:ext cx="1542083" cy="480631"/>
        </a:xfrm>
        <a:prstGeom prst="leftArrow">
          <a:avLst>
            <a:gd name="adj1" fmla="val 60000"/>
            <a:gd name="adj2" fmla="val 50000"/>
          </a:avLst>
        </a:prstGeom>
        <a:gradFill rotWithShape="0">
          <a:gsLst>
            <a:gs pos="0">
              <a:schemeClr val="accent5">
                <a:hueOff val="-7450407"/>
                <a:satOff val="29858"/>
                <a:lumOff val="6471"/>
                <a:alphaOff val="0"/>
                <a:shade val="51000"/>
                <a:satMod val="130000"/>
              </a:schemeClr>
            </a:gs>
            <a:gs pos="80000">
              <a:schemeClr val="accent5">
                <a:hueOff val="-7450407"/>
                <a:satOff val="29858"/>
                <a:lumOff val="6471"/>
                <a:alphaOff val="0"/>
                <a:shade val="93000"/>
                <a:satMod val="130000"/>
              </a:schemeClr>
            </a:gs>
            <a:gs pos="100000">
              <a:schemeClr val="accent5">
                <a:hueOff val="-7450407"/>
                <a:satOff val="29858"/>
                <a:lumOff val="647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905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800C153F-545E-4FE2-86AA-5D14DFA33408}">
      <dsp:nvSpPr>
        <dsp:cNvPr id="0" name=""/>
        <dsp:cNvSpPr/>
      </dsp:nvSpPr>
      <dsp:spPr>
        <a:xfrm>
          <a:off x="4225670" y="904374"/>
          <a:ext cx="1602103" cy="1281683"/>
        </a:xfrm>
        <a:prstGeom prst="roundRect">
          <a:avLst>
            <a:gd name="adj" fmla="val 10000"/>
          </a:avLst>
        </a:prstGeom>
        <a:gradFill rotWithShape="0">
          <a:gsLst>
            <a:gs pos="0">
              <a:schemeClr val="accent5">
                <a:hueOff val="-7450407"/>
                <a:satOff val="29858"/>
                <a:lumOff val="6471"/>
                <a:alphaOff val="0"/>
                <a:shade val="51000"/>
                <a:satMod val="130000"/>
              </a:schemeClr>
            </a:gs>
            <a:gs pos="80000">
              <a:schemeClr val="accent5">
                <a:hueOff val="-7450407"/>
                <a:satOff val="29858"/>
                <a:lumOff val="6471"/>
                <a:alphaOff val="0"/>
                <a:shade val="93000"/>
                <a:satMod val="130000"/>
              </a:schemeClr>
            </a:gs>
            <a:gs pos="100000">
              <a:schemeClr val="accent5">
                <a:hueOff val="-7450407"/>
                <a:satOff val="29858"/>
                <a:lumOff val="647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Project Outsourcing</a:t>
          </a:r>
          <a:endParaRPr lang="en-US" sz="2000" b="1" kern="1200" dirty="0">
            <a:solidFill>
              <a:schemeClr val="tx1"/>
            </a:solidFill>
          </a:endParaRPr>
        </a:p>
      </dsp:txBody>
      <dsp:txXfrm>
        <a:off x="4263209" y="941913"/>
        <a:ext cx="1527025" cy="1206605"/>
      </dsp:txXfrm>
    </dsp:sp>
    <dsp:sp modelId="{6591111B-E4C1-42EA-801A-E6D1C21BCFB7}">
      <dsp:nvSpPr>
        <dsp:cNvPr id="0" name=""/>
        <dsp:cNvSpPr/>
      </dsp:nvSpPr>
      <dsp:spPr>
        <a:xfrm>
          <a:off x="4209563" y="3055022"/>
          <a:ext cx="1542083" cy="480631"/>
        </a:xfrm>
        <a:prstGeom prst="leftArrow">
          <a:avLst>
            <a:gd name="adj1" fmla="val 60000"/>
            <a:gd name="adj2" fmla="val 50000"/>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1905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00DE849D-94AD-4EEB-8458-A4749C402AB9}">
      <dsp:nvSpPr>
        <dsp:cNvPr id="0" name=""/>
        <dsp:cNvSpPr/>
      </dsp:nvSpPr>
      <dsp:spPr>
        <a:xfrm>
          <a:off x="4950594" y="2654496"/>
          <a:ext cx="1602103" cy="1281683"/>
        </a:xfrm>
        <a:prstGeom prst="roundRect">
          <a:avLst>
            <a:gd name="adj" fmla="val 10000"/>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Project Maintenance</a:t>
          </a:r>
          <a:endParaRPr lang="en-US" sz="2000" b="1" kern="1200" dirty="0">
            <a:solidFill>
              <a:schemeClr val="tx1"/>
            </a:solidFill>
          </a:endParaRPr>
        </a:p>
      </dsp:txBody>
      <dsp:txXfrm>
        <a:off x="4988133" y="2692035"/>
        <a:ext cx="1527025" cy="120660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BFEC65-F46F-489B-BA9F-41C7A0AAA6CB}" type="datetimeFigureOut">
              <a:rPr lang="en-US" smtClean="0"/>
              <a:pPr/>
              <a:t>11/19/2025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64FA1A3-DE19-4815-849A-74D60FB6E23C}"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466001-EECC-42DA-A9CA-DE2CA74D2F42}" type="datetimeFigureOut">
              <a:rPr lang="en-US" smtClean="0"/>
              <a:pPr/>
              <a:t>11/19/2025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95DF91-DF63-40D5-BC8E-34DF612352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B95DF91-DF63-40D5-BC8E-34DF612352AD}"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6"/>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04789"/>
            <a:ext cx="5111751"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razorpay.com/payment-gateway/"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razorpay.com/blog/what-is-payment-processing/"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razorpay.com/integrations/"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1028" name="Picture 4" descr="C:\Pankaj\Client Profiles\Reet Technologies\Images\3.jpg"/>
          <p:cNvPicPr>
            <a:picLocks noChangeAspect="1" noChangeArrowheads="1"/>
          </p:cNvPicPr>
          <p:nvPr/>
        </p:nvPicPr>
        <p:blipFill>
          <a:blip r:embed="rId2"/>
          <a:srcRect/>
          <a:stretch>
            <a:fillRect/>
          </a:stretch>
        </p:blipFill>
        <p:spPr bwMode="auto">
          <a:xfrm>
            <a:off x="0" y="0"/>
            <a:ext cx="9144000" cy="5143501"/>
          </a:xfrm>
          <a:prstGeom prst="rect">
            <a:avLst/>
          </a:prstGeom>
          <a:solidFill>
            <a:schemeClr val="bg1">
              <a:alpha val="55000"/>
            </a:schemeClr>
          </a:solidFill>
        </p:spPr>
      </p:pic>
      <p:sp>
        <p:nvSpPr>
          <p:cNvPr id="8" name="TextBox 7"/>
          <p:cNvSpPr txBox="1"/>
          <p:nvPr/>
        </p:nvSpPr>
        <p:spPr>
          <a:xfrm>
            <a:off x="1905000" y="2323265"/>
            <a:ext cx="5486400" cy="492443"/>
          </a:xfrm>
          <a:prstGeom prst="rect">
            <a:avLst/>
          </a:prstGeom>
          <a:noFill/>
        </p:spPr>
        <p:txBody>
          <a:bodyPr wrap="square" rtlCol="0">
            <a:spAutoFit/>
          </a:bodyPr>
          <a:lstStyle/>
          <a:p>
            <a:pPr algn="ctr"/>
            <a:r>
              <a:rPr lang="en-IN" sz="2600" b="1" dirty="0">
                <a:solidFill>
                  <a:srgbClr val="92D050"/>
                </a:solidFill>
              </a:rPr>
              <a:t>Where Ideas Meet Execution…</a:t>
            </a:r>
            <a:endParaRPr lang="en-US" sz="2600" b="1" dirty="0">
              <a:solidFill>
                <a:srgbClr val="92D050"/>
              </a:solidFill>
            </a:endParaRPr>
          </a:p>
        </p:txBody>
      </p:sp>
      <p:sp>
        <p:nvSpPr>
          <p:cNvPr id="9" name="TextBox 8"/>
          <p:cNvSpPr txBox="1"/>
          <p:nvPr/>
        </p:nvSpPr>
        <p:spPr>
          <a:xfrm>
            <a:off x="1981200" y="2891908"/>
            <a:ext cx="5410200" cy="369332"/>
          </a:xfrm>
          <a:prstGeom prst="rect">
            <a:avLst/>
          </a:prstGeom>
          <a:noFill/>
        </p:spPr>
        <p:txBody>
          <a:bodyPr wrap="square" rtlCol="0">
            <a:spAutoFit/>
          </a:bodyPr>
          <a:lstStyle/>
          <a:p>
            <a:pPr algn="ctr"/>
            <a:r>
              <a:rPr lang="en-IN" dirty="0">
                <a:solidFill>
                  <a:schemeClr val="bg1">
                    <a:lumMod val="65000"/>
                  </a:schemeClr>
                </a:solidFill>
              </a:rPr>
              <a:t>Future Tech IT solutions &amp; Strategic Consulting</a:t>
            </a:r>
            <a:endParaRPr lang="en-US" dirty="0">
              <a:solidFill>
                <a:schemeClr val="bg1">
                  <a:lumMod val="65000"/>
                </a:schemeClr>
              </a:solidFill>
            </a:endParaRPr>
          </a:p>
        </p:txBody>
      </p:sp>
      <p:sp>
        <p:nvSpPr>
          <p:cNvPr id="13" name="TextBox 12"/>
          <p:cNvSpPr txBox="1"/>
          <p:nvPr/>
        </p:nvSpPr>
        <p:spPr>
          <a:xfrm>
            <a:off x="1295400" y="1358978"/>
            <a:ext cx="6705600" cy="923330"/>
          </a:xfrm>
          <a:prstGeom prst="rect">
            <a:avLst/>
          </a:prstGeom>
          <a:noFill/>
        </p:spPr>
        <p:txBody>
          <a:bodyPr wrap="square" rtlCol="0">
            <a:spAutoFit/>
          </a:bodyPr>
          <a:lstStyle/>
          <a:p>
            <a:pPr algn="ctr"/>
            <a:r>
              <a:rPr lang="en-IN" sz="5400" b="1" dirty="0">
                <a:solidFill>
                  <a:schemeClr val="tx2">
                    <a:lumMod val="60000"/>
                    <a:lumOff val="40000"/>
                  </a:schemeClr>
                </a:solidFill>
                <a:latin typeface="Britannic Bold" pitchFamily="34" charset="0"/>
              </a:rPr>
              <a:t>REET TECHNOLOGIES</a:t>
            </a:r>
            <a:endParaRPr lang="en-US" sz="5400" b="1" dirty="0">
              <a:solidFill>
                <a:schemeClr val="tx2">
                  <a:lumMod val="60000"/>
                  <a:lumOff val="40000"/>
                </a:schemeClr>
              </a:solidFill>
              <a:latin typeface="Britannic Bold" pitchFamily="34" charset="0"/>
            </a:endParaRPr>
          </a:p>
        </p:txBody>
      </p:sp>
      <p:pic>
        <p:nvPicPr>
          <p:cNvPr id="1027" name="Picture 3" descr="C:\Pankaj\Client Profiles\Reet Technologies\REET TECH only logo.png"/>
          <p:cNvPicPr>
            <a:picLocks noChangeAspect="1" noChangeArrowheads="1"/>
          </p:cNvPicPr>
          <p:nvPr/>
        </p:nvPicPr>
        <p:blipFill>
          <a:blip r:embed="rId3" cstate="print"/>
          <a:srcRect/>
          <a:stretch>
            <a:fillRect/>
          </a:stretch>
        </p:blipFill>
        <p:spPr bwMode="auto">
          <a:xfrm>
            <a:off x="4038600" y="209550"/>
            <a:ext cx="1150937" cy="1082158"/>
          </a:xfrm>
          <a:prstGeom prst="rect">
            <a:avLst/>
          </a:prstGeom>
          <a:noFill/>
        </p:spPr>
      </p:pic>
      <p:sp>
        <p:nvSpPr>
          <p:cNvPr id="11" name="TextBox 10"/>
          <p:cNvSpPr txBox="1"/>
          <p:nvPr/>
        </p:nvSpPr>
        <p:spPr>
          <a:xfrm>
            <a:off x="2133600" y="3638550"/>
            <a:ext cx="5410200" cy="800219"/>
          </a:xfrm>
          <a:prstGeom prst="rect">
            <a:avLst/>
          </a:prstGeom>
          <a:noFill/>
        </p:spPr>
        <p:txBody>
          <a:bodyPr wrap="square" rtlCol="0">
            <a:spAutoFit/>
          </a:bodyPr>
          <a:lstStyle/>
          <a:p>
            <a:pPr algn="ctr"/>
            <a:r>
              <a:rPr lang="en-IN" dirty="0">
                <a:solidFill>
                  <a:schemeClr val="bg1">
                    <a:lumMod val="65000"/>
                  </a:schemeClr>
                </a:solidFill>
              </a:rPr>
              <a:t>Contact Us</a:t>
            </a:r>
          </a:p>
          <a:p>
            <a:pPr algn="ctr"/>
            <a:r>
              <a:rPr lang="en-IN" sz="1400" dirty="0">
                <a:solidFill>
                  <a:schemeClr val="bg1">
                    <a:lumMod val="85000"/>
                  </a:schemeClr>
                </a:solidFill>
              </a:rPr>
              <a:t>reettech24@gmail.com</a:t>
            </a:r>
          </a:p>
          <a:p>
            <a:pPr algn="ctr"/>
            <a:r>
              <a:rPr lang="en-IN" sz="1400" dirty="0">
                <a:solidFill>
                  <a:schemeClr val="bg1">
                    <a:lumMod val="65000"/>
                  </a:schemeClr>
                </a:solidFill>
              </a:rPr>
              <a:t>7972905758</a:t>
            </a:r>
            <a:endParaRPr lang="en-US" sz="1400" dirty="0">
              <a:solidFill>
                <a:schemeClr val="bg1">
                  <a:lumMod val="6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a:ln w="3175">
            <a:solidFill>
              <a:schemeClr val="tx1"/>
            </a:solidFill>
          </a:ln>
        </p:spPr>
      </p:pic>
      <p:sp>
        <p:nvSpPr>
          <p:cNvPr id="3" name="Content Placeholder 2"/>
          <p:cNvSpPr>
            <a:spLocks noGrp="1"/>
          </p:cNvSpPr>
          <p:nvPr>
            <p:ph idx="1"/>
          </p:nvPr>
        </p:nvSpPr>
        <p:spPr>
          <a:xfrm>
            <a:off x="838200" y="1200150"/>
            <a:ext cx="5715000" cy="3352800"/>
          </a:xfrm>
        </p:spPr>
        <p:txBody>
          <a:bodyPr>
            <a:noAutofit/>
          </a:bodyPr>
          <a:lstStyle/>
          <a:p>
            <a:r>
              <a:rPr lang="en-US" sz="1600" b="1" dirty="0"/>
              <a:t>Discipline</a:t>
            </a:r>
          </a:p>
          <a:p>
            <a:r>
              <a:rPr lang="en-IN" sz="1600" b="1" dirty="0"/>
              <a:t>Time Management</a:t>
            </a:r>
          </a:p>
          <a:p>
            <a:r>
              <a:rPr lang="en-IN" sz="1600" b="1" dirty="0"/>
              <a:t>Technologies</a:t>
            </a:r>
          </a:p>
          <a:p>
            <a:r>
              <a:rPr lang="en-IN" sz="1600" b="1" dirty="0"/>
              <a:t>Overall Personality Development</a:t>
            </a:r>
          </a:p>
          <a:p>
            <a:r>
              <a:rPr lang="en-IN" sz="1600" b="1" dirty="0"/>
              <a:t>Departmental Works</a:t>
            </a:r>
          </a:p>
          <a:p>
            <a:r>
              <a:rPr lang="en-IN" sz="1600" b="1" dirty="0"/>
              <a:t>Operating Tools</a:t>
            </a:r>
          </a:p>
          <a:p>
            <a:r>
              <a:rPr lang="en-IN" sz="1600" b="1" dirty="0"/>
              <a:t>Linked in and Other Portals</a:t>
            </a:r>
          </a:p>
          <a:p>
            <a:endParaRPr lang="en-US" sz="1600" dirty="0"/>
          </a:p>
          <a:p>
            <a:endParaRPr lang="en-US" sz="1600" dirty="0"/>
          </a:p>
          <a:p>
            <a:endParaRPr lang="en-US" sz="1600" dirty="0"/>
          </a:p>
        </p:txBody>
      </p:sp>
      <p:sp>
        <p:nvSpPr>
          <p:cNvPr id="6" name="Rectangle 5"/>
          <p:cNvSpPr/>
          <p:nvPr/>
        </p:nvSpPr>
        <p:spPr>
          <a:xfrm>
            <a:off x="914400" y="361950"/>
            <a:ext cx="4953000" cy="492443"/>
          </a:xfrm>
          <a:prstGeom prst="rect">
            <a:avLst/>
          </a:prstGeom>
        </p:spPr>
        <p:txBody>
          <a:bodyPr wrap="square">
            <a:spAutoFit/>
          </a:bodyPr>
          <a:lstStyle/>
          <a:p>
            <a:r>
              <a:rPr lang="en-US" sz="2600" b="1" dirty="0"/>
              <a:t>What Is we Learn?</a:t>
            </a:r>
            <a:endParaRPr lang="en-US" sz="2600" dirty="0"/>
          </a:p>
        </p:txBody>
      </p:sp>
      <p:pic>
        <p:nvPicPr>
          <p:cNvPr id="1030" name="Picture 6" descr="C:\Users\prema\Downloads\266554.jpg"/>
          <p:cNvPicPr>
            <a:picLocks noChangeAspect="1" noChangeArrowheads="1"/>
          </p:cNvPicPr>
          <p:nvPr/>
        </p:nvPicPr>
        <p:blipFill>
          <a:blip r:embed="rId3" cstate="print"/>
          <a:srcRect/>
          <a:stretch>
            <a:fillRect/>
          </a:stretch>
        </p:blipFill>
        <p:spPr bwMode="auto">
          <a:xfrm>
            <a:off x="6705600" y="1276350"/>
            <a:ext cx="1977212" cy="2571749"/>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a:ln w="3175">
            <a:solidFill>
              <a:schemeClr val="tx1"/>
            </a:solidFill>
          </a:ln>
        </p:spPr>
      </p:pic>
      <p:sp>
        <p:nvSpPr>
          <p:cNvPr id="3" name="Content Placeholder 2"/>
          <p:cNvSpPr>
            <a:spLocks noGrp="1"/>
          </p:cNvSpPr>
          <p:nvPr>
            <p:ph idx="1"/>
          </p:nvPr>
        </p:nvSpPr>
        <p:spPr>
          <a:xfrm>
            <a:off x="838200" y="2114550"/>
            <a:ext cx="5715000" cy="2438400"/>
          </a:xfrm>
        </p:spPr>
        <p:txBody>
          <a:bodyPr>
            <a:noAutofit/>
          </a:bodyPr>
          <a:lstStyle/>
          <a:p>
            <a:r>
              <a:rPr lang="en-US" sz="1600" b="1" dirty="0"/>
              <a:t>Innovations and New Vision</a:t>
            </a:r>
            <a:r>
              <a:rPr lang="en-US" sz="1600" dirty="0"/>
              <a:t>:</a:t>
            </a:r>
          </a:p>
          <a:p>
            <a:r>
              <a:rPr lang="en-US" sz="1600" dirty="0"/>
              <a:t>The IT world is continuously evolving with innovations, bringing new ideas and perspectives.</a:t>
            </a:r>
          </a:p>
          <a:p>
            <a:r>
              <a:rPr lang="en-US" sz="1600" b="1" dirty="0"/>
              <a:t>Hardware</a:t>
            </a:r>
            <a:r>
              <a:rPr lang="en-US" sz="1600" dirty="0"/>
              <a:t>:</a:t>
            </a:r>
          </a:p>
          <a:p>
            <a:r>
              <a:rPr lang="en-US" sz="1600" dirty="0"/>
              <a:t>Physical components of a computer system such as:</a:t>
            </a:r>
          </a:p>
          <a:p>
            <a:r>
              <a:rPr lang="en-US" sz="1600" dirty="0"/>
              <a:t>Computers</a:t>
            </a:r>
          </a:p>
          <a:p>
            <a:r>
              <a:rPr lang="en-US" sz="1600" dirty="0"/>
              <a:t>Servers</a:t>
            </a:r>
          </a:p>
          <a:p>
            <a:r>
              <a:rPr lang="en-US" sz="1600" dirty="0"/>
              <a:t>Storage devices</a:t>
            </a:r>
          </a:p>
          <a:p>
            <a:endParaRPr lang="en-US" sz="1600" dirty="0"/>
          </a:p>
          <a:p>
            <a:endParaRPr lang="en-US" sz="1600" dirty="0"/>
          </a:p>
        </p:txBody>
      </p:sp>
      <p:sp>
        <p:nvSpPr>
          <p:cNvPr id="6" name="Rectangle 5"/>
          <p:cNvSpPr/>
          <p:nvPr/>
        </p:nvSpPr>
        <p:spPr>
          <a:xfrm>
            <a:off x="914400" y="361950"/>
            <a:ext cx="1828800" cy="492443"/>
          </a:xfrm>
          <a:prstGeom prst="rect">
            <a:avLst/>
          </a:prstGeom>
        </p:spPr>
        <p:txBody>
          <a:bodyPr wrap="square">
            <a:spAutoFit/>
          </a:bodyPr>
          <a:lstStyle/>
          <a:p>
            <a:r>
              <a:rPr lang="en-US" sz="2600" b="1" dirty="0"/>
              <a:t>What Is IT?</a:t>
            </a:r>
            <a:endParaRPr lang="en-US" sz="2600" dirty="0"/>
          </a:p>
        </p:txBody>
      </p:sp>
      <p:pic>
        <p:nvPicPr>
          <p:cNvPr id="1030" name="Picture 6" descr="C:\Users\prema\Downloads\266554.jpg"/>
          <p:cNvPicPr>
            <a:picLocks noChangeAspect="1" noChangeArrowheads="1"/>
          </p:cNvPicPr>
          <p:nvPr/>
        </p:nvPicPr>
        <p:blipFill>
          <a:blip r:embed="rId3" cstate="print"/>
          <a:srcRect/>
          <a:stretch>
            <a:fillRect/>
          </a:stretch>
        </p:blipFill>
        <p:spPr bwMode="auto">
          <a:xfrm>
            <a:off x="6705600" y="1276350"/>
            <a:ext cx="1977212" cy="2571749"/>
          </a:xfrm>
          <a:prstGeom prst="rect">
            <a:avLst/>
          </a:prstGeom>
          <a:noFill/>
        </p:spPr>
      </p:pic>
      <p:sp>
        <p:nvSpPr>
          <p:cNvPr id="7" name="Rectangle 6"/>
          <p:cNvSpPr/>
          <p:nvPr/>
        </p:nvSpPr>
        <p:spPr>
          <a:xfrm>
            <a:off x="990600" y="1200150"/>
            <a:ext cx="5334000" cy="646331"/>
          </a:xfrm>
          <a:prstGeom prst="rect">
            <a:avLst/>
          </a:prstGeom>
        </p:spPr>
        <p:txBody>
          <a:bodyPr wrap="square">
            <a:spAutoFit/>
          </a:bodyPr>
          <a:lstStyle/>
          <a:p>
            <a:r>
              <a:rPr lang="en-US" dirty="0"/>
              <a:t>Information technology World is full of Innovations, Technology and New Vision and New Ideas.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a:ln w="3175">
            <a:solidFill>
              <a:schemeClr val="tx1"/>
            </a:solidFill>
          </a:ln>
        </p:spPr>
      </p:pic>
      <p:sp>
        <p:nvSpPr>
          <p:cNvPr id="3" name="Content Placeholder 2"/>
          <p:cNvSpPr>
            <a:spLocks noGrp="1"/>
          </p:cNvSpPr>
          <p:nvPr>
            <p:ph idx="1"/>
          </p:nvPr>
        </p:nvSpPr>
        <p:spPr>
          <a:xfrm>
            <a:off x="838200" y="971550"/>
            <a:ext cx="5715000" cy="3623072"/>
          </a:xfrm>
        </p:spPr>
        <p:txBody>
          <a:bodyPr>
            <a:noAutofit/>
          </a:bodyPr>
          <a:lstStyle/>
          <a:p>
            <a:r>
              <a:rPr lang="en-US" sz="1600" b="1" dirty="0"/>
              <a:t>Software</a:t>
            </a:r>
            <a:r>
              <a:rPr lang="en-US" sz="1600" dirty="0"/>
              <a:t>:</a:t>
            </a:r>
          </a:p>
          <a:p>
            <a:r>
              <a:rPr lang="en-US" sz="1600" dirty="0"/>
              <a:t>Programs and operating systems that run on hardware, including:</a:t>
            </a:r>
          </a:p>
          <a:p>
            <a:r>
              <a:rPr lang="en-US" sz="1600" dirty="0"/>
              <a:t>Windows</a:t>
            </a:r>
          </a:p>
          <a:p>
            <a:r>
              <a:rPr lang="en-US" sz="1600" dirty="0"/>
              <a:t>Linux</a:t>
            </a:r>
          </a:p>
          <a:p>
            <a:r>
              <a:rPr lang="en-US" sz="1600" dirty="0"/>
              <a:t>Application software</a:t>
            </a:r>
          </a:p>
          <a:p>
            <a:endParaRPr lang="en-US" sz="1600" dirty="0"/>
          </a:p>
        </p:txBody>
      </p:sp>
      <p:sp>
        <p:nvSpPr>
          <p:cNvPr id="6" name="Rectangle 5"/>
          <p:cNvSpPr/>
          <p:nvPr/>
        </p:nvSpPr>
        <p:spPr>
          <a:xfrm>
            <a:off x="914400" y="361950"/>
            <a:ext cx="1828800" cy="492443"/>
          </a:xfrm>
          <a:prstGeom prst="rect">
            <a:avLst/>
          </a:prstGeom>
        </p:spPr>
        <p:txBody>
          <a:bodyPr wrap="square">
            <a:spAutoFit/>
          </a:bodyPr>
          <a:lstStyle/>
          <a:p>
            <a:r>
              <a:rPr lang="en-US" sz="2600" b="1" dirty="0"/>
              <a:t>Software?</a:t>
            </a:r>
            <a:endParaRPr lang="en-US" sz="2600" dirty="0"/>
          </a:p>
        </p:txBody>
      </p:sp>
      <p:pic>
        <p:nvPicPr>
          <p:cNvPr id="20481" name="Picture 1" descr="C:\Pankaj\Reet Technologies\Files,Artwork &amp; Mktg\important-types-of-software.jpg"/>
          <p:cNvPicPr>
            <a:picLocks noChangeAspect="1" noChangeArrowheads="1"/>
          </p:cNvPicPr>
          <p:nvPr/>
        </p:nvPicPr>
        <p:blipFill>
          <a:blip r:embed="rId3"/>
          <a:srcRect/>
          <a:stretch>
            <a:fillRect/>
          </a:stretch>
        </p:blipFill>
        <p:spPr bwMode="auto">
          <a:xfrm>
            <a:off x="5181600" y="2171700"/>
            <a:ext cx="3962400" cy="29718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914400" y="361950"/>
            <a:ext cx="5105400" cy="492443"/>
          </a:xfrm>
          <a:prstGeom prst="rect">
            <a:avLst/>
          </a:prstGeom>
        </p:spPr>
        <p:txBody>
          <a:bodyPr wrap="square">
            <a:spAutoFit/>
          </a:bodyPr>
          <a:lstStyle/>
          <a:p>
            <a:r>
              <a:rPr lang="en-IN" sz="2600" b="1" dirty="0"/>
              <a:t>Key Components of IT</a:t>
            </a:r>
            <a:endParaRPr lang="en-US" sz="2600" dirty="0"/>
          </a:p>
        </p:txBody>
      </p:sp>
      <p:sp>
        <p:nvSpPr>
          <p:cNvPr id="8" name="Rectangle 7"/>
          <p:cNvSpPr/>
          <p:nvPr/>
        </p:nvSpPr>
        <p:spPr>
          <a:xfrm>
            <a:off x="914400" y="895350"/>
            <a:ext cx="7162800" cy="3785652"/>
          </a:xfrm>
          <a:prstGeom prst="rect">
            <a:avLst/>
          </a:prstGeom>
        </p:spPr>
        <p:txBody>
          <a:bodyPr wrap="square">
            <a:spAutoFit/>
          </a:bodyPr>
          <a:lstStyle/>
          <a:p>
            <a:r>
              <a:rPr lang="en-US" sz="1600" b="1" dirty="0"/>
              <a:t>Networking</a:t>
            </a:r>
          </a:p>
          <a:p>
            <a:r>
              <a:rPr lang="en-US" sz="1600" dirty="0"/>
              <a:t>Connecting computers and other devices to share resources, including:</a:t>
            </a:r>
          </a:p>
          <a:p>
            <a:r>
              <a:rPr lang="en-US" sz="1600" dirty="0"/>
              <a:t>Local Area Network (LAN)</a:t>
            </a:r>
          </a:p>
          <a:p>
            <a:r>
              <a:rPr lang="en-US" sz="1600" dirty="0"/>
              <a:t>Wide Area Network (WAN)</a:t>
            </a:r>
          </a:p>
          <a:p>
            <a:r>
              <a:rPr lang="en-US" sz="1600" dirty="0"/>
              <a:t>Internet</a:t>
            </a:r>
          </a:p>
          <a:p>
            <a:endParaRPr lang="en-US" sz="1600" dirty="0"/>
          </a:p>
          <a:p>
            <a:r>
              <a:rPr lang="en-US" sz="1600" b="1" dirty="0"/>
              <a:t>Databases</a:t>
            </a:r>
          </a:p>
          <a:p>
            <a:r>
              <a:rPr lang="en-US" sz="1600" dirty="0"/>
              <a:t>Organized collections of data that can be easily accessed, managed, and updated.</a:t>
            </a:r>
          </a:p>
          <a:p>
            <a:endParaRPr lang="en-US" sz="1600" dirty="0"/>
          </a:p>
          <a:p>
            <a:r>
              <a:rPr lang="en-US" sz="1600" b="1" dirty="0"/>
              <a:t>Cyber security</a:t>
            </a:r>
          </a:p>
          <a:p>
            <a:r>
              <a:rPr lang="en-US" sz="1600" dirty="0"/>
              <a:t>Protecting systems, networks, and data from digital attacks, damage, or unauthorized access.</a:t>
            </a:r>
          </a:p>
          <a:p>
            <a:endParaRPr lang="en-US" sz="1600" dirty="0"/>
          </a:p>
          <a:p>
            <a:r>
              <a:rPr lang="en-US" sz="1600" b="1" dirty="0"/>
              <a:t>IT Support and Services</a:t>
            </a:r>
          </a:p>
          <a:p>
            <a:r>
              <a:rPr lang="en-US" sz="1600" dirty="0"/>
              <a:t>Maintenance and support of IT infrastructure, helping users resolve technical issues.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7" name="Rectangle 6"/>
          <p:cNvSpPr/>
          <p:nvPr/>
        </p:nvSpPr>
        <p:spPr>
          <a:xfrm>
            <a:off x="914400" y="361950"/>
            <a:ext cx="5105400" cy="492443"/>
          </a:xfrm>
          <a:prstGeom prst="rect">
            <a:avLst/>
          </a:prstGeom>
        </p:spPr>
        <p:txBody>
          <a:bodyPr wrap="square">
            <a:spAutoFit/>
          </a:bodyPr>
          <a:lstStyle/>
          <a:p>
            <a:r>
              <a:rPr lang="en-US" sz="2600" b="1" dirty="0"/>
              <a:t>Internet of Things - IOT</a:t>
            </a:r>
          </a:p>
        </p:txBody>
      </p:sp>
      <p:sp>
        <p:nvSpPr>
          <p:cNvPr id="6" name="Rectangle 5"/>
          <p:cNvSpPr/>
          <p:nvPr/>
        </p:nvSpPr>
        <p:spPr>
          <a:xfrm>
            <a:off x="990600" y="1200150"/>
            <a:ext cx="5867400" cy="2800767"/>
          </a:xfrm>
          <a:prstGeom prst="rect">
            <a:avLst/>
          </a:prstGeom>
        </p:spPr>
        <p:txBody>
          <a:bodyPr wrap="square">
            <a:spAutoFit/>
          </a:bodyPr>
          <a:lstStyle/>
          <a:p>
            <a:r>
              <a:rPr lang="en-US" sz="1600" dirty="0"/>
              <a:t>The </a:t>
            </a:r>
            <a:r>
              <a:rPr lang="en-US" sz="1600" b="1" dirty="0"/>
              <a:t>Internet of Things (</a:t>
            </a:r>
            <a:r>
              <a:rPr lang="en-US" sz="1600" b="1" dirty="0" err="1"/>
              <a:t>IoT</a:t>
            </a:r>
            <a:r>
              <a:rPr lang="en-US" sz="1600" b="1" dirty="0"/>
              <a:t>)</a:t>
            </a:r>
            <a:r>
              <a:rPr lang="en-US" sz="1600" dirty="0"/>
              <a:t> refers to the network of physical objects or "things" embedded with sensors, software, and other technologies to connect and exchange data with other devices and systems over the internet. These objects range from everyday household items to sophisticated industrial tools.</a:t>
            </a:r>
          </a:p>
          <a:p>
            <a:endParaRPr lang="en-US" sz="1600" dirty="0"/>
          </a:p>
          <a:p>
            <a:r>
              <a:rPr lang="en-US" sz="1600" b="1" dirty="0"/>
              <a:t>Key Components of </a:t>
            </a:r>
            <a:r>
              <a:rPr lang="en-US" sz="1600" b="1" dirty="0" err="1"/>
              <a:t>IoT</a:t>
            </a:r>
            <a:endParaRPr lang="en-US" sz="1600" dirty="0"/>
          </a:p>
          <a:p>
            <a:r>
              <a:rPr lang="en-US" sz="1600" b="1" dirty="0"/>
              <a:t>Devices</a:t>
            </a:r>
            <a:r>
              <a:rPr lang="en-US" sz="1600" dirty="0"/>
              <a:t>:</a:t>
            </a:r>
          </a:p>
          <a:p>
            <a:endParaRPr lang="en-US" sz="1600" dirty="0"/>
          </a:p>
          <a:p>
            <a:r>
              <a:rPr lang="en-US" sz="1600" b="1" dirty="0"/>
              <a:t>Sensors and Actuators</a:t>
            </a:r>
            <a:r>
              <a:rPr lang="en-US" sz="1600" dirty="0"/>
              <a:t>: Collect data from the environment and perform actions.</a:t>
            </a:r>
          </a:p>
        </p:txBody>
      </p:sp>
      <p:pic>
        <p:nvPicPr>
          <p:cNvPr id="7170" name="Picture 2" descr="https://cdn.gamma.app/777chra0vkaf6cy/3c98544501864576a02675303231dddd/original/five-components-data-processing-147420154.jpg"/>
          <p:cNvPicPr>
            <a:picLocks noChangeAspect="1" noChangeArrowheads="1"/>
          </p:cNvPicPr>
          <p:nvPr/>
        </p:nvPicPr>
        <p:blipFill>
          <a:blip r:embed="rId3" cstate="print"/>
          <a:srcRect/>
          <a:stretch>
            <a:fillRect/>
          </a:stretch>
        </p:blipFill>
        <p:spPr bwMode="auto">
          <a:xfrm>
            <a:off x="6324600" y="2399871"/>
            <a:ext cx="2819400" cy="2743629"/>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Content Placeholder 5"/>
          <p:cNvSpPr>
            <a:spLocks noGrp="1"/>
          </p:cNvSpPr>
          <p:nvPr>
            <p:ph idx="1"/>
          </p:nvPr>
        </p:nvSpPr>
        <p:spPr>
          <a:xfrm>
            <a:off x="381000" y="209550"/>
            <a:ext cx="8229600" cy="609600"/>
          </a:xfrm>
        </p:spPr>
        <p:txBody>
          <a:bodyPr/>
          <a:lstStyle/>
          <a:p>
            <a:pPr algn="ctr">
              <a:buNone/>
            </a:pPr>
            <a:r>
              <a:rPr lang="en-US" b="1" dirty="0"/>
              <a:t>Connectivity</a:t>
            </a:r>
          </a:p>
        </p:txBody>
      </p:sp>
      <p:pic>
        <p:nvPicPr>
          <p:cNvPr id="1026" name="Picture 2" descr="C:\Pankaj\Client Profiles\Reet Technologies\Images\Career.jpg"/>
          <p:cNvPicPr>
            <a:picLocks noChangeAspect="1" noChangeArrowheads="1"/>
          </p:cNvPicPr>
          <p:nvPr/>
        </p:nvPicPr>
        <p:blipFill>
          <a:blip r:embed="rId3"/>
          <a:srcRect/>
          <a:stretch>
            <a:fillRect/>
          </a:stretch>
        </p:blipFill>
        <p:spPr bwMode="auto">
          <a:xfrm>
            <a:off x="6248400" y="1200150"/>
            <a:ext cx="2895600" cy="2914650"/>
          </a:xfrm>
          <a:prstGeom prst="rect">
            <a:avLst/>
          </a:prstGeom>
          <a:noFill/>
        </p:spPr>
      </p:pic>
      <p:sp>
        <p:nvSpPr>
          <p:cNvPr id="5" name="Content Placeholder 2"/>
          <p:cNvSpPr txBox="1">
            <a:spLocks/>
          </p:cNvSpPr>
          <p:nvPr/>
        </p:nvSpPr>
        <p:spPr>
          <a:xfrm>
            <a:off x="457200" y="895350"/>
            <a:ext cx="5791200" cy="3394472"/>
          </a:xfrm>
          <a:prstGeom prst="rect">
            <a:avLst/>
          </a:prstGeom>
        </p:spPr>
        <p:txBody>
          <a:bodyPr vert="horz" lIns="91440" tIns="45720" rIns="91440" bIns="45720" rtlCol="0">
            <a:noAutofit/>
          </a:bodyPr>
          <a:lstStyle/>
          <a:p>
            <a:r>
              <a:rPr lang="en-US" sz="1600" b="1" dirty="0"/>
              <a:t>Networks and Protocols</a:t>
            </a:r>
            <a:r>
              <a:rPr lang="en-US" sz="1600" dirty="0"/>
              <a:t>: Enable devices to communicate with each other and with central systems.</a:t>
            </a:r>
          </a:p>
          <a:p>
            <a:r>
              <a:rPr lang="en-US" sz="1600" dirty="0"/>
              <a:t>Examples: Wi-Fi, Bluetooth, </a:t>
            </a:r>
            <a:r>
              <a:rPr lang="en-US" sz="1600" dirty="0" err="1"/>
              <a:t>Zigbee</a:t>
            </a:r>
            <a:r>
              <a:rPr lang="en-US" sz="1600" dirty="0"/>
              <a:t>, cellular networks, </a:t>
            </a:r>
            <a:r>
              <a:rPr lang="en-US" sz="1600" dirty="0" err="1"/>
              <a:t>LoRaWAN</a:t>
            </a:r>
            <a:r>
              <a:rPr lang="en-US" sz="1600" dirty="0"/>
              <a:t>.</a:t>
            </a:r>
          </a:p>
          <a:p>
            <a:endParaRPr lang="en-US" sz="1600" dirty="0"/>
          </a:p>
          <a:p>
            <a:r>
              <a:rPr lang="en-US" sz="1600" b="1" dirty="0"/>
              <a:t>Data Processing</a:t>
            </a:r>
            <a:r>
              <a:rPr lang="en-US" sz="1600" dirty="0"/>
              <a:t>:</a:t>
            </a:r>
          </a:p>
          <a:p>
            <a:endParaRPr lang="en-US" sz="1600" dirty="0"/>
          </a:p>
          <a:p>
            <a:r>
              <a:rPr lang="en-US" sz="1600" b="1" dirty="0"/>
              <a:t>Edge Computing</a:t>
            </a:r>
            <a:r>
              <a:rPr lang="en-US" sz="1600" dirty="0"/>
              <a:t>: Processes data locally on the device or nearby to reduce latency.</a:t>
            </a:r>
          </a:p>
          <a:p>
            <a:endParaRPr lang="en-US" sz="1600" dirty="0"/>
          </a:p>
          <a:p>
            <a:r>
              <a:rPr lang="en-US" sz="1600" b="1" dirty="0"/>
              <a:t>Cloud Computing</a:t>
            </a:r>
            <a:r>
              <a:rPr lang="en-US" sz="1600" dirty="0"/>
              <a:t>: Centralized data processing and storage, providing scalability and advanced analytics.</a:t>
            </a:r>
          </a:p>
          <a:p>
            <a:endParaRPr lang="en-IN" sz="1600" dirty="0"/>
          </a:p>
          <a:p>
            <a:r>
              <a:rPr lang="en-US" sz="1600" b="1" dirty="0"/>
              <a:t>Applications and Dashboards</a:t>
            </a:r>
            <a:r>
              <a:rPr lang="en-US" sz="1600" dirty="0"/>
              <a:t>: Allow users to interact with </a:t>
            </a:r>
            <a:r>
              <a:rPr lang="en-US" sz="1600" dirty="0" err="1"/>
              <a:t>IoT</a:t>
            </a:r>
            <a:r>
              <a:rPr lang="en-US" sz="1600" dirty="0"/>
              <a:t> devices and analyze data.</a:t>
            </a:r>
          </a:p>
          <a:p>
            <a:r>
              <a:rPr lang="en-US" sz="1600" dirty="0"/>
              <a:t>Examples: Mobile apps, web interfaces, voice assistants.</a:t>
            </a:r>
          </a:p>
          <a:p>
            <a:endParaRPr lang="en-US" sz="1600" dirty="0"/>
          </a:p>
          <a:p>
            <a:endParaRPr lang="en-US" sz="16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Content Placeholder 5"/>
          <p:cNvSpPr>
            <a:spLocks noGrp="1"/>
          </p:cNvSpPr>
          <p:nvPr>
            <p:ph idx="1"/>
          </p:nvPr>
        </p:nvSpPr>
        <p:spPr>
          <a:xfrm>
            <a:off x="381000" y="209550"/>
            <a:ext cx="8229600" cy="685800"/>
          </a:xfrm>
        </p:spPr>
        <p:txBody>
          <a:bodyPr>
            <a:noAutofit/>
          </a:bodyPr>
          <a:lstStyle/>
          <a:p>
            <a:pPr algn="ctr">
              <a:buNone/>
            </a:pPr>
            <a:r>
              <a:rPr lang="en-US" b="1" dirty="0"/>
              <a:t>Benefits &amp; Challenges of IOT</a:t>
            </a:r>
          </a:p>
        </p:txBody>
      </p:sp>
      <p:sp>
        <p:nvSpPr>
          <p:cNvPr id="8" name="Rectangle 7"/>
          <p:cNvSpPr/>
          <p:nvPr/>
        </p:nvSpPr>
        <p:spPr>
          <a:xfrm>
            <a:off x="914400" y="971550"/>
            <a:ext cx="2819400" cy="3416320"/>
          </a:xfrm>
          <a:prstGeom prst="rect">
            <a:avLst/>
          </a:prstGeom>
        </p:spPr>
        <p:txBody>
          <a:bodyPr wrap="square">
            <a:spAutoFit/>
          </a:bodyPr>
          <a:lstStyle/>
          <a:p>
            <a:pPr>
              <a:lnSpc>
                <a:spcPct val="150000"/>
              </a:lnSpc>
            </a:pPr>
            <a:r>
              <a:rPr lang="en-US" sz="1600" b="1" dirty="0"/>
              <a:t>Benefits of </a:t>
            </a:r>
            <a:r>
              <a:rPr lang="en-US" sz="1600" b="1" dirty="0" err="1"/>
              <a:t>IoT</a:t>
            </a:r>
            <a:endParaRPr lang="en-US" sz="1600" b="1" dirty="0"/>
          </a:p>
          <a:p>
            <a:pPr>
              <a:lnSpc>
                <a:spcPct val="150000"/>
              </a:lnSpc>
            </a:pPr>
            <a:endParaRPr lang="en-US" sz="1600" b="1" dirty="0"/>
          </a:p>
          <a:p>
            <a:pPr>
              <a:lnSpc>
                <a:spcPct val="150000"/>
              </a:lnSpc>
              <a:buFont typeface="Arial" pitchFamily="34" charset="0"/>
              <a:buChar char="•"/>
            </a:pPr>
            <a:r>
              <a:rPr lang="en-US" sz="1600" b="1" dirty="0"/>
              <a:t>Efficiency and Productivity</a:t>
            </a:r>
          </a:p>
          <a:p>
            <a:pPr>
              <a:lnSpc>
                <a:spcPct val="150000"/>
              </a:lnSpc>
              <a:buFont typeface="Arial" pitchFamily="34" charset="0"/>
              <a:buChar char="•"/>
            </a:pPr>
            <a:r>
              <a:rPr lang="en-US" sz="1600" b="1" dirty="0"/>
              <a:t>Cost Savings</a:t>
            </a:r>
          </a:p>
          <a:p>
            <a:pPr>
              <a:lnSpc>
                <a:spcPct val="150000"/>
              </a:lnSpc>
              <a:buFont typeface="Arial" pitchFamily="34" charset="0"/>
              <a:buChar char="•"/>
            </a:pPr>
            <a:r>
              <a:rPr lang="en-US" sz="1600" b="1" dirty="0"/>
              <a:t>Improved Decision Making</a:t>
            </a:r>
          </a:p>
          <a:p>
            <a:pPr>
              <a:lnSpc>
                <a:spcPct val="150000"/>
              </a:lnSpc>
              <a:buFont typeface="Arial" pitchFamily="34" charset="0"/>
              <a:buChar char="•"/>
            </a:pPr>
            <a:r>
              <a:rPr lang="en-US" sz="1600" b="1" dirty="0"/>
              <a:t>Enhanced Customer Experience</a:t>
            </a:r>
          </a:p>
          <a:p>
            <a:pPr>
              <a:lnSpc>
                <a:spcPct val="150000"/>
              </a:lnSpc>
              <a:buFont typeface="Arial" pitchFamily="34" charset="0"/>
              <a:buChar char="•"/>
            </a:pPr>
            <a:r>
              <a:rPr lang="en-US" sz="1600" b="1" dirty="0"/>
              <a:t>Innovation</a:t>
            </a:r>
          </a:p>
          <a:p>
            <a:pPr>
              <a:lnSpc>
                <a:spcPct val="150000"/>
              </a:lnSpc>
              <a:buFont typeface="Arial" pitchFamily="34" charset="0"/>
              <a:buChar char="•"/>
            </a:pPr>
            <a:endParaRPr lang="en-US" sz="1600" b="1" dirty="0"/>
          </a:p>
        </p:txBody>
      </p:sp>
      <p:sp>
        <p:nvSpPr>
          <p:cNvPr id="9" name="Rectangle 8"/>
          <p:cNvSpPr/>
          <p:nvPr/>
        </p:nvSpPr>
        <p:spPr>
          <a:xfrm>
            <a:off x="3733800" y="971550"/>
            <a:ext cx="4572000" cy="3539430"/>
          </a:xfrm>
          <a:prstGeom prst="rect">
            <a:avLst/>
          </a:prstGeom>
        </p:spPr>
        <p:txBody>
          <a:bodyPr>
            <a:spAutoFit/>
          </a:bodyPr>
          <a:lstStyle/>
          <a:p>
            <a:pPr>
              <a:buFont typeface="Arial" pitchFamily="34" charset="0"/>
              <a:buChar char="•"/>
            </a:pPr>
            <a:r>
              <a:rPr lang="en-US" sz="1600" dirty="0"/>
              <a:t>Automates routine tasks and optimizes resource usage, leading to increased efficiency and productivity. </a:t>
            </a:r>
          </a:p>
          <a:p>
            <a:pPr>
              <a:buFont typeface="Arial" pitchFamily="34" charset="0"/>
              <a:buChar char="•"/>
            </a:pPr>
            <a:endParaRPr lang="en-US" sz="1600" dirty="0"/>
          </a:p>
          <a:p>
            <a:pPr>
              <a:buFont typeface="Arial" pitchFamily="34" charset="0"/>
              <a:buChar char="•"/>
            </a:pPr>
            <a:r>
              <a:rPr lang="en-US" sz="1600" dirty="0"/>
              <a:t>Reduces operational costs through predictive maintenance and efficient resource management.</a:t>
            </a:r>
          </a:p>
          <a:p>
            <a:r>
              <a:rPr lang="en-US" sz="1600" dirty="0"/>
              <a:t> </a:t>
            </a:r>
          </a:p>
          <a:p>
            <a:pPr>
              <a:buFont typeface="Arial" pitchFamily="34" charset="0"/>
              <a:buChar char="•"/>
            </a:pPr>
            <a:r>
              <a:rPr lang="en-US" sz="1600" dirty="0"/>
              <a:t>Provides real-time data and analytics for better decision-making and strategic planning. Offers personalized and responsive services to improve customer satisfaction and engagement. </a:t>
            </a:r>
          </a:p>
          <a:p>
            <a:pPr>
              <a:buFont typeface="Arial" pitchFamily="34" charset="0"/>
              <a:buChar char="•"/>
            </a:pPr>
            <a:endParaRPr lang="en-US" sz="1600" dirty="0"/>
          </a:p>
          <a:p>
            <a:pPr>
              <a:buFont typeface="Arial" pitchFamily="34" charset="0"/>
              <a:buChar char="•"/>
            </a:pPr>
            <a:r>
              <a:rPr lang="en-US" sz="1600" dirty="0"/>
              <a:t>Enables the development of new business models and innovative solutions across various industries.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Content Placeholder 5"/>
          <p:cNvSpPr>
            <a:spLocks noGrp="1"/>
          </p:cNvSpPr>
          <p:nvPr>
            <p:ph idx="1"/>
          </p:nvPr>
        </p:nvSpPr>
        <p:spPr>
          <a:xfrm>
            <a:off x="1981200" y="209550"/>
            <a:ext cx="5181600" cy="609600"/>
          </a:xfrm>
        </p:spPr>
        <p:txBody>
          <a:bodyPr>
            <a:normAutofit/>
          </a:bodyPr>
          <a:lstStyle/>
          <a:p>
            <a:pPr algn="ctr">
              <a:buNone/>
            </a:pPr>
            <a:r>
              <a:rPr lang="en-US" b="1" dirty="0"/>
              <a:t>Challenges in IOT</a:t>
            </a:r>
          </a:p>
        </p:txBody>
      </p:sp>
      <p:sp>
        <p:nvSpPr>
          <p:cNvPr id="7" name="Rectangle 6"/>
          <p:cNvSpPr/>
          <p:nvPr/>
        </p:nvSpPr>
        <p:spPr>
          <a:xfrm>
            <a:off x="762000" y="971550"/>
            <a:ext cx="2895600" cy="2585323"/>
          </a:xfrm>
          <a:prstGeom prst="rect">
            <a:avLst/>
          </a:prstGeom>
        </p:spPr>
        <p:txBody>
          <a:bodyPr wrap="square">
            <a:spAutoFit/>
          </a:bodyPr>
          <a:lstStyle/>
          <a:p>
            <a:pPr>
              <a:lnSpc>
                <a:spcPct val="150000"/>
              </a:lnSpc>
            </a:pPr>
            <a:r>
              <a:rPr lang="en-US" b="1" dirty="0"/>
              <a:t>Challenges of </a:t>
            </a:r>
            <a:r>
              <a:rPr lang="en-US" b="1" dirty="0" err="1"/>
              <a:t>IoT</a:t>
            </a:r>
            <a:endParaRPr lang="en-US" b="1" dirty="0"/>
          </a:p>
          <a:p>
            <a:pPr>
              <a:lnSpc>
                <a:spcPct val="150000"/>
              </a:lnSpc>
              <a:buFont typeface="Arial" pitchFamily="34" charset="0"/>
              <a:buChar char="•"/>
            </a:pPr>
            <a:r>
              <a:rPr lang="en-US" dirty="0"/>
              <a:t>Security and Privacy</a:t>
            </a:r>
          </a:p>
          <a:p>
            <a:pPr>
              <a:lnSpc>
                <a:spcPct val="150000"/>
              </a:lnSpc>
              <a:buFont typeface="Arial" pitchFamily="34" charset="0"/>
              <a:buChar char="•"/>
            </a:pPr>
            <a:r>
              <a:rPr lang="en-US" dirty="0"/>
              <a:t>Interoperability</a:t>
            </a:r>
          </a:p>
          <a:p>
            <a:pPr>
              <a:lnSpc>
                <a:spcPct val="150000"/>
              </a:lnSpc>
              <a:buFont typeface="Arial" pitchFamily="34" charset="0"/>
              <a:buChar char="•"/>
            </a:pPr>
            <a:r>
              <a:rPr lang="en-US" dirty="0"/>
              <a:t>Data Management</a:t>
            </a:r>
          </a:p>
          <a:p>
            <a:pPr>
              <a:lnSpc>
                <a:spcPct val="150000"/>
              </a:lnSpc>
              <a:buFont typeface="Arial" pitchFamily="34" charset="0"/>
              <a:buChar char="•"/>
            </a:pPr>
            <a:r>
              <a:rPr lang="en-US" dirty="0"/>
              <a:t>Scalability</a:t>
            </a:r>
          </a:p>
          <a:p>
            <a:pPr>
              <a:lnSpc>
                <a:spcPct val="150000"/>
              </a:lnSpc>
              <a:buFont typeface="Arial" pitchFamily="34" charset="0"/>
              <a:buChar char="•"/>
            </a:pPr>
            <a:r>
              <a:rPr lang="en-US" dirty="0"/>
              <a:t>Regulation and Standards</a:t>
            </a:r>
          </a:p>
        </p:txBody>
      </p:sp>
      <p:sp>
        <p:nvSpPr>
          <p:cNvPr id="8" name="Rectangle 7"/>
          <p:cNvSpPr/>
          <p:nvPr/>
        </p:nvSpPr>
        <p:spPr>
          <a:xfrm>
            <a:off x="3810000" y="1047750"/>
            <a:ext cx="4572000" cy="3693319"/>
          </a:xfrm>
          <a:prstGeom prst="rect">
            <a:avLst/>
          </a:prstGeom>
        </p:spPr>
        <p:txBody>
          <a:bodyPr>
            <a:spAutoFit/>
          </a:bodyPr>
          <a:lstStyle/>
          <a:p>
            <a:pPr>
              <a:buFont typeface="Arial" pitchFamily="34" charset="0"/>
              <a:buChar char="•"/>
            </a:pPr>
            <a:r>
              <a:rPr lang="en-US" dirty="0"/>
              <a:t>Protecting data and devices from cyber threats and ensuring user privacy is a major concern. Ensuring that different </a:t>
            </a:r>
            <a:r>
              <a:rPr lang="en-US" dirty="0" err="1"/>
              <a:t>IoT</a:t>
            </a:r>
            <a:r>
              <a:rPr lang="en-US" dirty="0"/>
              <a:t> devices and systems can work together seamlessly. </a:t>
            </a:r>
          </a:p>
          <a:p>
            <a:pPr>
              <a:buFont typeface="Arial" pitchFamily="34" charset="0"/>
              <a:buChar char="•"/>
            </a:pPr>
            <a:endParaRPr lang="en-US" dirty="0"/>
          </a:p>
          <a:p>
            <a:pPr>
              <a:buFont typeface="Arial" pitchFamily="34" charset="0"/>
              <a:buChar char="•"/>
            </a:pPr>
            <a:r>
              <a:rPr lang="en-US" dirty="0"/>
              <a:t>Handling the vast amounts of data generated by </a:t>
            </a:r>
            <a:r>
              <a:rPr lang="en-US" dirty="0" err="1"/>
              <a:t>IoT</a:t>
            </a:r>
            <a:r>
              <a:rPr lang="en-US" dirty="0"/>
              <a:t> devices and extracting meaningful insights. </a:t>
            </a:r>
          </a:p>
          <a:p>
            <a:pPr>
              <a:buFont typeface="Arial" pitchFamily="34" charset="0"/>
              <a:buChar char="•"/>
            </a:pPr>
            <a:endParaRPr lang="en-US" dirty="0"/>
          </a:p>
          <a:p>
            <a:pPr>
              <a:buFont typeface="Arial" pitchFamily="34" charset="0"/>
              <a:buChar char="•"/>
            </a:pPr>
            <a:r>
              <a:rPr lang="en-US" dirty="0"/>
              <a:t>Managing and scaling </a:t>
            </a:r>
            <a:r>
              <a:rPr lang="en-US" dirty="0" err="1"/>
              <a:t>IoT</a:t>
            </a:r>
            <a:r>
              <a:rPr lang="en-US" dirty="0"/>
              <a:t> solutions as the number of connected devices grows. Navigating the regulatory landscape and adhering to industry standards.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Content Placeholder 4"/>
          <p:cNvSpPr>
            <a:spLocks noGrp="1"/>
          </p:cNvSpPr>
          <p:nvPr>
            <p:ph idx="1"/>
          </p:nvPr>
        </p:nvSpPr>
        <p:spPr>
          <a:xfrm>
            <a:off x="381000" y="2495550"/>
            <a:ext cx="3962400" cy="2362200"/>
          </a:xfrm>
        </p:spPr>
        <p:txBody>
          <a:bodyPr>
            <a:noAutofit/>
          </a:bodyPr>
          <a:lstStyle/>
          <a:p>
            <a:pPr>
              <a:buNone/>
            </a:pPr>
            <a:r>
              <a:rPr lang="en-US" sz="1600" b="1" dirty="0"/>
              <a:t>Smart Homes</a:t>
            </a:r>
          </a:p>
          <a:p>
            <a:r>
              <a:rPr lang="en-US" sz="1600" dirty="0"/>
              <a:t>Automating and controlling home appliances and systems for convenience, security, and energy efficiency.</a:t>
            </a:r>
          </a:p>
          <a:p>
            <a:r>
              <a:rPr lang="en-US" sz="1600" dirty="0"/>
              <a:t>Smart thermostats</a:t>
            </a:r>
          </a:p>
          <a:p>
            <a:r>
              <a:rPr lang="en-US" sz="1600" dirty="0"/>
              <a:t>Smart lights</a:t>
            </a:r>
          </a:p>
          <a:p>
            <a:r>
              <a:rPr lang="en-US" sz="1600" dirty="0"/>
              <a:t>Security cameras</a:t>
            </a:r>
          </a:p>
          <a:p>
            <a:r>
              <a:rPr lang="en-US" sz="1600" dirty="0"/>
              <a:t>Smart locks</a:t>
            </a:r>
          </a:p>
          <a:p>
            <a:endParaRPr lang="en-US" sz="1600" dirty="0"/>
          </a:p>
          <a:p>
            <a:endParaRPr lang="en-US" sz="1600" dirty="0"/>
          </a:p>
        </p:txBody>
      </p:sp>
      <p:sp>
        <p:nvSpPr>
          <p:cNvPr id="7" name="Rectangle 6"/>
          <p:cNvSpPr/>
          <p:nvPr/>
        </p:nvSpPr>
        <p:spPr>
          <a:xfrm>
            <a:off x="4495800" y="773490"/>
            <a:ext cx="4267200" cy="1569660"/>
          </a:xfrm>
          <a:prstGeom prst="rect">
            <a:avLst/>
          </a:prstGeom>
        </p:spPr>
        <p:txBody>
          <a:bodyPr wrap="square">
            <a:spAutoFit/>
          </a:bodyPr>
          <a:lstStyle/>
          <a:p>
            <a:r>
              <a:rPr lang="en-US" sz="1600" b="1" dirty="0"/>
              <a:t>Transportation and Logistics</a:t>
            </a:r>
          </a:p>
          <a:p>
            <a:pPr>
              <a:buFont typeface="Arial" pitchFamily="34" charset="0"/>
              <a:buChar char="•"/>
            </a:pPr>
            <a:r>
              <a:rPr lang="en-US" sz="1600" dirty="0"/>
              <a:t>Optimizing transportation systems and supply chains through data-driven insights.</a:t>
            </a:r>
          </a:p>
          <a:p>
            <a:pPr>
              <a:buFont typeface="Arial" pitchFamily="34" charset="0"/>
              <a:buChar char="•"/>
            </a:pPr>
            <a:r>
              <a:rPr lang="en-US" sz="1600" dirty="0"/>
              <a:t>Fleet management</a:t>
            </a:r>
          </a:p>
          <a:p>
            <a:pPr>
              <a:buFont typeface="Arial" pitchFamily="34" charset="0"/>
              <a:buChar char="•"/>
            </a:pPr>
            <a:r>
              <a:rPr lang="en-US" sz="1600" dirty="0"/>
              <a:t>Real-time tracking of goods</a:t>
            </a:r>
          </a:p>
          <a:p>
            <a:pPr>
              <a:buFont typeface="Arial" pitchFamily="34" charset="0"/>
              <a:buChar char="•"/>
            </a:pPr>
            <a:r>
              <a:rPr lang="en-US" sz="1600" dirty="0"/>
              <a:t>Smart traffic management</a:t>
            </a:r>
          </a:p>
        </p:txBody>
      </p:sp>
      <p:sp>
        <p:nvSpPr>
          <p:cNvPr id="8" name="Rectangle 7"/>
          <p:cNvSpPr/>
          <p:nvPr/>
        </p:nvSpPr>
        <p:spPr>
          <a:xfrm>
            <a:off x="4572000" y="2495550"/>
            <a:ext cx="4572000" cy="1815882"/>
          </a:xfrm>
          <a:prstGeom prst="rect">
            <a:avLst/>
          </a:prstGeom>
        </p:spPr>
        <p:txBody>
          <a:bodyPr>
            <a:spAutoFit/>
          </a:bodyPr>
          <a:lstStyle/>
          <a:p>
            <a:r>
              <a:rPr lang="en-US" sz="1600" b="1" dirty="0"/>
              <a:t>Industrial </a:t>
            </a:r>
            <a:r>
              <a:rPr lang="en-US" sz="1600" b="1" dirty="0" err="1"/>
              <a:t>IoT</a:t>
            </a:r>
            <a:r>
              <a:rPr lang="en-US" sz="1600" b="1" dirty="0"/>
              <a:t> (</a:t>
            </a:r>
            <a:r>
              <a:rPr lang="en-US" sz="1600" b="1" dirty="0" err="1"/>
              <a:t>IIoT</a:t>
            </a:r>
            <a:r>
              <a:rPr lang="en-US" sz="1600" b="1" dirty="0"/>
              <a:t>)</a:t>
            </a:r>
          </a:p>
          <a:p>
            <a:pPr>
              <a:buFont typeface="Arial" pitchFamily="34" charset="0"/>
              <a:buChar char="•"/>
            </a:pPr>
            <a:r>
              <a:rPr lang="en-US" sz="1600" dirty="0"/>
              <a:t>Enhancing manufacturing, supply chain, and industrial processes through automation and data analytics.</a:t>
            </a:r>
          </a:p>
          <a:p>
            <a:pPr>
              <a:buFont typeface="Arial" pitchFamily="34" charset="0"/>
              <a:buChar char="•"/>
            </a:pPr>
            <a:r>
              <a:rPr lang="en-US" sz="1600" dirty="0"/>
              <a:t>Predictive maintenance</a:t>
            </a:r>
          </a:p>
          <a:p>
            <a:pPr>
              <a:buFont typeface="Arial" pitchFamily="34" charset="0"/>
              <a:buChar char="•"/>
            </a:pPr>
            <a:r>
              <a:rPr lang="en-US" sz="1600" dirty="0"/>
              <a:t>Asset tracking</a:t>
            </a:r>
          </a:p>
          <a:p>
            <a:pPr>
              <a:buFont typeface="Arial" pitchFamily="34" charset="0"/>
              <a:buChar char="•"/>
            </a:pPr>
            <a:r>
              <a:rPr lang="en-US" sz="1600" dirty="0"/>
              <a:t>Smart factories</a:t>
            </a:r>
          </a:p>
        </p:txBody>
      </p:sp>
      <p:sp>
        <p:nvSpPr>
          <p:cNvPr id="9" name="Content Placeholder 5"/>
          <p:cNvSpPr txBox="1">
            <a:spLocks/>
          </p:cNvSpPr>
          <p:nvPr/>
        </p:nvSpPr>
        <p:spPr>
          <a:xfrm>
            <a:off x="2819400" y="133350"/>
            <a:ext cx="30480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Examples of </a:t>
            </a:r>
            <a:r>
              <a:rPr kumimoji="0" lang="en-US" sz="3200" b="1" i="0" u="none" strike="noStrike" kern="1200" cap="none" spc="0" normalizeH="0" baseline="0" noProof="0" dirty="0">
                <a:ln>
                  <a:noFill/>
                </a:ln>
                <a:solidFill>
                  <a:schemeClr val="tx1"/>
                </a:solidFill>
                <a:effectLst/>
                <a:uLnTx/>
                <a:uFillTx/>
                <a:latin typeface="+mn-lt"/>
                <a:ea typeface="+mn-ea"/>
                <a:cs typeface="+mn-cs"/>
              </a:rPr>
              <a:t> IOT</a:t>
            </a:r>
          </a:p>
        </p:txBody>
      </p:sp>
      <p:pic>
        <p:nvPicPr>
          <p:cNvPr id="23553" name="Picture 1" descr="C:\Pankaj\Reet Technologies\Files,Artwork &amp; Mktg\2-Copy-1024x539.png"/>
          <p:cNvPicPr>
            <a:picLocks noChangeAspect="1" noChangeArrowheads="1"/>
          </p:cNvPicPr>
          <p:nvPr/>
        </p:nvPicPr>
        <p:blipFill>
          <a:blip r:embed="rId3" cstate="print"/>
          <a:srcRect/>
          <a:stretch>
            <a:fillRect/>
          </a:stretch>
        </p:blipFill>
        <p:spPr bwMode="auto">
          <a:xfrm>
            <a:off x="457200" y="819150"/>
            <a:ext cx="3124199" cy="16444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p:txBody>
          <a:bodyPr/>
          <a:lstStyle/>
          <a:p>
            <a:r>
              <a:rPr lang="en-IN" b="1" dirty="0"/>
              <a:t>Departments in IT</a:t>
            </a:r>
            <a:endParaRPr lang="en-US" b="1" dirty="0"/>
          </a:p>
        </p:txBody>
      </p:sp>
      <p:graphicFrame>
        <p:nvGraphicFramePr>
          <p:cNvPr id="5" name="Content Placeholder 4"/>
          <p:cNvGraphicFramePr>
            <a:graphicFrameLocks noGrp="1"/>
          </p:cNvGraphicFramePr>
          <p:nvPr>
            <p:ph idx="1"/>
          </p:nvPr>
        </p:nvGraphicFramePr>
        <p:xfrm>
          <a:off x="1524000" y="1123950"/>
          <a:ext cx="6096000" cy="361696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IN" sz="1400" b="1" dirty="0"/>
                        <a:t>Micro </a:t>
                      </a:r>
                      <a:endParaRPr lang="en-US" sz="1400" b="1" dirty="0"/>
                    </a:p>
                  </a:txBody>
                  <a:tcPr/>
                </a:tc>
                <a:tc>
                  <a:txBody>
                    <a:bodyPr/>
                    <a:lstStyle/>
                    <a:p>
                      <a:pPr algn="ctr"/>
                      <a:r>
                        <a:rPr lang="en-IN" sz="1400" b="1" dirty="0"/>
                        <a:t>Small</a:t>
                      </a:r>
                      <a:endParaRPr lang="en-US" sz="1400" b="1" dirty="0"/>
                    </a:p>
                  </a:txBody>
                  <a:tcPr/>
                </a:tc>
                <a:tc>
                  <a:txBody>
                    <a:bodyPr/>
                    <a:lstStyle/>
                    <a:p>
                      <a:pPr algn="ctr"/>
                      <a:r>
                        <a:rPr lang="en-IN" sz="1400" b="1" dirty="0"/>
                        <a:t>Mid Level</a:t>
                      </a:r>
                      <a:endParaRPr lang="en-US" sz="1400" b="1" dirty="0"/>
                    </a:p>
                  </a:txBody>
                  <a:tcPr/>
                </a:tc>
                <a:tc>
                  <a:txBody>
                    <a:bodyPr/>
                    <a:lstStyle/>
                    <a:p>
                      <a:pPr algn="ctr"/>
                      <a:r>
                        <a:rPr lang="en-IN" sz="1400" b="1" dirty="0"/>
                        <a:t>Higher Management</a:t>
                      </a:r>
                      <a:endParaRPr lang="en-US" sz="1400" b="1" dirty="0"/>
                    </a:p>
                  </a:txBody>
                  <a:tcPr/>
                </a:tc>
                <a:extLst>
                  <a:ext uri="{0D108BD9-81ED-4DB2-BD59-A6C34878D82A}">
                    <a16:rowId xmlns:a16="http://schemas.microsoft.com/office/drawing/2014/main" val="10000"/>
                  </a:ext>
                </a:extLst>
              </a:tr>
              <a:tr h="370840">
                <a:tc>
                  <a:txBody>
                    <a:bodyPr/>
                    <a:lstStyle/>
                    <a:p>
                      <a:r>
                        <a:rPr lang="en-IN" sz="1400" dirty="0"/>
                        <a:t>Tech Support</a:t>
                      </a:r>
                      <a:endParaRPr lang="en-US" sz="1400" dirty="0"/>
                    </a:p>
                  </a:txBody>
                  <a:tcPr/>
                </a:tc>
                <a:tc>
                  <a:txBody>
                    <a:bodyPr/>
                    <a:lstStyle/>
                    <a:p>
                      <a:r>
                        <a:rPr lang="en-IN" sz="1400" dirty="0"/>
                        <a:t>Legal</a:t>
                      </a:r>
                      <a:endParaRPr lang="en-US" sz="1400" dirty="0"/>
                    </a:p>
                  </a:txBody>
                  <a:tcPr/>
                </a:tc>
                <a:tc>
                  <a:txBody>
                    <a:bodyPr/>
                    <a:lstStyle/>
                    <a:p>
                      <a:r>
                        <a:rPr lang="en-IN" sz="1400" dirty="0"/>
                        <a:t>Sales &amp; Marketing</a:t>
                      </a:r>
                      <a:endParaRPr lang="en-US" sz="1400" dirty="0"/>
                    </a:p>
                  </a:txBody>
                  <a:tcPr/>
                </a:tc>
                <a:tc>
                  <a:txBody>
                    <a:bodyPr/>
                    <a:lstStyle/>
                    <a:p>
                      <a:r>
                        <a:rPr lang="en-IN" sz="1400" dirty="0"/>
                        <a:t>VP Sales</a:t>
                      </a:r>
                      <a:endParaRPr lang="en-US" sz="1400" dirty="0"/>
                    </a:p>
                  </a:txBody>
                  <a:tcPr/>
                </a:tc>
                <a:extLst>
                  <a:ext uri="{0D108BD9-81ED-4DB2-BD59-A6C34878D82A}">
                    <a16:rowId xmlns:a16="http://schemas.microsoft.com/office/drawing/2014/main" val="10001"/>
                  </a:ext>
                </a:extLst>
              </a:tr>
              <a:tr h="370840">
                <a:tc>
                  <a:txBody>
                    <a:bodyPr/>
                    <a:lstStyle/>
                    <a:p>
                      <a:r>
                        <a:rPr lang="en-IN" sz="1400" dirty="0"/>
                        <a:t>Operations</a:t>
                      </a:r>
                      <a:endParaRPr lang="en-US" sz="1400" dirty="0"/>
                    </a:p>
                  </a:txBody>
                  <a:tcPr/>
                </a:tc>
                <a:tc>
                  <a:txBody>
                    <a:bodyPr/>
                    <a:lstStyle/>
                    <a:p>
                      <a:r>
                        <a:rPr lang="en-IN" sz="1400" dirty="0"/>
                        <a:t>Customer Relation</a:t>
                      </a:r>
                      <a:endParaRPr lang="en-US" sz="1400" dirty="0"/>
                    </a:p>
                  </a:txBody>
                  <a:tcPr/>
                </a:tc>
                <a:tc>
                  <a:txBody>
                    <a:bodyPr/>
                    <a:lstStyle/>
                    <a:p>
                      <a:r>
                        <a:rPr lang="en-IN" sz="1400" dirty="0"/>
                        <a:t>R &amp; D</a:t>
                      </a:r>
                      <a:endParaRPr lang="en-US" sz="1400" dirty="0"/>
                    </a:p>
                  </a:txBody>
                  <a:tcPr/>
                </a:tc>
                <a:tc>
                  <a:txBody>
                    <a:bodyPr/>
                    <a:lstStyle/>
                    <a:p>
                      <a:r>
                        <a:rPr lang="en-IN" sz="1400" dirty="0"/>
                        <a:t>Director</a:t>
                      </a:r>
                      <a:endParaRPr lang="en-US" sz="1400" dirty="0"/>
                    </a:p>
                  </a:txBody>
                  <a:tcPr/>
                </a:tc>
                <a:extLst>
                  <a:ext uri="{0D108BD9-81ED-4DB2-BD59-A6C34878D82A}">
                    <a16:rowId xmlns:a16="http://schemas.microsoft.com/office/drawing/2014/main" val="10002"/>
                  </a:ext>
                </a:extLst>
              </a:tr>
              <a:tr h="370840">
                <a:tc>
                  <a:txBody>
                    <a:bodyPr/>
                    <a:lstStyle/>
                    <a:p>
                      <a:r>
                        <a:rPr lang="en-IN" sz="1400" dirty="0"/>
                        <a:t>Admin</a:t>
                      </a:r>
                      <a:endParaRPr lang="en-US" sz="1400" dirty="0"/>
                    </a:p>
                  </a:txBody>
                  <a:tcPr/>
                </a:tc>
                <a:tc>
                  <a:txBody>
                    <a:bodyPr/>
                    <a:lstStyle/>
                    <a:p>
                      <a:r>
                        <a:rPr lang="en-IN" sz="1400" dirty="0"/>
                        <a:t>Sales</a:t>
                      </a:r>
                      <a:r>
                        <a:rPr lang="en-IN" sz="1400" baseline="0" dirty="0"/>
                        <a:t> Executive / Inside Sales</a:t>
                      </a:r>
                      <a:endParaRPr lang="en-US" sz="1400" dirty="0"/>
                    </a:p>
                  </a:txBody>
                  <a:tcPr/>
                </a:tc>
                <a:tc>
                  <a:txBody>
                    <a:bodyPr/>
                    <a:lstStyle/>
                    <a:p>
                      <a:r>
                        <a:rPr lang="en-IN" sz="1400" dirty="0"/>
                        <a:t>Finance</a:t>
                      </a:r>
                      <a:r>
                        <a:rPr lang="en-IN" sz="1400" baseline="0" dirty="0"/>
                        <a:t> &amp; Accounting</a:t>
                      </a:r>
                      <a:endParaRPr lang="en-US" sz="1400" dirty="0"/>
                    </a:p>
                  </a:txBody>
                  <a:tcPr/>
                </a:tc>
                <a:tc>
                  <a:txBody>
                    <a:bodyPr/>
                    <a:lstStyle/>
                    <a:p>
                      <a:r>
                        <a:rPr lang="en-IN" sz="1400" dirty="0"/>
                        <a:t>CEO,CFO</a:t>
                      </a:r>
                      <a:endParaRPr lang="en-US" sz="1400" dirty="0"/>
                    </a:p>
                  </a:txBody>
                  <a:tcPr/>
                </a:tc>
                <a:extLst>
                  <a:ext uri="{0D108BD9-81ED-4DB2-BD59-A6C34878D82A}">
                    <a16:rowId xmlns:a16="http://schemas.microsoft.com/office/drawing/2014/main" val="10003"/>
                  </a:ext>
                </a:extLst>
              </a:tr>
              <a:tr h="370840">
                <a:tc>
                  <a:txBody>
                    <a:bodyPr/>
                    <a:lstStyle/>
                    <a:p>
                      <a:r>
                        <a:rPr lang="en-IN" sz="1400" dirty="0"/>
                        <a:t>Pre-Sales</a:t>
                      </a:r>
                      <a:endParaRPr lang="en-US" sz="1400" dirty="0"/>
                    </a:p>
                  </a:txBody>
                  <a:tcPr/>
                </a:tc>
                <a:tc>
                  <a:txBody>
                    <a:bodyPr/>
                    <a:lstStyle/>
                    <a:p>
                      <a:r>
                        <a:rPr lang="en-IN" sz="1400" dirty="0"/>
                        <a:t>Junior Marketing</a:t>
                      </a:r>
                      <a:endParaRPr lang="en-US" sz="1400" dirty="0"/>
                    </a:p>
                  </a:txBody>
                  <a:tcPr/>
                </a:tc>
                <a:tc>
                  <a:txBody>
                    <a:bodyPr/>
                    <a:lstStyle/>
                    <a:p>
                      <a:r>
                        <a:rPr lang="en-IN" sz="1400" b="1" dirty="0"/>
                        <a:t>HR Dept</a:t>
                      </a:r>
                      <a:endParaRPr lang="en-US" sz="1400" b="1" dirty="0"/>
                    </a:p>
                  </a:txBody>
                  <a:tcPr/>
                </a:tc>
                <a:tc>
                  <a:txBody>
                    <a:bodyPr/>
                    <a:lstStyle/>
                    <a:p>
                      <a:r>
                        <a:rPr lang="en-IN" sz="1400" dirty="0"/>
                        <a:t>Stake Holders</a:t>
                      </a:r>
                      <a:endParaRPr lang="en-US" sz="1400" dirty="0"/>
                    </a:p>
                  </a:txBody>
                  <a:tcPr/>
                </a:tc>
                <a:extLst>
                  <a:ext uri="{0D108BD9-81ED-4DB2-BD59-A6C34878D82A}">
                    <a16:rowId xmlns:a16="http://schemas.microsoft.com/office/drawing/2014/main" val="10004"/>
                  </a:ext>
                </a:extLst>
              </a:tr>
              <a:tr h="370840">
                <a:tc>
                  <a:txBody>
                    <a:bodyPr/>
                    <a:lstStyle/>
                    <a:p>
                      <a:endParaRPr lang="en-US" sz="1400" dirty="0"/>
                    </a:p>
                  </a:txBody>
                  <a:tcPr/>
                </a:tc>
                <a:tc>
                  <a:txBody>
                    <a:bodyPr/>
                    <a:lstStyle/>
                    <a:p>
                      <a:r>
                        <a:rPr lang="en-IN" sz="1400" dirty="0"/>
                        <a:t>Business Analysis</a:t>
                      </a:r>
                      <a:endParaRPr lang="en-US" sz="1400" dirty="0"/>
                    </a:p>
                  </a:txBody>
                  <a:tcPr/>
                </a:tc>
                <a:tc>
                  <a:txBody>
                    <a:bodyPr/>
                    <a:lstStyle/>
                    <a:p>
                      <a:r>
                        <a:rPr lang="en-IN" sz="1400" dirty="0"/>
                        <a:t>Business Analysis</a:t>
                      </a:r>
                      <a:endParaRPr lang="en-US" sz="1400" dirty="0"/>
                    </a:p>
                  </a:txBody>
                  <a:tcPr/>
                </a:tc>
                <a:tc>
                  <a:txBody>
                    <a:bodyPr/>
                    <a:lstStyle/>
                    <a:p>
                      <a:r>
                        <a:rPr lang="en-IN" sz="1400" dirty="0"/>
                        <a:t>Partners</a:t>
                      </a:r>
                      <a:endParaRPr lang="en-US" sz="1400" dirty="0"/>
                    </a:p>
                  </a:txBody>
                  <a:tcPr/>
                </a:tc>
                <a:extLst>
                  <a:ext uri="{0D108BD9-81ED-4DB2-BD59-A6C34878D82A}">
                    <a16:rowId xmlns:a16="http://schemas.microsoft.com/office/drawing/2014/main" val="10005"/>
                  </a:ext>
                </a:extLst>
              </a:tr>
              <a:tr h="370840">
                <a:tc>
                  <a:txBody>
                    <a:bodyPr/>
                    <a:lstStyle/>
                    <a:p>
                      <a:endParaRPr lang="en-US" sz="1400" dirty="0"/>
                    </a:p>
                  </a:txBody>
                  <a:tcPr/>
                </a:tc>
                <a:tc>
                  <a:txBody>
                    <a:bodyPr/>
                    <a:lstStyle/>
                    <a:p>
                      <a:r>
                        <a:rPr lang="en-IN" sz="1400" dirty="0"/>
                        <a:t>Junior</a:t>
                      </a:r>
                      <a:r>
                        <a:rPr lang="en-IN" sz="1400" baseline="0" dirty="0"/>
                        <a:t> Project Management ex</a:t>
                      </a:r>
                      <a:endParaRPr lang="en-US" sz="1400" dirty="0"/>
                    </a:p>
                  </a:txBody>
                  <a:tcPr/>
                </a:tc>
                <a:tc>
                  <a:txBody>
                    <a:bodyPr/>
                    <a:lstStyle/>
                    <a:p>
                      <a:r>
                        <a:rPr lang="en-IN" sz="1400" dirty="0"/>
                        <a:t>Project Management</a:t>
                      </a:r>
                      <a:endParaRPr lang="en-US" sz="1400" dirty="0"/>
                    </a:p>
                  </a:txBody>
                  <a:tcPr/>
                </a:tc>
                <a:tc>
                  <a:txBody>
                    <a:bodyPr/>
                    <a:lstStyle/>
                    <a:p>
                      <a:r>
                        <a:rPr lang="en-IN" sz="1400" dirty="0"/>
                        <a:t>Project Managers</a:t>
                      </a:r>
                      <a:endParaRPr lang="en-US" sz="1400" dirty="0"/>
                    </a:p>
                  </a:txBody>
                  <a:tcPr/>
                </a:tc>
                <a:extLst>
                  <a:ext uri="{0D108BD9-81ED-4DB2-BD59-A6C34878D82A}">
                    <a16:rowId xmlns:a16="http://schemas.microsoft.com/office/drawing/2014/main" val="10006"/>
                  </a:ext>
                </a:extLst>
              </a:tr>
              <a:tr h="370840">
                <a:tc>
                  <a:txBody>
                    <a:bodyPr/>
                    <a:lstStyle/>
                    <a:p>
                      <a:endParaRPr lang="en-US" sz="1400" dirty="0"/>
                    </a:p>
                  </a:txBody>
                  <a:tcPr/>
                </a:tc>
                <a:tc>
                  <a:txBody>
                    <a:bodyPr/>
                    <a:lstStyle/>
                    <a:p>
                      <a:r>
                        <a:rPr lang="en-IN" sz="1400" dirty="0" err="1"/>
                        <a:t>Jnr</a:t>
                      </a:r>
                      <a:r>
                        <a:rPr lang="en-IN" sz="1400" baseline="0" dirty="0"/>
                        <a:t> Developers/UIUX</a:t>
                      </a:r>
                      <a:endParaRPr lang="en-US" sz="1400" dirty="0"/>
                    </a:p>
                  </a:txBody>
                  <a:tcPr/>
                </a:tc>
                <a:tc>
                  <a:txBody>
                    <a:bodyPr/>
                    <a:lstStyle/>
                    <a:p>
                      <a:r>
                        <a:rPr lang="en-IN" sz="1600" dirty="0" err="1"/>
                        <a:t>Snr</a:t>
                      </a:r>
                      <a:r>
                        <a:rPr lang="en-IN" sz="1600" dirty="0"/>
                        <a:t> Developers / UIUX</a:t>
                      </a:r>
                      <a:endParaRPr lang="en-US" sz="1600" dirty="0"/>
                    </a:p>
                  </a:txBody>
                  <a:tcPr/>
                </a:tc>
                <a:tc>
                  <a:txBody>
                    <a:bodyPr/>
                    <a:lstStyle/>
                    <a:p>
                      <a:r>
                        <a:rPr lang="en-IN" sz="1400" dirty="0"/>
                        <a:t>Full Stack</a:t>
                      </a:r>
                      <a:endParaRPr lang="en-US" sz="1400"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9" name="Content Placeholder 5"/>
          <p:cNvSpPr txBox="1">
            <a:spLocks/>
          </p:cNvSpPr>
          <p:nvPr/>
        </p:nvSpPr>
        <p:spPr>
          <a:xfrm>
            <a:off x="2286000" y="361950"/>
            <a:ext cx="43434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Domains In IT industry</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9"/>
          <p:cNvSpPr>
            <a:spLocks noGrp="1"/>
          </p:cNvSpPr>
          <p:nvPr>
            <p:ph idx="1"/>
          </p:nvPr>
        </p:nvSpPr>
        <p:spPr>
          <a:xfrm>
            <a:off x="457200" y="1200151"/>
            <a:ext cx="8229600" cy="914399"/>
          </a:xfrm>
        </p:spPr>
        <p:txBody>
          <a:bodyPr>
            <a:normAutofit/>
          </a:bodyPr>
          <a:lstStyle/>
          <a:p>
            <a:r>
              <a:rPr lang="en-US" sz="1600" b="1" dirty="0"/>
              <a:t>Domain are the Sectors of Business</a:t>
            </a:r>
          </a:p>
          <a:p>
            <a:r>
              <a:rPr lang="en-US" sz="1600" dirty="0"/>
              <a:t>Domain are the Sectors of Business where IT services play a vital role for enhancement of Production, business, Process, Operations and More.</a:t>
            </a:r>
          </a:p>
          <a:p>
            <a:endParaRPr lang="en-US" sz="1600" dirty="0"/>
          </a:p>
        </p:txBody>
      </p:sp>
      <p:sp>
        <p:nvSpPr>
          <p:cNvPr id="12" name="Content Placeholder 9"/>
          <p:cNvSpPr txBox="1">
            <a:spLocks/>
          </p:cNvSpPr>
          <p:nvPr/>
        </p:nvSpPr>
        <p:spPr>
          <a:xfrm>
            <a:off x="533400" y="2343150"/>
            <a:ext cx="3200400" cy="2286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t>Manufacturing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Real</a:t>
            </a:r>
            <a:r>
              <a:rPr kumimoji="0" lang="en-IN" sz="1600" b="1" i="0" u="none" strike="noStrike" kern="1200" cap="none" spc="0" normalizeH="0" noProof="0" dirty="0">
                <a:ln>
                  <a:noFill/>
                </a:ln>
                <a:solidFill>
                  <a:schemeClr val="tx1"/>
                </a:solidFill>
                <a:effectLst/>
                <a:uLnTx/>
                <a:uFillTx/>
                <a:latin typeface="+mn-lt"/>
                <a:ea typeface="+mn-ea"/>
                <a:cs typeface="+mn-cs"/>
              </a:rPr>
              <a:t> Estate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baseline="0" dirty="0">
                <a:solidFill>
                  <a:srgbClr val="00B050"/>
                </a:solidFill>
              </a:rPr>
              <a:t>Supply</a:t>
            </a:r>
            <a:r>
              <a:rPr lang="en-IN" sz="1600" b="1" dirty="0">
                <a:solidFill>
                  <a:srgbClr val="00B050"/>
                </a:solidFill>
              </a:rPr>
              <a:t> Chain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1600" b="1" i="0" u="none" strike="noStrike" kern="1200" cap="none" spc="0" normalizeH="0" baseline="0" noProof="0" dirty="0">
                <a:ln>
                  <a:noFill/>
                </a:ln>
                <a:solidFill>
                  <a:srgbClr val="00B050"/>
                </a:solidFill>
                <a:effectLst/>
                <a:uLnTx/>
                <a:uFillTx/>
                <a:latin typeface="+mn-lt"/>
                <a:ea typeface="+mn-ea"/>
                <a:cs typeface="+mn-cs"/>
              </a:rPr>
              <a:t>Healthcare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t>Solar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1600" b="1" i="0" u="none" strike="noStrike" kern="1200" cap="none" spc="0" normalizeH="0" baseline="0" noProof="0" dirty="0">
                <a:ln>
                  <a:noFill/>
                </a:ln>
                <a:solidFill>
                  <a:srgbClr val="00B050"/>
                </a:solidFill>
                <a:effectLst/>
                <a:uLnTx/>
                <a:uFillTx/>
                <a:latin typeface="+mn-lt"/>
                <a:ea typeface="+mn-ea"/>
                <a:cs typeface="+mn-cs"/>
              </a:rPr>
              <a:t>Travel Tourism</a:t>
            </a:r>
            <a:endParaRPr kumimoji="0" lang="en-US" sz="1600" b="1" i="0" u="none" strike="noStrike" kern="1200" cap="none" spc="0" normalizeH="0" baseline="0" noProof="0" dirty="0">
              <a:ln>
                <a:noFill/>
              </a:ln>
              <a:solidFill>
                <a:srgbClr val="00B050"/>
              </a:solidFill>
              <a:effectLst/>
              <a:uLnTx/>
              <a:uFillTx/>
              <a:latin typeface="+mn-lt"/>
              <a:ea typeface="+mn-ea"/>
              <a:cs typeface="+mn-cs"/>
            </a:endParaRPr>
          </a:p>
        </p:txBody>
      </p:sp>
      <p:sp>
        <p:nvSpPr>
          <p:cNvPr id="13" name="Content Placeholder 9"/>
          <p:cNvSpPr txBox="1">
            <a:spLocks/>
          </p:cNvSpPr>
          <p:nvPr/>
        </p:nvSpPr>
        <p:spPr>
          <a:xfrm>
            <a:off x="5029200" y="2495550"/>
            <a:ext cx="3200400" cy="2286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solidFill>
                  <a:srgbClr val="00B050"/>
                </a:solidFill>
              </a:rPr>
              <a:t>E-Commerce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t>Agriculture</a:t>
            </a:r>
            <a:endParaRPr kumimoji="0" lang="en-IN" sz="1600" b="1" i="0" u="none" strike="noStrike" kern="1200" cap="none" spc="0" normalizeH="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1600" b="1" i="0" u="none" strike="noStrike" kern="1200" cap="none" spc="0" normalizeH="0" noProof="0" dirty="0">
                <a:ln>
                  <a:noFill/>
                </a:ln>
                <a:solidFill>
                  <a:srgbClr val="00B050"/>
                </a:solidFill>
                <a:effectLst/>
                <a:uLnTx/>
                <a:uFillTx/>
                <a:latin typeface="+mn-lt"/>
                <a:ea typeface="+mn-ea"/>
                <a:cs typeface="+mn-cs"/>
              </a:rPr>
              <a:t>FMCG</a:t>
            </a:r>
            <a:endParaRPr kumimoji="0" lang="en-IN" sz="1600" b="1" i="0" u="none" strike="noStrike" kern="1200" cap="none" spc="0" normalizeH="0" baseline="0" noProof="0" dirty="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solidFill>
                  <a:srgbClr val="00B050"/>
                </a:solidFill>
              </a:rPr>
              <a:t>Education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IN" sz="1600" b="1" dirty="0">
                <a:solidFill>
                  <a:srgbClr val="00B050"/>
                </a:solidFill>
              </a:rPr>
              <a:t>Retail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IT Companies</a:t>
            </a:r>
            <a:endParaRPr kumimoji="0" lang="en-US" sz="16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9" name="Content Placeholder 5"/>
          <p:cNvSpPr txBox="1">
            <a:spLocks/>
          </p:cNvSpPr>
          <p:nvPr/>
        </p:nvSpPr>
        <p:spPr>
          <a:xfrm>
            <a:off x="838200" y="361950"/>
            <a:ext cx="72390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What are </a:t>
            </a:r>
            <a:r>
              <a:rPr lang="en-US" sz="3200" b="1" dirty="0" err="1"/>
              <a:t>Softwares</a:t>
            </a:r>
            <a:r>
              <a:rPr lang="en-US" sz="3200" b="1" dirty="0"/>
              <a:t> &amp; Applications?</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9"/>
          <p:cNvSpPr>
            <a:spLocks noGrp="1"/>
          </p:cNvSpPr>
          <p:nvPr>
            <p:ph idx="1"/>
          </p:nvPr>
        </p:nvSpPr>
        <p:spPr/>
        <p:txBody>
          <a:bodyPr>
            <a:normAutofit/>
          </a:bodyPr>
          <a:lstStyle/>
          <a:p>
            <a:pPr algn="just"/>
            <a:r>
              <a:rPr lang="en-US" sz="1600" b="1" dirty="0"/>
              <a:t>Software</a:t>
            </a:r>
            <a:r>
              <a:rPr lang="en-US" sz="1600" dirty="0"/>
              <a:t>: Programs and applications that run on computers and other devices. Includes operating systems (e.g., Windows, </a:t>
            </a:r>
            <a:r>
              <a:rPr lang="en-US" sz="1600" dirty="0" err="1"/>
              <a:t>macOS</a:t>
            </a:r>
            <a:r>
              <a:rPr lang="en-US" sz="1600" dirty="0"/>
              <a:t>), productivity tools (e.g., Microsoft Office), and specialized applications (e.g., Photoshop).</a:t>
            </a:r>
          </a:p>
          <a:p>
            <a:pPr algn="just"/>
            <a:endParaRPr lang="en-US" sz="1600" dirty="0"/>
          </a:p>
          <a:p>
            <a:pPr algn="just"/>
            <a:r>
              <a:rPr lang="en-US" sz="1600" b="1" dirty="0"/>
              <a:t>Mobile Apps</a:t>
            </a:r>
            <a:r>
              <a:rPr lang="en-US" sz="1600" dirty="0"/>
              <a:t>: Applications designed to run on mobile devices such as </a:t>
            </a:r>
            <a:r>
              <a:rPr lang="en-US" sz="1600" dirty="0" err="1"/>
              <a:t>smartphones</a:t>
            </a:r>
            <a:r>
              <a:rPr lang="en-US" sz="1600" dirty="0"/>
              <a:t> and tablets. Available through app stores (e.g., Google Play, Apple App Store). Examples: </a:t>
            </a:r>
            <a:r>
              <a:rPr lang="en-US" sz="1600" dirty="0" err="1"/>
              <a:t>Instagram</a:t>
            </a:r>
            <a:r>
              <a:rPr lang="en-US" sz="1600" dirty="0"/>
              <a:t>, </a:t>
            </a:r>
            <a:r>
              <a:rPr lang="en-US" sz="1600" dirty="0" err="1"/>
              <a:t>WhatsApp</a:t>
            </a:r>
            <a:r>
              <a:rPr lang="en-US" sz="1600" dirty="0"/>
              <a:t>, mobile banking apps. (2 Types of Mobile Apps – Hybrid &amp; Native)</a:t>
            </a:r>
          </a:p>
          <a:p>
            <a:pPr algn="just"/>
            <a:endParaRPr lang="en-US" sz="1600" dirty="0"/>
          </a:p>
          <a:p>
            <a:pPr algn="just"/>
            <a:r>
              <a:rPr lang="en-US" sz="1600" b="1" dirty="0"/>
              <a:t>Web Apps</a:t>
            </a:r>
            <a:r>
              <a:rPr lang="en-US" sz="1600" dirty="0"/>
              <a:t>: Applications accessed via web browsers over the internet. Do not require installation on a device; they run on web servers. Examples: Google Docs, online shopping sites, web-based email services (e.g., Gmail).</a:t>
            </a:r>
          </a:p>
          <a:p>
            <a:pPr algn="just"/>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3"/>
          <a:srcRect/>
          <a:stretch>
            <a:fillRect/>
          </a:stretch>
        </p:blipFill>
        <p:spPr bwMode="auto">
          <a:xfrm>
            <a:off x="0" y="1"/>
            <a:ext cx="9144000" cy="5143500"/>
          </a:xfrm>
          <a:prstGeom prst="rect">
            <a:avLst/>
          </a:prstGeom>
          <a:noFill/>
        </p:spPr>
      </p:pic>
      <p:sp>
        <p:nvSpPr>
          <p:cNvPr id="9" name="Content Placeholder 5"/>
          <p:cNvSpPr txBox="1">
            <a:spLocks/>
          </p:cNvSpPr>
          <p:nvPr/>
        </p:nvSpPr>
        <p:spPr>
          <a:xfrm>
            <a:off x="838200" y="361950"/>
            <a:ext cx="72390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What are </a:t>
            </a:r>
            <a:r>
              <a:rPr lang="en-US" sz="3200" b="1" dirty="0" err="1"/>
              <a:t>Softwares</a:t>
            </a:r>
            <a:r>
              <a:rPr lang="en-US" sz="3200" b="1" dirty="0"/>
              <a:t> &amp; Applications?</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6" name="Rounded Rectangle 5"/>
          <p:cNvSpPr/>
          <p:nvPr/>
        </p:nvSpPr>
        <p:spPr>
          <a:xfrm>
            <a:off x="1371600" y="1200150"/>
            <a:ext cx="13716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Mobile App</a:t>
            </a:r>
            <a:endParaRPr lang="en-US" dirty="0"/>
          </a:p>
        </p:txBody>
      </p:sp>
      <p:sp>
        <p:nvSpPr>
          <p:cNvPr id="7" name="Rounded Rectangle 6"/>
          <p:cNvSpPr/>
          <p:nvPr/>
        </p:nvSpPr>
        <p:spPr>
          <a:xfrm>
            <a:off x="3810000" y="1200150"/>
            <a:ext cx="13716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Web App</a:t>
            </a:r>
            <a:endParaRPr lang="en-US" dirty="0"/>
          </a:p>
        </p:txBody>
      </p:sp>
      <p:sp>
        <p:nvSpPr>
          <p:cNvPr id="8" name="Rounded Rectangle 7"/>
          <p:cNvSpPr/>
          <p:nvPr/>
        </p:nvSpPr>
        <p:spPr>
          <a:xfrm>
            <a:off x="6172200" y="1200150"/>
            <a:ext cx="13716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Website</a:t>
            </a:r>
            <a:endParaRPr lang="en-US" dirty="0"/>
          </a:p>
        </p:txBody>
      </p:sp>
      <p:cxnSp>
        <p:nvCxnSpPr>
          <p:cNvPr id="14" name="Straight Connector 13"/>
          <p:cNvCxnSpPr>
            <a:endCxn id="12" idx="0"/>
          </p:cNvCxnSpPr>
          <p:nvPr/>
        </p:nvCxnSpPr>
        <p:spPr>
          <a:xfrm rot="5400000">
            <a:off x="1257300" y="2533650"/>
            <a:ext cx="1600200"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295400" y="3333750"/>
            <a:ext cx="1524000" cy="5334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Native</a:t>
            </a:r>
          </a:p>
          <a:p>
            <a:pPr algn="ctr"/>
            <a:r>
              <a:rPr lang="en-IN" dirty="0"/>
              <a:t>Android / IOS</a:t>
            </a:r>
            <a:endParaRPr lang="en-US" dirty="0"/>
          </a:p>
        </p:txBody>
      </p:sp>
      <p:sp>
        <p:nvSpPr>
          <p:cNvPr id="11" name="Rounded Rectangle 10"/>
          <p:cNvSpPr/>
          <p:nvPr/>
        </p:nvSpPr>
        <p:spPr>
          <a:xfrm>
            <a:off x="1295400" y="2190750"/>
            <a:ext cx="1524000" cy="5334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Hybrid</a:t>
            </a:r>
          </a:p>
          <a:p>
            <a:pPr algn="ctr"/>
            <a:r>
              <a:rPr lang="en-IN" dirty="0"/>
              <a:t>Android + IOS</a:t>
            </a:r>
            <a:endParaRPr lang="en-US" dirty="0"/>
          </a:p>
        </p:txBody>
      </p:sp>
      <p:sp>
        <p:nvSpPr>
          <p:cNvPr id="16" name="Rounded Rectangle 15"/>
          <p:cNvSpPr/>
          <p:nvPr/>
        </p:nvSpPr>
        <p:spPr>
          <a:xfrm>
            <a:off x="3810000" y="3333750"/>
            <a:ext cx="1447800" cy="533400"/>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Interactive</a:t>
            </a:r>
            <a:endParaRPr lang="en-US" dirty="0"/>
          </a:p>
        </p:txBody>
      </p:sp>
      <p:sp>
        <p:nvSpPr>
          <p:cNvPr id="18" name="Rounded Rectangle 17"/>
          <p:cNvSpPr/>
          <p:nvPr/>
        </p:nvSpPr>
        <p:spPr>
          <a:xfrm>
            <a:off x="6172200" y="3333750"/>
            <a:ext cx="1447800" cy="533400"/>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Static or </a:t>
            </a:r>
          </a:p>
          <a:p>
            <a:pPr algn="ctr"/>
            <a:r>
              <a:rPr lang="en-IN" dirty="0"/>
              <a:t>Dynamic</a:t>
            </a:r>
            <a:endParaRPr lang="en-US" dirty="0"/>
          </a:p>
        </p:txBody>
      </p:sp>
      <p:cxnSp>
        <p:nvCxnSpPr>
          <p:cNvPr id="19" name="Straight Connector 18"/>
          <p:cNvCxnSpPr/>
          <p:nvPr/>
        </p:nvCxnSpPr>
        <p:spPr>
          <a:xfrm rot="5400000">
            <a:off x="3696494" y="2532856"/>
            <a:ext cx="16002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6058694" y="2532856"/>
            <a:ext cx="1600200"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3810000" y="2190750"/>
            <a:ext cx="1447800" cy="53340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Transactions</a:t>
            </a:r>
            <a:endParaRPr lang="en-US" dirty="0"/>
          </a:p>
        </p:txBody>
      </p:sp>
      <p:sp>
        <p:nvSpPr>
          <p:cNvPr id="17" name="Rounded Rectangle 16"/>
          <p:cNvSpPr/>
          <p:nvPr/>
        </p:nvSpPr>
        <p:spPr>
          <a:xfrm>
            <a:off x="6096000" y="2190750"/>
            <a:ext cx="1447800" cy="533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Shows Only Information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9" name="Content Placeholder 5"/>
          <p:cNvSpPr txBox="1">
            <a:spLocks/>
          </p:cNvSpPr>
          <p:nvPr/>
        </p:nvSpPr>
        <p:spPr>
          <a:xfrm>
            <a:off x="1981200" y="209550"/>
            <a:ext cx="5105400" cy="609600"/>
          </a:xfrm>
          <a:prstGeom prst="rect">
            <a:avLst/>
          </a:prstGeom>
        </p:spPr>
        <p:txBody>
          <a:bodyPr vert="horz" lIns="91440" tIns="45720" rIns="91440" bIns="45720" rtlCol="0">
            <a:normAutofit fontScale="92500"/>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What are Products &amp; Services?</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9"/>
          <p:cNvSpPr>
            <a:spLocks noGrp="1"/>
          </p:cNvSpPr>
          <p:nvPr>
            <p:ph idx="1"/>
          </p:nvPr>
        </p:nvSpPr>
        <p:spPr>
          <a:xfrm>
            <a:off x="457200" y="895350"/>
            <a:ext cx="8229600" cy="3623073"/>
          </a:xfrm>
        </p:spPr>
        <p:txBody>
          <a:bodyPr>
            <a:noAutofit/>
          </a:bodyPr>
          <a:lstStyle/>
          <a:p>
            <a:r>
              <a:rPr lang="en-US" sz="1400" b="1" dirty="0"/>
              <a:t>IT Services</a:t>
            </a:r>
          </a:p>
          <a:p>
            <a:r>
              <a:rPr lang="en-US" sz="1400" dirty="0"/>
              <a:t>IT services encompass a broad range of activities and support provided by IT professionals to manage, operate, and maintain IT systems and infrastructure. These services are designed to ensure the smooth functioning of an organization's technology environment and to support its business goals. Here are the key types of IT services:</a:t>
            </a:r>
          </a:p>
          <a:p>
            <a:endParaRPr lang="en-US" sz="1400" dirty="0"/>
          </a:p>
          <a:p>
            <a:r>
              <a:rPr lang="en-US" sz="1400" b="1" dirty="0"/>
              <a:t>Cloud Services</a:t>
            </a:r>
          </a:p>
          <a:p>
            <a:r>
              <a:rPr lang="en-US" sz="1400" dirty="0"/>
              <a:t>Testing Services, Database Management ,Services Sales &amp; Marketing Services ,Technical Support Services, Digital Marketing, Customer Relationship Management</a:t>
            </a:r>
          </a:p>
          <a:p>
            <a:endParaRPr lang="en-US" sz="1400" dirty="0"/>
          </a:p>
          <a:p>
            <a:r>
              <a:rPr lang="en-US" sz="1400" b="1" dirty="0"/>
              <a:t>IT Products</a:t>
            </a:r>
          </a:p>
          <a:p>
            <a:r>
              <a:rPr lang="en-US" sz="1400" dirty="0"/>
              <a:t>Its an Service application or software developed by an Individual or a Company for Specific Purpose with Specific Target</a:t>
            </a:r>
          </a:p>
          <a:p>
            <a:endParaRPr lang="en-US" sz="1400" dirty="0"/>
          </a:p>
          <a:p>
            <a:r>
              <a:rPr lang="en-US" sz="1400" b="1" dirty="0"/>
              <a:t>PRODUCTS</a:t>
            </a:r>
          </a:p>
          <a:p>
            <a:r>
              <a:rPr lang="en-US" sz="1400" dirty="0"/>
              <a:t>Custom Software Custom Mobile App Custom Web App Examples </a:t>
            </a:r>
            <a:r>
              <a:rPr lang="en-US" sz="1400" dirty="0" err="1"/>
              <a:t>Serv</a:t>
            </a:r>
            <a:r>
              <a:rPr lang="en-US" sz="1400" dirty="0"/>
              <a:t> India Amazon </a:t>
            </a:r>
            <a:r>
              <a:rPr lang="en-US" sz="1400" dirty="0" err="1"/>
              <a:t>Flipkart</a:t>
            </a:r>
            <a:endParaRPr lang="en-US" sz="1400" dirty="0"/>
          </a:p>
          <a:p>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4" name="Rectangle 23"/>
          <p:cNvSpPr/>
          <p:nvPr/>
        </p:nvSpPr>
        <p:spPr>
          <a:xfrm>
            <a:off x="1447800" y="3943350"/>
            <a:ext cx="6781800" cy="830997"/>
          </a:xfrm>
          <a:prstGeom prst="rect">
            <a:avLst/>
          </a:prstGeom>
        </p:spPr>
        <p:txBody>
          <a:bodyPr wrap="square">
            <a:spAutoFit/>
          </a:bodyPr>
          <a:lstStyle/>
          <a:p>
            <a:r>
              <a:rPr lang="en-US" sz="1600" dirty="0"/>
              <a:t>**SDLC (Software Development Life Cycle)** is a process used by software developers to design, develop, and test high-quality software. It consists of several phases:</a:t>
            </a:r>
          </a:p>
        </p:txBody>
      </p:sp>
      <p:sp>
        <p:nvSpPr>
          <p:cNvPr id="25" name="Content Placeholder 5"/>
          <p:cNvSpPr txBox="1">
            <a:spLocks/>
          </p:cNvSpPr>
          <p:nvPr/>
        </p:nvSpPr>
        <p:spPr>
          <a:xfrm>
            <a:off x="1981200" y="285750"/>
            <a:ext cx="51054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SDLC</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pic>
        <p:nvPicPr>
          <p:cNvPr id="18433" name="Picture 1" descr="C:\Pankaj\Reet Technologies\Files,Artwork &amp; Mktg\original-blog-image.png"/>
          <p:cNvPicPr>
            <a:picLocks noChangeAspect="1" noChangeArrowheads="1"/>
          </p:cNvPicPr>
          <p:nvPr/>
        </p:nvPicPr>
        <p:blipFill>
          <a:blip r:embed="rId3"/>
          <a:srcRect/>
          <a:stretch>
            <a:fillRect/>
          </a:stretch>
        </p:blipFill>
        <p:spPr bwMode="auto">
          <a:xfrm>
            <a:off x="3124200" y="895350"/>
            <a:ext cx="2846387" cy="2846387"/>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graphicFrame>
        <p:nvGraphicFramePr>
          <p:cNvPr id="27" name="Diagram 26"/>
          <p:cNvGraphicFramePr/>
          <p:nvPr/>
        </p:nvGraphicFramePr>
        <p:xfrm>
          <a:off x="609600" y="666750"/>
          <a:ext cx="79248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ontent Placeholder 5"/>
          <p:cNvSpPr txBox="1">
            <a:spLocks/>
          </p:cNvSpPr>
          <p:nvPr/>
        </p:nvSpPr>
        <p:spPr>
          <a:xfrm>
            <a:off x="1981200" y="57150"/>
            <a:ext cx="51054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PHASES IN SDLC</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9050"/>
            <a:ext cx="9144000" cy="5143500"/>
          </a:xfrm>
          <a:prstGeom prst="rect">
            <a:avLst/>
          </a:prstGeom>
          <a:noFill/>
        </p:spPr>
      </p:pic>
      <p:sp>
        <p:nvSpPr>
          <p:cNvPr id="24" name="Rectangle 23"/>
          <p:cNvSpPr/>
          <p:nvPr/>
        </p:nvSpPr>
        <p:spPr>
          <a:xfrm>
            <a:off x="762000" y="819150"/>
            <a:ext cx="2971800" cy="1569660"/>
          </a:xfrm>
          <a:prstGeom prst="rect">
            <a:avLst/>
          </a:prstGeom>
        </p:spPr>
        <p:txBody>
          <a:bodyPr wrap="square">
            <a:spAutoFit/>
          </a:bodyPr>
          <a:lstStyle/>
          <a:p>
            <a:r>
              <a:rPr lang="en-US" sz="1600" b="1" dirty="0"/>
              <a:t>Deployment</a:t>
            </a:r>
          </a:p>
          <a:p>
            <a:endParaRPr lang="en-US" sz="1600" b="1" dirty="0"/>
          </a:p>
          <a:p>
            <a:pPr algn="just"/>
            <a:r>
              <a:rPr lang="en-US" sz="1600" dirty="0"/>
              <a:t>Release the software to a production environment. Perform necessary configurations and provide user training.</a:t>
            </a:r>
          </a:p>
        </p:txBody>
      </p:sp>
      <p:sp>
        <p:nvSpPr>
          <p:cNvPr id="25" name="Content Placeholder 5"/>
          <p:cNvSpPr txBox="1">
            <a:spLocks/>
          </p:cNvSpPr>
          <p:nvPr/>
        </p:nvSpPr>
        <p:spPr>
          <a:xfrm>
            <a:off x="2133600" y="133350"/>
            <a:ext cx="5105400" cy="609600"/>
          </a:xfrm>
          <a:prstGeom prst="rect">
            <a:avLst/>
          </a:prstGeom>
        </p:spPr>
        <p:txBody>
          <a:bodyPr vert="horz" lIns="91440" tIns="45720" rIns="91440" bIns="45720" rtlCol="0">
            <a:normAutofit/>
          </a:bodyPr>
          <a:lstStyle/>
          <a:p>
            <a:r>
              <a:rPr lang="en-US" sz="3200" b="1" dirty="0"/>
              <a:t>SDLC &amp; METHODOLOGY</a:t>
            </a:r>
          </a:p>
        </p:txBody>
      </p:sp>
      <p:sp>
        <p:nvSpPr>
          <p:cNvPr id="5" name="Rectangle 4"/>
          <p:cNvSpPr/>
          <p:nvPr/>
        </p:nvSpPr>
        <p:spPr>
          <a:xfrm>
            <a:off x="762000" y="2876550"/>
            <a:ext cx="2971800" cy="1815882"/>
          </a:xfrm>
          <a:prstGeom prst="rect">
            <a:avLst/>
          </a:prstGeom>
        </p:spPr>
        <p:txBody>
          <a:bodyPr wrap="square">
            <a:spAutoFit/>
          </a:bodyPr>
          <a:lstStyle/>
          <a:p>
            <a:pPr algn="just"/>
            <a:r>
              <a:rPr lang="en-US" sz="1600" b="1" dirty="0"/>
              <a:t>Maintenance</a:t>
            </a:r>
          </a:p>
          <a:p>
            <a:pPr algn="just"/>
            <a:endParaRPr lang="en-US" sz="1600" b="1" dirty="0"/>
          </a:p>
          <a:p>
            <a:pPr algn="just"/>
            <a:r>
              <a:rPr lang="en-US" sz="1600" dirty="0"/>
              <a:t>Monitor the software for any issues or bugs. Provide updates and enhancements to improve functionality and address any problems.</a:t>
            </a:r>
          </a:p>
        </p:txBody>
      </p:sp>
      <p:sp>
        <p:nvSpPr>
          <p:cNvPr id="6" name="Rectangle 5"/>
          <p:cNvSpPr/>
          <p:nvPr/>
        </p:nvSpPr>
        <p:spPr>
          <a:xfrm>
            <a:off x="4495800" y="742950"/>
            <a:ext cx="4267200" cy="2062103"/>
          </a:xfrm>
          <a:prstGeom prst="rect">
            <a:avLst/>
          </a:prstGeom>
        </p:spPr>
        <p:txBody>
          <a:bodyPr wrap="square">
            <a:spAutoFit/>
          </a:bodyPr>
          <a:lstStyle/>
          <a:p>
            <a:pPr algn="just"/>
            <a:r>
              <a:rPr lang="en-US" sz="1600" b="1" dirty="0"/>
              <a:t>SDLC Models</a:t>
            </a:r>
          </a:p>
          <a:p>
            <a:pPr algn="just"/>
            <a:endParaRPr lang="en-US" sz="1600" b="1" dirty="0"/>
          </a:p>
          <a:p>
            <a:pPr algn="just"/>
            <a:r>
              <a:rPr lang="en-US" sz="1600" b="1" dirty="0"/>
              <a:t>Waterfall Model</a:t>
            </a:r>
            <a:r>
              <a:rPr lang="en-US" sz="1600" dirty="0"/>
              <a:t>: Sequential approach where each phase must be completed before the next begins. </a:t>
            </a:r>
            <a:r>
              <a:rPr lang="en-US" sz="1600" b="1" dirty="0"/>
              <a:t>Agile Model</a:t>
            </a:r>
            <a:r>
              <a:rPr lang="en-US" sz="1600" dirty="0"/>
              <a:t>: Iterative approach with continuous feedback and improvements. </a:t>
            </a:r>
            <a:r>
              <a:rPr lang="en-US" sz="1600" b="1" dirty="0" err="1"/>
              <a:t>DevOps</a:t>
            </a:r>
            <a:r>
              <a:rPr lang="en-US" sz="1600" dirty="0"/>
              <a:t>: Combines development and operations for faster delivery and continuous integration.</a:t>
            </a:r>
          </a:p>
        </p:txBody>
      </p:sp>
      <p:sp>
        <p:nvSpPr>
          <p:cNvPr id="7" name="Rectangle 6"/>
          <p:cNvSpPr/>
          <p:nvPr/>
        </p:nvSpPr>
        <p:spPr>
          <a:xfrm>
            <a:off x="4572000" y="3105150"/>
            <a:ext cx="3810000" cy="1323439"/>
          </a:xfrm>
          <a:prstGeom prst="rect">
            <a:avLst/>
          </a:prstGeom>
        </p:spPr>
        <p:txBody>
          <a:bodyPr wrap="square">
            <a:spAutoFit/>
          </a:bodyPr>
          <a:lstStyle/>
          <a:p>
            <a:pPr algn="just"/>
            <a:r>
              <a:rPr lang="en-US" sz="1600" b="1" dirty="0"/>
              <a:t>Model Selection</a:t>
            </a:r>
          </a:p>
          <a:p>
            <a:pPr algn="just"/>
            <a:endParaRPr lang="en-US" sz="1600" b="1" dirty="0"/>
          </a:p>
          <a:p>
            <a:pPr algn="just"/>
            <a:r>
              <a:rPr lang="en-US" sz="1600" dirty="0"/>
              <a:t>Each model has its own strengths and is chosen based on project requirements and constraints.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4" name="Rectangle 23"/>
          <p:cNvSpPr/>
          <p:nvPr/>
        </p:nvSpPr>
        <p:spPr>
          <a:xfrm>
            <a:off x="2514600" y="971550"/>
            <a:ext cx="4114800" cy="338554"/>
          </a:xfrm>
          <a:prstGeom prst="rect">
            <a:avLst/>
          </a:prstGeom>
        </p:spPr>
        <p:txBody>
          <a:bodyPr wrap="square">
            <a:spAutoFit/>
          </a:bodyPr>
          <a:lstStyle/>
          <a:p>
            <a:pPr algn="ctr"/>
            <a:r>
              <a:rPr lang="en-US" sz="1600" dirty="0"/>
              <a:t>Extreme Dependency on One Task to Other</a:t>
            </a:r>
          </a:p>
        </p:txBody>
      </p:sp>
      <p:sp>
        <p:nvSpPr>
          <p:cNvPr id="25" name="Content Placeholder 5"/>
          <p:cNvSpPr txBox="1">
            <a:spLocks/>
          </p:cNvSpPr>
          <p:nvPr/>
        </p:nvSpPr>
        <p:spPr>
          <a:xfrm>
            <a:off x="2057400" y="438150"/>
            <a:ext cx="51054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3200" b="1" i="0" u="none" strike="noStrike" kern="1200" cap="none" spc="0" normalizeH="0" baseline="0" noProof="0" dirty="0">
                <a:ln>
                  <a:noFill/>
                </a:ln>
                <a:solidFill>
                  <a:schemeClr val="tx1"/>
                </a:solidFill>
                <a:effectLst/>
                <a:uLnTx/>
                <a:uFillTx/>
                <a:latin typeface="+mn-lt"/>
                <a:ea typeface="+mn-ea"/>
                <a:cs typeface="+mn-cs"/>
              </a:rPr>
              <a:t>Water</a:t>
            </a:r>
            <a:r>
              <a:rPr lang="en-IN" sz="3200" b="1" baseline="0" dirty="0"/>
              <a:t>fall</a:t>
            </a:r>
            <a:r>
              <a:rPr lang="en-IN" sz="3200" b="1" dirty="0"/>
              <a:t> Methodology</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sp>
        <p:nvSpPr>
          <p:cNvPr id="5122" name="AutoShape 2" descr="Representation of waterfall methodolo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4" name="AutoShape 4" descr="Representation of waterfall methodolog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125" name="Picture 5" descr="C:\Pankaj\Reet Technologies\Files,Artwork &amp; Mktg\Waterfall.jpg"/>
          <p:cNvPicPr>
            <a:picLocks noChangeAspect="1" noChangeArrowheads="1"/>
          </p:cNvPicPr>
          <p:nvPr/>
        </p:nvPicPr>
        <p:blipFill>
          <a:blip r:embed="rId3" cstate="print"/>
          <a:srcRect/>
          <a:stretch>
            <a:fillRect/>
          </a:stretch>
        </p:blipFill>
        <p:spPr bwMode="auto">
          <a:xfrm>
            <a:off x="1600200" y="1352550"/>
            <a:ext cx="6019800" cy="36576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4" name="Rectangle 23"/>
          <p:cNvSpPr/>
          <p:nvPr/>
        </p:nvSpPr>
        <p:spPr>
          <a:xfrm>
            <a:off x="5486400" y="819150"/>
            <a:ext cx="3124200" cy="1815882"/>
          </a:xfrm>
          <a:prstGeom prst="rect">
            <a:avLst/>
          </a:prstGeom>
        </p:spPr>
        <p:txBody>
          <a:bodyPr wrap="square">
            <a:spAutoFit/>
          </a:bodyPr>
          <a:lstStyle/>
          <a:p>
            <a:pPr algn="just"/>
            <a:r>
              <a:rPr lang="en-US" sz="1600" b="1" dirty="0"/>
              <a:t>Iterative Development</a:t>
            </a:r>
          </a:p>
          <a:p>
            <a:pPr algn="just"/>
            <a:endParaRPr lang="en-US" sz="1600" b="1" dirty="0"/>
          </a:p>
          <a:p>
            <a:pPr algn="just"/>
            <a:r>
              <a:rPr lang="en-US" sz="1600" dirty="0"/>
              <a:t>Work is divided into small, manageable units called sprints (typically 2-4 weeks). Each sprint results in a potentially shippable product increment.</a:t>
            </a:r>
          </a:p>
        </p:txBody>
      </p:sp>
      <p:sp>
        <p:nvSpPr>
          <p:cNvPr id="25" name="Content Placeholder 5"/>
          <p:cNvSpPr txBox="1">
            <a:spLocks/>
          </p:cNvSpPr>
          <p:nvPr/>
        </p:nvSpPr>
        <p:spPr>
          <a:xfrm>
            <a:off x="1981200" y="209550"/>
            <a:ext cx="5105400" cy="6096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a:t>Agile Methodology</a:t>
            </a:r>
            <a:endParaRPr kumimoji="0" lang="en-US" sz="3200" b="1" i="0" u="none" strike="noStrike" kern="1200" cap="none" spc="0" normalizeH="0" baseline="0" noProof="0" dirty="0">
              <a:ln>
                <a:noFill/>
              </a:ln>
              <a:solidFill>
                <a:schemeClr val="tx1"/>
              </a:solidFill>
              <a:effectLst/>
              <a:uLnTx/>
              <a:uFillTx/>
              <a:latin typeface="+mn-lt"/>
              <a:ea typeface="+mn-ea"/>
              <a:cs typeface="+mn-cs"/>
            </a:endParaRPr>
          </a:p>
        </p:txBody>
      </p:sp>
      <p:pic>
        <p:nvPicPr>
          <p:cNvPr id="4097" name="Picture 1" descr="C:\Pankaj\Reet Technologies\Files,Artwork &amp; Mktg\Agile.jpg"/>
          <p:cNvPicPr>
            <a:picLocks noChangeAspect="1" noChangeArrowheads="1"/>
          </p:cNvPicPr>
          <p:nvPr/>
        </p:nvPicPr>
        <p:blipFill>
          <a:blip r:embed="rId3" cstate="print"/>
          <a:srcRect/>
          <a:stretch>
            <a:fillRect/>
          </a:stretch>
        </p:blipFill>
        <p:spPr bwMode="auto">
          <a:xfrm>
            <a:off x="152400" y="1200150"/>
            <a:ext cx="5334000" cy="3352799"/>
          </a:xfrm>
          <a:prstGeom prst="rect">
            <a:avLst/>
          </a:prstGeom>
          <a:noFill/>
        </p:spPr>
      </p:pic>
      <p:sp>
        <p:nvSpPr>
          <p:cNvPr id="6" name="Rectangle 5"/>
          <p:cNvSpPr/>
          <p:nvPr/>
        </p:nvSpPr>
        <p:spPr>
          <a:xfrm>
            <a:off x="5562600" y="2724150"/>
            <a:ext cx="3124200" cy="2062103"/>
          </a:xfrm>
          <a:prstGeom prst="rect">
            <a:avLst/>
          </a:prstGeom>
        </p:spPr>
        <p:txBody>
          <a:bodyPr wrap="square">
            <a:spAutoFit/>
          </a:bodyPr>
          <a:lstStyle/>
          <a:p>
            <a:pPr algn="just"/>
            <a:r>
              <a:rPr lang="en-US" sz="1600" b="1" dirty="0"/>
              <a:t>Flexibility and Adaptation</a:t>
            </a:r>
          </a:p>
          <a:p>
            <a:pPr algn="just"/>
            <a:endParaRPr lang="en-US" sz="1600" b="1" dirty="0"/>
          </a:p>
          <a:p>
            <a:pPr algn="just"/>
            <a:r>
              <a:rPr lang="en-US" sz="1600" dirty="0"/>
              <a:t>Ability to adapt to changes quickly, even late in the development process. Priorities and requirements can be adjusted based on feedback and evolving needs.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762000" y="590550"/>
            <a:ext cx="3429000" cy="1815882"/>
          </a:xfrm>
          <a:prstGeom prst="rect">
            <a:avLst/>
          </a:prstGeom>
        </p:spPr>
        <p:txBody>
          <a:bodyPr wrap="square">
            <a:spAutoFit/>
          </a:bodyPr>
          <a:lstStyle/>
          <a:p>
            <a:pPr algn="just"/>
            <a:r>
              <a:rPr lang="en-US" sz="1600" b="1" dirty="0"/>
              <a:t>Customer Collaboration</a:t>
            </a:r>
          </a:p>
          <a:p>
            <a:pPr algn="just"/>
            <a:endParaRPr lang="en-US" sz="1600" b="1" dirty="0"/>
          </a:p>
          <a:p>
            <a:pPr algn="just"/>
            <a:r>
              <a:rPr lang="en-US" sz="1600" dirty="0"/>
              <a:t>Continuous involvement of stakeholders and customers throughout the development process. Regular feedback helps ensure the product meets user needs.</a:t>
            </a:r>
          </a:p>
        </p:txBody>
      </p:sp>
      <p:sp>
        <p:nvSpPr>
          <p:cNvPr id="6" name="Rectangle 5"/>
          <p:cNvSpPr/>
          <p:nvPr/>
        </p:nvSpPr>
        <p:spPr>
          <a:xfrm>
            <a:off x="5410200" y="666750"/>
            <a:ext cx="3276600" cy="1569660"/>
          </a:xfrm>
          <a:prstGeom prst="rect">
            <a:avLst/>
          </a:prstGeom>
        </p:spPr>
        <p:txBody>
          <a:bodyPr wrap="square">
            <a:spAutoFit/>
          </a:bodyPr>
          <a:lstStyle/>
          <a:p>
            <a:pPr algn="just"/>
            <a:r>
              <a:rPr lang="en-US" sz="1600" b="1" dirty="0"/>
              <a:t>Cross-Functional Teams</a:t>
            </a:r>
          </a:p>
          <a:p>
            <a:pPr algn="just"/>
            <a:endParaRPr lang="en-US" sz="1600" b="1" dirty="0"/>
          </a:p>
          <a:p>
            <a:pPr algn="just"/>
            <a:r>
              <a:rPr lang="en-US" sz="1600" dirty="0"/>
              <a:t>Teams are self-organizing and include members with diverse skills. Collaboration among team members is emphasized.</a:t>
            </a:r>
          </a:p>
        </p:txBody>
      </p:sp>
      <p:pic>
        <p:nvPicPr>
          <p:cNvPr id="3073" name="Picture 1" descr="C:\Pankaj\Reet Technologies\Files,Artwork &amp; Mktg\agile-vs-waterfall-model.png"/>
          <p:cNvPicPr>
            <a:picLocks noChangeAspect="1" noChangeArrowheads="1"/>
          </p:cNvPicPr>
          <p:nvPr/>
        </p:nvPicPr>
        <p:blipFill>
          <a:blip r:embed="rId3"/>
          <a:srcRect/>
          <a:stretch>
            <a:fillRect/>
          </a:stretch>
        </p:blipFill>
        <p:spPr bwMode="auto">
          <a:xfrm>
            <a:off x="2590800" y="2266950"/>
            <a:ext cx="4387850" cy="2571955"/>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362200" y="285750"/>
            <a:ext cx="5105400" cy="609600"/>
          </a:xfrm>
          <a:prstGeom prst="rect">
            <a:avLst/>
          </a:prstGeom>
        </p:spPr>
        <p:txBody>
          <a:bodyPr vert="horz" lIns="91440" tIns="45720" rIns="91440" bIns="45720" rtlCol="0">
            <a:normAutofit fontScale="85000" lnSpcReduction="10000"/>
          </a:bodyPr>
          <a:lstStyle/>
          <a:p>
            <a:r>
              <a:rPr lang="en-US" sz="3200" b="1" dirty="0"/>
              <a:t>Cloud &amp; Database Management</a:t>
            </a:r>
          </a:p>
        </p:txBody>
      </p:sp>
      <p:graphicFrame>
        <p:nvGraphicFramePr>
          <p:cNvPr id="5" name="Table 4"/>
          <p:cNvGraphicFramePr>
            <a:graphicFrameLocks noGrp="1"/>
          </p:cNvGraphicFramePr>
          <p:nvPr/>
        </p:nvGraphicFramePr>
        <p:xfrm>
          <a:off x="1524000" y="1123950"/>
          <a:ext cx="6096000" cy="28397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b="1" dirty="0"/>
                        <a:t>Cloud Technology</a:t>
                      </a:r>
                    </a:p>
                  </a:txBody>
                  <a:tcPr anchor="ctr"/>
                </a:tc>
                <a:tc>
                  <a:txBody>
                    <a:bodyPr/>
                    <a:lstStyle/>
                    <a:p>
                      <a:pPr algn="ctr"/>
                      <a:r>
                        <a:rPr lang="en-US" b="1" dirty="0"/>
                        <a:t>Database Management</a:t>
                      </a:r>
                    </a:p>
                  </a:txBody>
                  <a:tcPr anchor="ctr"/>
                </a:tc>
                <a:extLst>
                  <a:ext uri="{0D108BD9-81ED-4DB2-BD59-A6C34878D82A}">
                    <a16:rowId xmlns:a16="http://schemas.microsoft.com/office/drawing/2014/main" val="10000"/>
                  </a:ext>
                </a:extLst>
              </a:tr>
              <a:tr h="370840">
                <a:tc>
                  <a:txBody>
                    <a:bodyPr/>
                    <a:lstStyle/>
                    <a:p>
                      <a:r>
                        <a:rPr lang="en-US"/>
                        <a:t>Delivery of computing services over the internet</a:t>
                      </a:r>
                    </a:p>
                  </a:txBody>
                  <a:tcPr anchor="ctr"/>
                </a:tc>
                <a:tc>
                  <a:txBody>
                    <a:bodyPr/>
                    <a:lstStyle/>
                    <a:p>
                      <a:r>
                        <a:rPr lang="en-US" dirty="0"/>
                        <a:t>Use of software to store, manage, and retrieve data efficiently</a:t>
                      </a:r>
                    </a:p>
                  </a:txBody>
                  <a:tcPr anchor="ctr"/>
                </a:tc>
                <a:extLst>
                  <a:ext uri="{0D108BD9-81ED-4DB2-BD59-A6C34878D82A}">
                    <a16:rowId xmlns:a16="http://schemas.microsoft.com/office/drawing/2014/main" val="10001"/>
                  </a:ext>
                </a:extLst>
              </a:tr>
              <a:tr h="370840">
                <a:tc>
                  <a:txBody>
                    <a:bodyPr/>
                    <a:lstStyle/>
                    <a:p>
                      <a:r>
                        <a:rPr lang="en-US" dirty="0"/>
                        <a:t>Includes </a:t>
                      </a:r>
                      <a:r>
                        <a:rPr lang="en-US" dirty="0" err="1"/>
                        <a:t>IaaS</a:t>
                      </a:r>
                      <a:r>
                        <a:rPr lang="en-US" dirty="0"/>
                        <a:t>, </a:t>
                      </a:r>
                      <a:r>
                        <a:rPr lang="en-US" dirty="0" err="1"/>
                        <a:t>PaaS</a:t>
                      </a:r>
                      <a:r>
                        <a:rPr lang="en-US" dirty="0"/>
                        <a:t>, and </a:t>
                      </a:r>
                      <a:r>
                        <a:rPr lang="en-US" dirty="0" err="1"/>
                        <a:t>SaaS</a:t>
                      </a:r>
                      <a:endParaRPr lang="en-US" dirty="0"/>
                    </a:p>
                  </a:txBody>
                  <a:tcPr anchor="ctr"/>
                </a:tc>
                <a:tc>
                  <a:txBody>
                    <a:bodyPr/>
                    <a:lstStyle/>
                    <a:p>
                      <a:r>
                        <a:rPr lang="en-US"/>
                        <a:t>Involves organizing data for easy access and manipulation</a:t>
                      </a:r>
                    </a:p>
                  </a:txBody>
                  <a:tcPr anchor="ctr"/>
                </a:tc>
                <a:extLst>
                  <a:ext uri="{0D108BD9-81ED-4DB2-BD59-A6C34878D82A}">
                    <a16:rowId xmlns:a16="http://schemas.microsoft.com/office/drawing/2014/main" val="10002"/>
                  </a:ext>
                </a:extLst>
              </a:tr>
              <a:tr h="370840">
                <a:tc>
                  <a:txBody>
                    <a:bodyPr/>
                    <a:lstStyle/>
                    <a:p>
                      <a:r>
                        <a:rPr lang="en-US" dirty="0"/>
                        <a:t>Benefits: scalability, cost efficiency, accessibility, reliability, security</a:t>
                      </a:r>
                    </a:p>
                  </a:txBody>
                  <a:tcPr anchor="ctr"/>
                </a:tc>
                <a:tc>
                  <a:txBody>
                    <a:bodyPr/>
                    <a:lstStyle/>
                    <a:p>
                      <a:r>
                        <a:rPr lang="en-US" dirty="0"/>
                        <a:t>Ensures data integrity, security, and consistency</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285750"/>
            <a:ext cx="5105400" cy="609600"/>
          </a:xfrm>
          <a:prstGeom prst="rect">
            <a:avLst/>
          </a:prstGeom>
        </p:spPr>
        <p:txBody>
          <a:bodyPr vert="horz" lIns="91440" tIns="45720" rIns="91440" bIns="45720" rtlCol="0">
            <a:normAutofit/>
          </a:bodyPr>
          <a:lstStyle/>
          <a:p>
            <a:r>
              <a:rPr lang="en-US" sz="3200" b="1" dirty="0"/>
              <a:t>What is Cloud Technology?</a:t>
            </a:r>
          </a:p>
        </p:txBody>
      </p:sp>
      <p:graphicFrame>
        <p:nvGraphicFramePr>
          <p:cNvPr id="5" name="Table 4"/>
          <p:cNvGraphicFramePr>
            <a:graphicFrameLocks noGrp="1"/>
          </p:cNvGraphicFramePr>
          <p:nvPr>
            <p:extLst>
              <p:ext uri="{D42A27DB-BD31-4B8C-83A1-F6EECF244321}">
                <p14:modId xmlns:p14="http://schemas.microsoft.com/office/powerpoint/2010/main" val="2870103246"/>
              </p:ext>
            </p:extLst>
          </p:nvPr>
        </p:nvGraphicFramePr>
        <p:xfrm>
          <a:off x="533400" y="1047750"/>
          <a:ext cx="8229600" cy="379476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85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Infrastructure as a Service (</a:t>
                      </a:r>
                      <a:r>
                        <a:rPr lang="en-US" b="1" dirty="0" err="1"/>
                        <a:t>IaaS</a:t>
                      </a:r>
                      <a:r>
                        <a:rPr lang="en-US" b="1" dirty="0"/>
                        <a: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Platform as a Service (</a:t>
                      </a:r>
                      <a:r>
                        <a:rPr lang="en-US" b="1" dirty="0" err="1"/>
                        <a:t>PaaS</a:t>
                      </a:r>
                      <a:r>
                        <a:rPr lang="en-US" b="1" dirty="0"/>
                        <a: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Software as a Service (SaaS)</a:t>
                      </a:r>
                      <a:endParaRPr lang="en-US" dirty="0"/>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Provides virtualized computing resources over the internet. Includes servers, storage, and networking. </a:t>
                      </a:r>
                    </a:p>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Examples</a:t>
                      </a:r>
                      <a:r>
                        <a:rPr lang="en-US" dirty="0"/>
                        <a:t>: Amazon Web Services (AWS), Microsoft Azure, Google Cloud Platform (GCP).</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Offers hardware and software tools over the internet. Designed to support application development and deployment. </a:t>
                      </a:r>
                    </a:p>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Examples:</a:t>
                      </a:r>
                      <a:r>
                        <a:rPr lang="en-US" dirty="0"/>
                        <a:t> Google App Engine, Play store, Microsoft Azure PaaS, Heroku.</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Delivers software applications over the internet on a subscription basis. Users can access the software through a web browser. </a:t>
                      </a:r>
                    </a:p>
                    <a:p>
                      <a:pPr marL="0" marR="0" indent="0" algn="ctr" defTabSz="914400" rtl="0" eaLnBrk="1" fontAlgn="auto" latinLnBrk="0" hangingPunct="1">
                        <a:lnSpc>
                          <a:spcPct val="100000"/>
                        </a:lnSpc>
                        <a:spcBef>
                          <a:spcPts val="0"/>
                        </a:spcBef>
                        <a:spcAft>
                          <a:spcPts val="0"/>
                        </a:spcAft>
                        <a:buClrTx/>
                        <a:buSzTx/>
                        <a:buFontTx/>
                        <a:buNone/>
                        <a:tabLst/>
                        <a:defRPr/>
                      </a:pPr>
                      <a:r>
                        <a:rPr lang="en-US" b="1" dirty="0"/>
                        <a:t>Examples</a:t>
                      </a:r>
                      <a:r>
                        <a:rPr lang="en-US" dirty="0"/>
                        <a:t>: Google Workspace, Microsoft 365, </a:t>
                      </a:r>
                      <a:r>
                        <a:rPr lang="en-US" dirty="0" err="1"/>
                        <a:t>Salesforce</a:t>
                      </a:r>
                      <a:r>
                        <a:rPr lang="en-US" dirty="0"/>
                        <a:t>.</a:t>
                      </a:r>
                    </a:p>
                    <a:p>
                      <a:pPr algn="ct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285750"/>
            <a:ext cx="5105400" cy="609600"/>
          </a:xfrm>
          <a:prstGeom prst="rect">
            <a:avLst/>
          </a:prstGeom>
        </p:spPr>
        <p:txBody>
          <a:bodyPr vert="horz" lIns="91440" tIns="45720" rIns="91440" bIns="45720" rtlCol="0">
            <a:normAutofit/>
          </a:bodyPr>
          <a:lstStyle/>
          <a:p>
            <a:r>
              <a:rPr lang="en-US" sz="3200" b="1" dirty="0"/>
              <a:t>Benefits of Cloud Technology</a:t>
            </a:r>
          </a:p>
          <a:p>
            <a:endParaRPr lang="en-US" sz="3200" b="1" dirty="0"/>
          </a:p>
        </p:txBody>
      </p:sp>
      <p:sp>
        <p:nvSpPr>
          <p:cNvPr id="6" name="Rectangle 5"/>
          <p:cNvSpPr/>
          <p:nvPr/>
        </p:nvSpPr>
        <p:spPr>
          <a:xfrm>
            <a:off x="685800" y="1123950"/>
            <a:ext cx="2209800" cy="3539430"/>
          </a:xfrm>
          <a:prstGeom prst="rect">
            <a:avLst/>
          </a:prstGeom>
        </p:spPr>
        <p:txBody>
          <a:bodyPr wrap="square">
            <a:spAutoFit/>
          </a:bodyPr>
          <a:lstStyle/>
          <a:p>
            <a:r>
              <a:rPr lang="en-US" sz="1600" b="1" dirty="0"/>
              <a:t>Benefits of Cloud Technology</a:t>
            </a:r>
          </a:p>
          <a:p>
            <a:r>
              <a:rPr lang="en-US" sz="1600" b="1" dirty="0"/>
              <a:t>Scalability</a:t>
            </a:r>
          </a:p>
          <a:p>
            <a:endParaRPr lang="en-US" sz="1600" b="1" dirty="0"/>
          </a:p>
          <a:p>
            <a:r>
              <a:rPr lang="en-US" sz="1600" dirty="0"/>
              <a:t>Easily scale resources up or down based on demand.</a:t>
            </a:r>
          </a:p>
          <a:p>
            <a:endParaRPr lang="en-US" sz="1600" dirty="0"/>
          </a:p>
          <a:p>
            <a:r>
              <a:rPr lang="en-US" sz="1600" b="1" dirty="0"/>
              <a:t>Cost Efficiency</a:t>
            </a:r>
          </a:p>
          <a:p>
            <a:endParaRPr lang="en-US" sz="1600" b="1" dirty="0"/>
          </a:p>
          <a:p>
            <a:r>
              <a:rPr lang="en-US" sz="1600" dirty="0"/>
              <a:t>Reduce the need for upfront capital investment in hardware and software.</a:t>
            </a:r>
          </a:p>
        </p:txBody>
      </p:sp>
      <p:sp>
        <p:nvSpPr>
          <p:cNvPr id="7" name="Rectangle 6"/>
          <p:cNvSpPr/>
          <p:nvPr/>
        </p:nvSpPr>
        <p:spPr>
          <a:xfrm>
            <a:off x="5943600" y="1060430"/>
            <a:ext cx="2743200" cy="3539430"/>
          </a:xfrm>
          <a:prstGeom prst="rect">
            <a:avLst/>
          </a:prstGeom>
        </p:spPr>
        <p:txBody>
          <a:bodyPr wrap="square">
            <a:spAutoFit/>
          </a:bodyPr>
          <a:lstStyle/>
          <a:p>
            <a:r>
              <a:rPr lang="en-US" sz="1600" b="1" dirty="0"/>
              <a:t>Accessibility</a:t>
            </a:r>
          </a:p>
          <a:p>
            <a:endParaRPr lang="en-US" sz="1600" b="1" dirty="0"/>
          </a:p>
          <a:p>
            <a:r>
              <a:rPr lang="en-US" sz="1600" dirty="0"/>
              <a:t>Access services and data from anywhere with an internet connection.</a:t>
            </a:r>
          </a:p>
          <a:p>
            <a:endParaRPr lang="en-IN" sz="1600" dirty="0"/>
          </a:p>
          <a:p>
            <a:endParaRPr lang="en-IN" sz="1600" dirty="0"/>
          </a:p>
          <a:p>
            <a:endParaRPr lang="en-US" sz="1600" dirty="0"/>
          </a:p>
          <a:p>
            <a:r>
              <a:rPr lang="en-US" sz="1600" b="1" dirty="0"/>
              <a:t>Security</a:t>
            </a:r>
          </a:p>
          <a:p>
            <a:endParaRPr lang="en-US" sz="1600" b="1" dirty="0"/>
          </a:p>
          <a:p>
            <a:r>
              <a:rPr lang="en-US" sz="1600" dirty="0"/>
              <a:t>Leverage advanced security measures and compliance certifications offered by cloud providers.</a:t>
            </a:r>
          </a:p>
        </p:txBody>
      </p:sp>
      <p:pic>
        <p:nvPicPr>
          <p:cNvPr id="35842" name="Picture 2" descr="C:\Pankaj\Reet Technologies\Files,Artwork &amp; Mktg\advantages-of-cloud-computing.png"/>
          <p:cNvPicPr>
            <a:picLocks noChangeAspect="1" noChangeArrowheads="1"/>
          </p:cNvPicPr>
          <p:nvPr/>
        </p:nvPicPr>
        <p:blipFill>
          <a:blip r:embed="rId3"/>
          <a:srcRect/>
          <a:stretch>
            <a:fillRect/>
          </a:stretch>
        </p:blipFill>
        <p:spPr bwMode="auto">
          <a:xfrm>
            <a:off x="2743200" y="1200150"/>
            <a:ext cx="3151909" cy="312039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285750"/>
            <a:ext cx="5105400" cy="609600"/>
          </a:xfrm>
          <a:prstGeom prst="rect">
            <a:avLst/>
          </a:prstGeom>
        </p:spPr>
        <p:txBody>
          <a:bodyPr vert="horz" lIns="91440" tIns="45720" rIns="91440" bIns="45720" rtlCol="0">
            <a:normAutofit fontScale="85000" lnSpcReduction="10000"/>
          </a:bodyPr>
          <a:lstStyle/>
          <a:p>
            <a:r>
              <a:rPr lang="en-US" sz="3200" b="1" dirty="0"/>
              <a:t>What is Database Management?</a:t>
            </a:r>
          </a:p>
        </p:txBody>
      </p:sp>
      <p:sp>
        <p:nvSpPr>
          <p:cNvPr id="6" name="Rectangle 5"/>
          <p:cNvSpPr/>
          <p:nvPr/>
        </p:nvSpPr>
        <p:spPr>
          <a:xfrm>
            <a:off x="457200" y="971550"/>
            <a:ext cx="3962400" cy="2800767"/>
          </a:xfrm>
          <a:prstGeom prst="rect">
            <a:avLst/>
          </a:prstGeom>
        </p:spPr>
        <p:txBody>
          <a:bodyPr wrap="square">
            <a:spAutoFit/>
          </a:bodyPr>
          <a:lstStyle/>
          <a:p>
            <a:r>
              <a:rPr lang="en-US" sz="1600" b="1" dirty="0"/>
              <a:t>Relational Database Management System (RDBMS)</a:t>
            </a:r>
          </a:p>
          <a:p>
            <a:endParaRPr lang="en-US" sz="1600" b="1" dirty="0"/>
          </a:p>
          <a:p>
            <a:r>
              <a:rPr lang="en-US" sz="1600" dirty="0"/>
              <a:t>Organizes data into tables (relations) consisting of rows and columns. </a:t>
            </a:r>
          </a:p>
          <a:p>
            <a:endParaRPr lang="en-US" sz="1600" dirty="0"/>
          </a:p>
          <a:p>
            <a:r>
              <a:rPr lang="en-US" sz="1600" dirty="0"/>
              <a:t>Uses Structured Query Language (SQL) for querying and managing data. </a:t>
            </a:r>
          </a:p>
          <a:p>
            <a:endParaRPr lang="en-US" sz="1600" dirty="0"/>
          </a:p>
          <a:p>
            <a:r>
              <a:rPr lang="en-US" sz="1600" dirty="0"/>
              <a:t>Examples: </a:t>
            </a:r>
            <a:r>
              <a:rPr lang="en-US" sz="1600" dirty="0" err="1"/>
              <a:t>MySQL</a:t>
            </a:r>
            <a:r>
              <a:rPr lang="en-US" sz="1600" dirty="0"/>
              <a:t>, </a:t>
            </a:r>
            <a:r>
              <a:rPr lang="en-US" sz="1600" dirty="0" err="1"/>
              <a:t>PostgreSQL</a:t>
            </a:r>
            <a:r>
              <a:rPr lang="en-US" sz="1600" dirty="0"/>
              <a:t>, Oracle Database, Microsoft SQL Server.</a:t>
            </a:r>
          </a:p>
        </p:txBody>
      </p:sp>
      <p:sp>
        <p:nvSpPr>
          <p:cNvPr id="7" name="Rectangle 6"/>
          <p:cNvSpPr/>
          <p:nvPr/>
        </p:nvSpPr>
        <p:spPr>
          <a:xfrm>
            <a:off x="4572000" y="971550"/>
            <a:ext cx="4191000" cy="3046988"/>
          </a:xfrm>
          <a:prstGeom prst="rect">
            <a:avLst/>
          </a:prstGeom>
        </p:spPr>
        <p:txBody>
          <a:bodyPr wrap="square">
            <a:spAutoFit/>
          </a:bodyPr>
          <a:lstStyle/>
          <a:p>
            <a:r>
              <a:rPr lang="en-US" sz="1600" b="1" dirty="0" err="1"/>
              <a:t>NoSQL</a:t>
            </a:r>
            <a:r>
              <a:rPr lang="en-US" sz="1600" b="1" dirty="0"/>
              <a:t> Database</a:t>
            </a:r>
          </a:p>
          <a:p>
            <a:endParaRPr lang="en-US" sz="1600" b="1" dirty="0"/>
          </a:p>
          <a:p>
            <a:r>
              <a:rPr lang="en-US" sz="1600" dirty="0"/>
              <a:t>Designed for unstructured or semi-structured data, offering flexible schema design. </a:t>
            </a:r>
          </a:p>
          <a:p>
            <a:endParaRPr lang="en-US" sz="1600" dirty="0"/>
          </a:p>
          <a:p>
            <a:r>
              <a:rPr lang="en-US" sz="1600" dirty="0"/>
              <a:t>Supports a variety of data models, including document, key-value, column-family, and graph. </a:t>
            </a:r>
          </a:p>
          <a:p>
            <a:endParaRPr lang="en-US" sz="1600" dirty="0"/>
          </a:p>
          <a:p>
            <a:endParaRPr lang="en-US" sz="1600" dirty="0"/>
          </a:p>
          <a:p>
            <a:r>
              <a:rPr lang="en-US" sz="1600" dirty="0"/>
              <a:t>Examples: </a:t>
            </a:r>
            <a:r>
              <a:rPr lang="en-US" sz="1600" dirty="0" err="1"/>
              <a:t>MongoDB</a:t>
            </a:r>
            <a:r>
              <a:rPr lang="en-US" sz="1600" dirty="0"/>
              <a:t> (document), </a:t>
            </a:r>
            <a:r>
              <a:rPr lang="en-US" sz="1600" dirty="0" err="1"/>
              <a:t>Redis</a:t>
            </a:r>
            <a:r>
              <a:rPr lang="en-US" sz="1600" dirty="0"/>
              <a:t> (key-value), Cassandra (column-family), Neo4j (graph).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819400" y="133350"/>
            <a:ext cx="3810000" cy="609600"/>
          </a:xfrm>
          <a:prstGeom prst="rect">
            <a:avLst/>
          </a:prstGeom>
        </p:spPr>
        <p:txBody>
          <a:bodyPr vert="horz" lIns="91440" tIns="45720" rIns="91440" bIns="45720" rtlCol="0">
            <a:normAutofit/>
          </a:bodyPr>
          <a:lstStyle/>
          <a:p>
            <a:pPr algn="ctr"/>
            <a:r>
              <a:rPr lang="en-US" sz="3200" b="1" dirty="0"/>
              <a:t>Database Systems</a:t>
            </a:r>
          </a:p>
        </p:txBody>
      </p:sp>
      <p:sp>
        <p:nvSpPr>
          <p:cNvPr id="6" name="Rectangle 5"/>
          <p:cNvSpPr/>
          <p:nvPr/>
        </p:nvSpPr>
        <p:spPr>
          <a:xfrm>
            <a:off x="533400" y="819151"/>
            <a:ext cx="3886200" cy="2057400"/>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600" b="1" dirty="0"/>
              <a:t>Object-Oriented Database Management System (OODBMS)</a:t>
            </a:r>
          </a:p>
          <a:p>
            <a:pPr algn="just"/>
            <a:endParaRPr lang="en-US" sz="1600" b="1" dirty="0"/>
          </a:p>
          <a:p>
            <a:pPr algn="just"/>
            <a:r>
              <a:rPr lang="en-US" sz="1600" dirty="0"/>
              <a:t>Stores data in the form of objects, as used in object-oriented programming. Integrates with object-oriented programming languages for seamless data management. Examples: </a:t>
            </a:r>
            <a:r>
              <a:rPr lang="en-US" sz="1600" dirty="0" err="1"/>
              <a:t>ObjectDB</a:t>
            </a:r>
            <a:r>
              <a:rPr lang="en-US" sz="1600" dirty="0"/>
              <a:t>, db4o.</a:t>
            </a:r>
          </a:p>
        </p:txBody>
      </p:sp>
      <p:sp>
        <p:nvSpPr>
          <p:cNvPr id="7" name="Rectangle 6"/>
          <p:cNvSpPr/>
          <p:nvPr/>
        </p:nvSpPr>
        <p:spPr>
          <a:xfrm>
            <a:off x="4648200" y="819150"/>
            <a:ext cx="4114800" cy="2057400"/>
          </a:xfrm>
          <a:prstGeom prst="rect">
            <a:avLst/>
          </a:prstGeom>
          <a:solidFill>
            <a:schemeClr val="accent2">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600" b="1" dirty="0"/>
              <a:t>Hierarchical Database Management System (HDBMS)</a:t>
            </a:r>
          </a:p>
          <a:p>
            <a:pPr algn="just"/>
            <a:endParaRPr lang="en-US" sz="1600" b="1" dirty="0"/>
          </a:p>
          <a:p>
            <a:pPr algn="just"/>
            <a:r>
              <a:rPr lang="en-US" sz="1600" dirty="0"/>
              <a:t>Organizes data in a tree-like structure with parent-child relationships. Efficient for applications with hierarchical data structures. Examples: IBM Information Management System (IMS).</a:t>
            </a:r>
          </a:p>
        </p:txBody>
      </p:sp>
      <p:sp>
        <p:nvSpPr>
          <p:cNvPr id="8" name="Rectangle 7"/>
          <p:cNvSpPr/>
          <p:nvPr/>
        </p:nvSpPr>
        <p:spPr>
          <a:xfrm>
            <a:off x="533400" y="3041868"/>
            <a:ext cx="3886200" cy="181588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600" b="1" dirty="0"/>
              <a:t>Network Database Management System (NDBMS)</a:t>
            </a:r>
          </a:p>
          <a:p>
            <a:pPr algn="just"/>
            <a:r>
              <a:rPr lang="en-US" sz="1600" dirty="0"/>
              <a:t>Similar to HDBMS but allows more complex relationships with a graph-like structure. Supports many-to-many relationships between data entities. Examples: Integrated Data Store (IDS), </a:t>
            </a:r>
            <a:r>
              <a:rPr lang="en-US" sz="1600" dirty="0" err="1"/>
              <a:t>Raima</a:t>
            </a:r>
            <a:r>
              <a:rPr lang="en-US" sz="1600" dirty="0"/>
              <a:t> Database Manager.</a:t>
            </a:r>
          </a:p>
        </p:txBody>
      </p:sp>
      <p:sp>
        <p:nvSpPr>
          <p:cNvPr id="9" name="Rectangle 8"/>
          <p:cNvSpPr/>
          <p:nvPr/>
        </p:nvSpPr>
        <p:spPr>
          <a:xfrm>
            <a:off x="4648200" y="3041868"/>
            <a:ext cx="4114800" cy="1815882"/>
          </a:xfrm>
          <a:prstGeom prst="rect">
            <a:avLst/>
          </a:prstGeom>
          <a:solidFill>
            <a:srgbClr val="92D050"/>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1600" b="1" dirty="0"/>
              <a:t>Columnar Database Management System</a:t>
            </a:r>
          </a:p>
          <a:p>
            <a:pPr algn="just"/>
            <a:endParaRPr lang="en-US" sz="1600" b="1" dirty="0"/>
          </a:p>
          <a:p>
            <a:pPr algn="just"/>
            <a:r>
              <a:rPr lang="en-US" sz="1600" dirty="0"/>
              <a:t>Stores data by columns rather than rows, optimized for read-heavy operations. Suitable for data warehousing and analytics. Examples: Apache </a:t>
            </a:r>
            <a:r>
              <a:rPr lang="en-US" sz="1600" dirty="0" err="1"/>
              <a:t>HBase</a:t>
            </a:r>
            <a:r>
              <a:rPr lang="en-US" sz="1600" dirty="0"/>
              <a:t>, Google </a:t>
            </a:r>
            <a:r>
              <a:rPr lang="en-US" sz="1600" dirty="0" err="1"/>
              <a:t>Bigtable</a:t>
            </a:r>
            <a:r>
              <a:rPr lang="en-US" sz="1600" dirty="0"/>
              <a:t>.</a:t>
            </a:r>
          </a:p>
          <a:p>
            <a:pPr algn="just"/>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914400" y="285750"/>
            <a:ext cx="7162800" cy="609600"/>
          </a:xfrm>
          <a:prstGeom prst="rect">
            <a:avLst/>
          </a:prstGeom>
        </p:spPr>
        <p:txBody>
          <a:bodyPr vert="horz" lIns="91440" tIns="45720" rIns="91440" bIns="45720" rtlCol="0">
            <a:noAutofit/>
          </a:bodyPr>
          <a:lstStyle/>
          <a:p>
            <a:r>
              <a:rPr lang="en-US" sz="3200" b="1" dirty="0"/>
              <a:t>Database Management Systems (DBMS)</a:t>
            </a:r>
          </a:p>
        </p:txBody>
      </p:sp>
      <p:sp>
        <p:nvSpPr>
          <p:cNvPr id="5" name="Rectangle 4"/>
          <p:cNvSpPr/>
          <p:nvPr/>
        </p:nvSpPr>
        <p:spPr>
          <a:xfrm>
            <a:off x="609600" y="1276350"/>
            <a:ext cx="3657600" cy="2554545"/>
          </a:xfrm>
          <a:prstGeom prst="rect">
            <a:avLst/>
          </a:prstGeom>
        </p:spPr>
        <p:txBody>
          <a:bodyPr wrap="square">
            <a:spAutoFit/>
          </a:bodyPr>
          <a:lstStyle/>
          <a:p>
            <a:pPr algn="just"/>
            <a:r>
              <a:rPr lang="en-US" sz="1600" dirty="0"/>
              <a:t>Database Management Systems (DBMS) are software applications that are used to create, maintain, and access databases. </a:t>
            </a:r>
          </a:p>
          <a:p>
            <a:pPr algn="just"/>
            <a:endParaRPr lang="en-US" sz="1600" dirty="0"/>
          </a:p>
          <a:p>
            <a:pPr algn="just"/>
            <a:r>
              <a:rPr lang="en-US" sz="1600" dirty="0"/>
              <a:t>They provide a structured way to store, organize, and retrieve data, making it easier to manage and analyze information. There are different types of DBMS, each with its own strengths and weaknesses.</a:t>
            </a:r>
          </a:p>
        </p:txBody>
      </p:sp>
      <p:pic>
        <p:nvPicPr>
          <p:cNvPr id="7169" name="Picture 1" descr="C:\Pankaj\Reet Technologies\Files,Artwork &amp; Mktg\database-blue.png"/>
          <p:cNvPicPr>
            <a:picLocks noChangeAspect="1" noChangeArrowheads="1"/>
          </p:cNvPicPr>
          <p:nvPr/>
        </p:nvPicPr>
        <p:blipFill>
          <a:blip r:embed="rId3"/>
          <a:srcRect/>
          <a:stretch>
            <a:fillRect/>
          </a:stretch>
        </p:blipFill>
        <p:spPr bwMode="auto">
          <a:xfrm>
            <a:off x="4800600" y="1276350"/>
            <a:ext cx="3962400" cy="2264229"/>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209550"/>
            <a:ext cx="5105400" cy="609600"/>
          </a:xfrm>
          <a:prstGeom prst="rect">
            <a:avLst/>
          </a:prstGeom>
        </p:spPr>
        <p:txBody>
          <a:bodyPr vert="horz" lIns="91440" tIns="45720" rIns="91440" bIns="45720" rtlCol="0">
            <a:normAutofit fontScale="85000" lnSpcReduction="10000"/>
          </a:bodyPr>
          <a:lstStyle/>
          <a:p>
            <a:r>
              <a:rPr lang="en-US" sz="3200" b="1" dirty="0"/>
              <a:t>Types of Database Management</a:t>
            </a:r>
          </a:p>
        </p:txBody>
      </p:sp>
      <p:sp>
        <p:nvSpPr>
          <p:cNvPr id="5" name="Rectangle 4"/>
          <p:cNvSpPr/>
          <p:nvPr/>
        </p:nvSpPr>
        <p:spPr>
          <a:xfrm>
            <a:off x="609600" y="819150"/>
            <a:ext cx="5257800" cy="1200329"/>
          </a:xfrm>
          <a:prstGeom prst="rect">
            <a:avLst/>
          </a:prstGeom>
        </p:spPr>
        <p:txBody>
          <a:bodyPr wrap="square">
            <a:spAutoFit/>
          </a:bodyPr>
          <a:lstStyle/>
          <a:p>
            <a:pPr algn="just"/>
            <a:endParaRPr lang="en-US" dirty="0"/>
          </a:p>
          <a:p>
            <a:pPr algn="just"/>
            <a:r>
              <a:rPr lang="en-US" b="1" dirty="0"/>
              <a:t>Distributed Database Management System (DDBMS)</a:t>
            </a:r>
          </a:p>
          <a:p>
            <a:pPr algn="just"/>
            <a:r>
              <a:rPr lang="en-US" dirty="0"/>
              <a:t>Data is distributed across multiple physical locations.</a:t>
            </a:r>
          </a:p>
          <a:p>
            <a:pPr algn="just"/>
            <a:endParaRPr lang="en-US" dirty="0"/>
          </a:p>
        </p:txBody>
      </p:sp>
      <p:pic>
        <p:nvPicPr>
          <p:cNvPr id="6146" name="Picture 2" descr="C:\Pankaj\Reet Technologies\Files,Artwork &amp; Mktg\kf_typesofdbms_oct23-300x224.png"/>
          <p:cNvPicPr>
            <a:picLocks noChangeAspect="1" noChangeArrowheads="1"/>
          </p:cNvPicPr>
          <p:nvPr/>
        </p:nvPicPr>
        <p:blipFill>
          <a:blip r:embed="rId3"/>
          <a:srcRect/>
          <a:stretch>
            <a:fillRect/>
          </a:stretch>
        </p:blipFill>
        <p:spPr bwMode="auto">
          <a:xfrm>
            <a:off x="6019800" y="895350"/>
            <a:ext cx="2857500" cy="37338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133350"/>
            <a:ext cx="5105400" cy="609600"/>
          </a:xfrm>
          <a:prstGeom prst="rect">
            <a:avLst/>
          </a:prstGeom>
        </p:spPr>
        <p:txBody>
          <a:bodyPr vert="horz" lIns="91440" tIns="45720" rIns="91440" bIns="45720" rtlCol="0">
            <a:normAutofit/>
          </a:bodyPr>
          <a:lstStyle/>
          <a:p>
            <a:r>
              <a:rPr lang="en-US" sz="3200" b="1" dirty="0"/>
              <a:t>Key Functions of DBMS</a:t>
            </a:r>
          </a:p>
        </p:txBody>
      </p:sp>
      <p:graphicFrame>
        <p:nvGraphicFramePr>
          <p:cNvPr id="6" name="Table 5"/>
          <p:cNvGraphicFramePr>
            <a:graphicFrameLocks noGrp="1"/>
          </p:cNvGraphicFramePr>
          <p:nvPr/>
        </p:nvGraphicFramePr>
        <p:xfrm>
          <a:off x="1447800" y="819150"/>
          <a:ext cx="6400800" cy="4012356"/>
        </p:xfrm>
        <a:graphic>
          <a:graphicData uri="http://schemas.openxmlformats.org/drawingml/2006/table">
            <a:tbl>
              <a:tblPr>
                <a:tableStyleId>{5940675A-B579-460E-94D1-54222C63F5DA}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32646">
                <a:tc>
                  <a:txBody>
                    <a:bodyPr/>
                    <a:lstStyle/>
                    <a:p>
                      <a:r>
                        <a:rPr lang="en-US" sz="1600" dirty="0"/>
                        <a:t>Data Storage and Retrieval</a:t>
                      </a:r>
                    </a:p>
                  </a:txBody>
                  <a:tcPr marL="67733" marR="67733" marT="33867" marB="33867" anchor="ctr"/>
                </a:tc>
                <a:tc>
                  <a:txBody>
                    <a:bodyPr/>
                    <a:lstStyle/>
                    <a:p>
                      <a:r>
                        <a:rPr lang="en-US" sz="1600"/>
                        <a:t>Efficiently stores and retrieves data as required.</a:t>
                      </a:r>
                    </a:p>
                  </a:txBody>
                  <a:tcPr marL="67733" marR="67733" marT="33867" marB="33867" anchor="ctr"/>
                </a:tc>
                <a:extLst>
                  <a:ext uri="{0D108BD9-81ED-4DB2-BD59-A6C34878D82A}">
                    <a16:rowId xmlns:a16="http://schemas.microsoft.com/office/drawing/2014/main" val="10000"/>
                  </a:ext>
                </a:extLst>
              </a:tr>
              <a:tr h="618067">
                <a:tc>
                  <a:txBody>
                    <a:bodyPr/>
                    <a:lstStyle/>
                    <a:p>
                      <a:r>
                        <a:rPr lang="en-US" sz="1600" dirty="0"/>
                        <a:t>Data Security</a:t>
                      </a:r>
                    </a:p>
                  </a:txBody>
                  <a:tcPr marL="67733" marR="67733" marT="33867" marB="33867" anchor="ctr"/>
                </a:tc>
                <a:tc>
                  <a:txBody>
                    <a:bodyPr/>
                    <a:lstStyle/>
                    <a:p>
                      <a:r>
                        <a:rPr lang="en-US" sz="1600"/>
                        <a:t>Protects data against unauthorized access and breaches.</a:t>
                      </a:r>
                    </a:p>
                  </a:txBody>
                  <a:tcPr marL="67733" marR="67733" marT="33867" marB="33867" anchor="ctr"/>
                </a:tc>
                <a:extLst>
                  <a:ext uri="{0D108BD9-81ED-4DB2-BD59-A6C34878D82A}">
                    <a16:rowId xmlns:a16="http://schemas.microsoft.com/office/drawing/2014/main" val="10001"/>
                  </a:ext>
                </a:extLst>
              </a:tr>
              <a:tr h="618067">
                <a:tc>
                  <a:txBody>
                    <a:bodyPr/>
                    <a:lstStyle/>
                    <a:p>
                      <a:r>
                        <a:rPr lang="en-US" sz="1600"/>
                        <a:t>Data Integrity</a:t>
                      </a:r>
                    </a:p>
                  </a:txBody>
                  <a:tcPr marL="67733" marR="67733" marT="33867" marB="33867" anchor="ctr"/>
                </a:tc>
                <a:tc>
                  <a:txBody>
                    <a:bodyPr/>
                    <a:lstStyle/>
                    <a:p>
                      <a:r>
                        <a:rPr lang="en-US" sz="1600" dirty="0"/>
                        <a:t>Maintains accuracy and consistency of data over its lifecycle.</a:t>
                      </a:r>
                    </a:p>
                  </a:txBody>
                  <a:tcPr marL="67733" marR="67733" marT="33867" marB="33867" anchor="ctr"/>
                </a:tc>
                <a:extLst>
                  <a:ext uri="{0D108BD9-81ED-4DB2-BD59-A6C34878D82A}">
                    <a16:rowId xmlns:a16="http://schemas.microsoft.com/office/drawing/2014/main" val="10002"/>
                  </a:ext>
                </a:extLst>
              </a:tr>
              <a:tr h="618067">
                <a:tc>
                  <a:txBody>
                    <a:bodyPr/>
                    <a:lstStyle/>
                    <a:p>
                      <a:r>
                        <a:rPr lang="en-US" sz="1600"/>
                        <a:t>Backup and Recovery</a:t>
                      </a:r>
                    </a:p>
                  </a:txBody>
                  <a:tcPr marL="67733" marR="67733" marT="33867" marB="33867" anchor="ctr"/>
                </a:tc>
                <a:tc>
                  <a:txBody>
                    <a:bodyPr/>
                    <a:lstStyle/>
                    <a:p>
                      <a:r>
                        <a:rPr lang="en-US" sz="1600"/>
                        <a:t>Provides mechanisms for data backup and recovery in case of failures.</a:t>
                      </a:r>
                    </a:p>
                  </a:txBody>
                  <a:tcPr marL="67733" marR="67733" marT="33867" marB="33867" anchor="ctr"/>
                </a:tc>
                <a:extLst>
                  <a:ext uri="{0D108BD9-81ED-4DB2-BD59-A6C34878D82A}">
                    <a16:rowId xmlns:a16="http://schemas.microsoft.com/office/drawing/2014/main" val="10003"/>
                  </a:ext>
                </a:extLst>
              </a:tr>
              <a:tr h="618067">
                <a:tc>
                  <a:txBody>
                    <a:bodyPr/>
                    <a:lstStyle/>
                    <a:p>
                      <a:r>
                        <a:rPr lang="en-US" sz="1600"/>
                        <a:t>Concurrency Control</a:t>
                      </a:r>
                    </a:p>
                  </a:txBody>
                  <a:tcPr marL="67733" marR="67733" marT="33867" marB="33867" anchor="ctr"/>
                </a:tc>
                <a:tc>
                  <a:txBody>
                    <a:bodyPr/>
                    <a:lstStyle/>
                    <a:p>
                      <a:r>
                        <a:rPr lang="en-US" sz="1600"/>
                        <a:t>Manages simultaneous data access by multiple users without conflicts.</a:t>
                      </a:r>
                    </a:p>
                  </a:txBody>
                  <a:tcPr marL="67733" marR="67733" marT="33867" marB="33867" anchor="ctr"/>
                </a:tc>
                <a:extLst>
                  <a:ext uri="{0D108BD9-81ED-4DB2-BD59-A6C34878D82A}">
                    <a16:rowId xmlns:a16="http://schemas.microsoft.com/office/drawing/2014/main" val="10004"/>
                  </a:ext>
                </a:extLst>
              </a:tr>
              <a:tr h="803487">
                <a:tc>
                  <a:txBody>
                    <a:bodyPr/>
                    <a:lstStyle/>
                    <a:p>
                      <a:r>
                        <a:rPr lang="en-US" sz="1600"/>
                        <a:t>Data Management</a:t>
                      </a:r>
                    </a:p>
                  </a:txBody>
                  <a:tcPr marL="67733" marR="67733" marT="33867" marB="33867" anchor="ctr"/>
                </a:tc>
                <a:tc>
                  <a:txBody>
                    <a:bodyPr/>
                    <a:lstStyle/>
                    <a:p>
                      <a:r>
                        <a:rPr lang="en-US" sz="1600" dirty="0"/>
                        <a:t>Supports data modeling, indexing, and query optimization for efficient data processing.</a:t>
                      </a:r>
                    </a:p>
                  </a:txBody>
                  <a:tcPr marL="67733" marR="67733" marT="33867" marB="33867"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742950"/>
            <a:ext cx="5105400" cy="2286000"/>
          </a:xfrm>
          <a:prstGeom prst="rect">
            <a:avLst/>
          </a:prstGeom>
        </p:spPr>
        <p:txBody>
          <a:bodyPr vert="horz" lIns="91440" tIns="45720" rIns="91440" bIns="45720" rtlCol="0">
            <a:noAutofit/>
          </a:bodyPr>
          <a:lstStyle/>
          <a:p>
            <a:pPr algn="ctr"/>
            <a:r>
              <a:rPr lang="en-US" sz="5500" b="1" dirty="0"/>
              <a:t>Technologies &amp; Technical Stacks</a:t>
            </a:r>
          </a:p>
        </p:txBody>
      </p:sp>
      <p:pic>
        <p:nvPicPr>
          <p:cNvPr id="4097" name="Picture 1" descr="C:\Pankaj\Reet Technologies\Files,Artwork &amp; Mktg\download.jpeg"/>
          <p:cNvPicPr>
            <a:picLocks noChangeAspect="1" noChangeArrowheads="1"/>
          </p:cNvPicPr>
          <p:nvPr/>
        </p:nvPicPr>
        <p:blipFill>
          <a:blip r:embed="rId3"/>
          <a:srcRect/>
          <a:stretch>
            <a:fillRect/>
          </a:stretch>
        </p:blipFill>
        <p:spPr bwMode="auto">
          <a:xfrm>
            <a:off x="0" y="2700974"/>
            <a:ext cx="4648200" cy="2442526"/>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133600" y="285750"/>
            <a:ext cx="5105400" cy="609600"/>
          </a:xfrm>
          <a:prstGeom prst="rect">
            <a:avLst/>
          </a:prstGeom>
        </p:spPr>
        <p:txBody>
          <a:bodyPr vert="horz" lIns="91440" tIns="45720" rIns="91440" bIns="45720" rtlCol="0">
            <a:normAutofit fontScale="85000" lnSpcReduction="10000"/>
          </a:bodyPr>
          <a:lstStyle/>
          <a:p>
            <a:r>
              <a:rPr lang="en-US" sz="3200" b="1" dirty="0"/>
              <a:t>Technologies &amp; Technical Stacks</a:t>
            </a:r>
          </a:p>
        </p:txBody>
      </p:sp>
      <p:sp>
        <p:nvSpPr>
          <p:cNvPr id="5" name="Rectangle 4"/>
          <p:cNvSpPr/>
          <p:nvPr/>
        </p:nvSpPr>
        <p:spPr>
          <a:xfrm>
            <a:off x="609600" y="819150"/>
            <a:ext cx="3657600" cy="2862322"/>
          </a:xfrm>
          <a:prstGeom prst="rect">
            <a:avLst/>
          </a:prstGeom>
        </p:spPr>
        <p:txBody>
          <a:bodyPr wrap="square">
            <a:spAutoFit/>
          </a:bodyPr>
          <a:lstStyle/>
          <a:p>
            <a:pPr algn="just"/>
            <a:r>
              <a:rPr lang="en-US" b="1" dirty="0"/>
              <a:t>Programming Languages</a:t>
            </a:r>
          </a:p>
          <a:p>
            <a:pPr algn="just"/>
            <a:r>
              <a:rPr lang="en-US" dirty="0"/>
              <a:t>A programming language is a formal set of instructions that a programmer uses to communicate with a computer. These instructions are written in a syntax and grammar that the computer can understand and execute to perform specific tasks or solve problems.</a:t>
            </a:r>
          </a:p>
          <a:p>
            <a:pPr algn="just"/>
            <a:endParaRPr lang="en-US" b="1" dirty="0"/>
          </a:p>
        </p:txBody>
      </p:sp>
      <p:pic>
        <p:nvPicPr>
          <p:cNvPr id="4097" name="Picture 1" descr="C:\Pankaj\Reet Technologies\Files,Artwork &amp; Mktg\download.jpeg"/>
          <p:cNvPicPr>
            <a:picLocks noChangeAspect="1" noChangeArrowheads="1"/>
          </p:cNvPicPr>
          <p:nvPr/>
        </p:nvPicPr>
        <p:blipFill>
          <a:blip r:embed="rId3"/>
          <a:srcRect/>
          <a:stretch>
            <a:fillRect/>
          </a:stretch>
        </p:blipFill>
        <p:spPr bwMode="auto">
          <a:xfrm>
            <a:off x="4495800" y="971550"/>
            <a:ext cx="4648200" cy="2442526"/>
          </a:xfrm>
          <a:prstGeom prst="rect">
            <a:avLst/>
          </a:prstGeom>
          <a:noFill/>
        </p:spPr>
      </p:pic>
      <p:sp>
        <p:nvSpPr>
          <p:cNvPr id="7" name="Rectangle 6"/>
          <p:cNvSpPr/>
          <p:nvPr/>
        </p:nvSpPr>
        <p:spPr>
          <a:xfrm>
            <a:off x="685800" y="3638550"/>
            <a:ext cx="7391400" cy="646331"/>
          </a:xfrm>
          <a:prstGeom prst="rect">
            <a:avLst/>
          </a:prstGeom>
        </p:spPr>
        <p:txBody>
          <a:bodyPr wrap="square">
            <a:spAutoFit/>
          </a:bodyPr>
          <a:lstStyle/>
          <a:p>
            <a:pPr algn="just"/>
            <a:r>
              <a:rPr lang="en-US" dirty="0"/>
              <a:t>Used to write software code.</a:t>
            </a:r>
          </a:p>
          <a:p>
            <a:pPr algn="just"/>
            <a:r>
              <a:rPr lang="en-US" b="1" dirty="0"/>
              <a:t>Python, Java, JavaScript, C#, Ruby on Rails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228600" y="666750"/>
            <a:ext cx="4114800" cy="4031873"/>
          </a:xfrm>
          <a:prstGeom prst="rect">
            <a:avLst/>
          </a:prstGeom>
        </p:spPr>
        <p:txBody>
          <a:bodyPr wrap="square">
            <a:spAutoFit/>
          </a:bodyPr>
          <a:lstStyle/>
          <a:p>
            <a:pPr algn="just"/>
            <a:endParaRPr lang="en-US" sz="1600" b="1" dirty="0"/>
          </a:p>
          <a:p>
            <a:pPr algn="just"/>
            <a:r>
              <a:rPr lang="en-US" sz="1600" dirty="0"/>
              <a:t>framework in software development is a reusable, pre-built structure or set of tools that provides a foundation for building and organizing applications. It offers a consistent and organized way to develop software by providing standard ways to handle common tasks, enforce best practices, and integrate various components</a:t>
            </a:r>
            <a:endParaRPr lang="en-US" sz="1600" b="1" dirty="0"/>
          </a:p>
          <a:p>
            <a:pPr algn="just"/>
            <a:r>
              <a:rPr lang="en-US" sz="1600" dirty="0"/>
              <a:t>Provide reusable code and tools to speed up development.</a:t>
            </a:r>
          </a:p>
          <a:p>
            <a:pPr algn="just"/>
            <a:endParaRPr lang="en-US" sz="1600" dirty="0"/>
          </a:p>
          <a:p>
            <a:pPr algn="just"/>
            <a:r>
              <a:rPr lang="en-US" sz="1600" dirty="0"/>
              <a:t>•</a:t>
            </a:r>
            <a:r>
              <a:rPr lang="en-US" sz="1600" b="1" dirty="0"/>
              <a:t>Web Development</a:t>
            </a:r>
            <a:r>
              <a:rPr lang="en-US" sz="1600" dirty="0"/>
              <a:t>: React JS, Angular, Vue.js (front-end); Express, </a:t>
            </a:r>
            <a:r>
              <a:rPr lang="en-US" sz="1600" dirty="0" err="1"/>
              <a:t>Django</a:t>
            </a:r>
            <a:r>
              <a:rPr lang="en-US" sz="1600" dirty="0"/>
              <a:t>, Flask (back-end).</a:t>
            </a:r>
          </a:p>
          <a:p>
            <a:pPr algn="just"/>
            <a:r>
              <a:rPr lang="en-US" sz="1600" dirty="0"/>
              <a:t>•</a:t>
            </a:r>
            <a:r>
              <a:rPr lang="en-US" sz="1600" b="1" dirty="0"/>
              <a:t>Mobile App Development</a:t>
            </a:r>
            <a:r>
              <a:rPr lang="en-US" sz="1600" dirty="0"/>
              <a:t>: React Native, Flutter, Swift, </a:t>
            </a:r>
            <a:r>
              <a:rPr lang="en-US" sz="1600" dirty="0" err="1"/>
              <a:t>Kotlin</a:t>
            </a:r>
            <a:r>
              <a:rPr lang="en-US" sz="1600" dirty="0"/>
              <a:t>.</a:t>
            </a:r>
          </a:p>
        </p:txBody>
      </p:sp>
      <p:pic>
        <p:nvPicPr>
          <p:cNvPr id="3073" name="Picture 1" descr="C:\Pankaj\Reet Technologies\Files,Artwork &amp; Mktg\Comparison-table-Angular-vs.-React-vs.-Vue.jpg"/>
          <p:cNvPicPr>
            <a:picLocks noChangeAspect="1" noChangeArrowheads="1"/>
          </p:cNvPicPr>
          <p:nvPr/>
        </p:nvPicPr>
        <p:blipFill>
          <a:blip r:embed="rId3"/>
          <a:srcRect/>
          <a:stretch>
            <a:fillRect/>
          </a:stretch>
        </p:blipFill>
        <p:spPr bwMode="auto">
          <a:xfrm>
            <a:off x="4367213" y="1047750"/>
            <a:ext cx="4776787" cy="3340100"/>
          </a:xfrm>
          <a:prstGeom prst="rect">
            <a:avLst/>
          </a:prstGeom>
          <a:noFill/>
        </p:spPr>
      </p:pic>
      <p:sp>
        <p:nvSpPr>
          <p:cNvPr id="6" name="Rectangle 5"/>
          <p:cNvSpPr/>
          <p:nvPr/>
        </p:nvSpPr>
        <p:spPr>
          <a:xfrm>
            <a:off x="2590800" y="133350"/>
            <a:ext cx="4014882" cy="523220"/>
          </a:xfrm>
          <a:prstGeom prst="rect">
            <a:avLst/>
          </a:prstGeom>
        </p:spPr>
        <p:txBody>
          <a:bodyPr wrap="none">
            <a:spAutoFit/>
          </a:bodyPr>
          <a:lstStyle/>
          <a:p>
            <a:pPr algn="just"/>
            <a:r>
              <a:rPr lang="en-US" sz="2800" b="1" dirty="0"/>
              <a:t>Frameworks and Libraries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pic>
        <p:nvPicPr>
          <p:cNvPr id="1026" name="Picture 2" descr="C:\Pankaj\Reet Technologies\Files,Artwork &amp; Mktg\Front Back end.png"/>
          <p:cNvPicPr>
            <a:picLocks noChangeAspect="1" noChangeArrowheads="1"/>
          </p:cNvPicPr>
          <p:nvPr/>
        </p:nvPicPr>
        <p:blipFill>
          <a:blip r:embed="rId3"/>
          <a:srcRect/>
          <a:stretch>
            <a:fillRect/>
          </a:stretch>
        </p:blipFill>
        <p:spPr bwMode="auto">
          <a:xfrm>
            <a:off x="0" y="1"/>
            <a:ext cx="9144000" cy="5143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Content Placeholder 5"/>
          <p:cNvSpPr txBox="1">
            <a:spLocks/>
          </p:cNvSpPr>
          <p:nvPr/>
        </p:nvSpPr>
        <p:spPr>
          <a:xfrm>
            <a:off x="3124200" y="57150"/>
            <a:ext cx="3124200" cy="609600"/>
          </a:xfrm>
          <a:prstGeom prst="rect">
            <a:avLst/>
          </a:prstGeom>
        </p:spPr>
        <p:txBody>
          <a:bodyPr vert="horz" lIns="91440" tIns="45720" rIns="91440" bIns="45720" rtlCol="0">
            <a:normAutofit/>
          </a:bodyPr>
          <a:lstStyle/>
          <a:p>
            <a:r>
              <a:rPr lang="en-US" sz="3200" b="1" dirty="0"/>
              <a:t>Technical Stacks</a:t>
            </a:r>
          </a:p>
        </p:txBody>
      </p:sp>
      <p:sp>
        <p:nvSpPr>
          <p:cNvPr id="7" name="Rectangle 6"/>
          <p:cNvSpPr/>
          <p:nvPr/>
        </p:nvSpPr>
        <p:spPr>
          <a:xfrm>
            <a:off x="609600" y="3071158"/>
            <a:ext cx="3429000" cy="1754326"/>
          </a:xfrm>
          <a:prstGeom prst="rect">
            <a:avLst/>
          </a:prstGeom>
        </p:spPr>
        <p:txBody>
          <a:bodyPr wrap="square">
            <a:spAutoFit/>
          </a:bodyPr>
          <a:lstStyle/>
          <a:p>
            <a:r>
              <a:rPr lang="en-US" b="1" dirty="0"/>
              <a:t>LAMP Stack</a:t>
            </a:r>
          </a:p>
          <a:p>
            <a:r>
              <a:rPr lang="en-US" b="1" dirty="0"/>
              <a:t>L</a:t>
            </a:r>
            <a:r>
              <a:rPr lang="en-US" dirty="0"/>
              <a:t>inux: Operating system. </a:t>
            </a:r>
          </a:p>
          <a:p>
            <a:r>
              <a:rPr lang="en-US" b="1" dirty="0"/>
              <a:t>A</a:t>
            </a:r>
            <a:r>
              <a:rPr lang="en-US" dirty="0"/>
              <a:t>pache: Web server. </a:t>
            </a:r>
          </a:p>
          <a:p>
            <a:r>
              <a:rPr lang="en-US" b="1" dirty="0" err="1"/>
              <a:t>M</a:t>
            </a:r>
            <a:r>
              <a:rPr lang="en-US" dirty="0" err="1"/>
              <a:t>ySQL</a:t>
            </a:r>
            <a:r>
              <a:rPr lang="en-US" dirty="0"/>
              <a:t>: Relational database. </a:t>
            </a:r>
          </a:p>
          <a:p>
            <a:r>
              <a:rPr lang="en-US" b="1" dirty="0"/>
              <a:t>P</a:t>
            </a:r>
            <a:r>
              <a:rPr lang="en-US" dirty="0"/>
              <a:t>HP: Server-side scripting language.</a:t>
            </a:r>
          </a:p>
        </p:txBody>
      </p:sp>
      <p:sp>
        <p:nvSpPr>
          <p:cNvPr id="8" name="Rectangle 7"/>
          <p:cNvSpPr/>
          <p:nvPr/>
        </p:nvSpPr>
        <p:spPr>
          <a:xfrm>
            <a:off x="685800" y="742950"/>
            <a:ext cx="3581400" cy="2031325"/>
          </a:xfrm>
          <a:prstGeom prst="rect">
            <a:avLst/>
          </a:prstGeom>
        </p:spPr>
        <p:txBody>
          <a:bodyPr wrap="square">
            <a:spAutoFit/>
          </a:bodyPr>
          <a:lstStyle/>
          <a:p>
            <a:r>
              <a:rPr lang="en-US" b="1" dirty="0"/>
              <a:t>MEAN Stack</a:t>
            </a:r>
          </a:p>
          <a:p>
            <a:r>
              <a:rPr lang="en-US" b="1" dirty="0" err="1"/>
              <a:t>M</a:t>
            </a:r>
            <a:r>
              <a:rPr lang="en-US" dirty="0" err="1"/>
              <a:t>ongoDB</a:t>
            </a:r>
            <a:r>
              <a:rPr lang="en-US" dirty="0"/>
              <a:t>: </a:t>
            </a:r>
            <a:r>
              <a:rPr lang="en-US" dirty="0" err="1"/>
              <a:t>NoSQL</a:t>
            </a:r>
            <a:r>
              <a:rPr lang="en-US" dirty="0"/>
              <a:t> database. </a:t>
            </a:r>
            <a:r>
              <a:rPr lang="en-US" b="1" dirty="0"/>
              <a:t>E</a:t>
            </a:r>
            <a:r>
              <a:rPr lang="en-US" dirty="0"/>
              <a:t>xpress.js: Web application framework for Node.js. </a:t>
            </a:r>
          </a:p>
          <a:p>
            <a:r>
              <a:rPr lang="en-US" b="1" dirty="0"/>
              <a:t>A</a:t>
            </a:r>
            <a:r>
              <a:rPr lang="en-US" dirty="0"/>
              <a:t>ngular: Front-end web framework. </a:t>
            </a:r>
          </a:p>
          <a:p>
            <a:r>
              <a:rPr lang="en-US" b="1" dirty="0"/>
              <a:t>N</a:t>
            </a:r>
            <a:r>
              <a:rPr lang="en-US" dirty="0"/>
              <a:t>ode.js: JavaScript runtime for server-side programming.</a:t>
            </a:r>
          </a:p>
        </p:txBody>
      </p:sp>
      <p:sp>
        <p:nvSpPr>
          <p:cNvPr id="9" name="Rectangle 8"/>
          <p:cNvSpPr/>
          <p:nvPr/>
        </p:nvSpPr>
        <p:spPr>
          <a:xfrm>
            <a:off x="4495800" y="666750"/>
            <a:ext cx="4114800" cy="2308324"/>
          </a:xfrm>
          <a:prstGeom prst="rect">
            <a:avLst/>
          </a:prstGeom>
        </p:spPr>
        <p:txBody>
          <a:bodyPr wrap="square">
            <a:spAutoFit/>
          </a:bodyPr>
          <a:lstStyle/>
          <a:p>
            <a:r>
              <a:rPr lang="en-US" b="1" dirty="0"/>
              <a:t>MERN Stack</a:t>
            </a:r>
          </a:p>
          <a:p>
            <a:r>
              <a:rPr lang="en-US" b="1" dirty="0"/>
              <a:t>M</a:t>
            </a:r>
            <a:r>
              <a:rPr lang="en-US" dirty="0"/>
              <a:t>ongoDB: NoSQL database. </a:t>
            </a:r>
          </a:p>
          <a:p>
            <a:r>
              <a:rPr lang="en-US" b="1" dirty="0"/>
              <a:t>Express.js</a:t>
            </a:r>
            <a:r>
              <a:rPr lang="en-US" dirty="0"/>
              <a:t>: Web application framework for Node.js. </a:t>
            </a:r>
          </a:p>
          <a:p>
            <a:r>
              <a:rPr lang="en-US" b="1" dirty="0"/>
              <a:t>R</a:t>
            </a:r>
            <a:r>
              <a:rPr lang="en-US" dirty="0"/>
              <a:t>eact: Front-end library for building user interfaces. </a:t>
            </a:r>
          </a:p>
          <a:p>
            <a:r>
              <a:rPr lang="en-US" b="1" dirty="0"/>
              <a:t>N</a:t>
            </a:r>
            <a:r>
              <a:rPr lang="en-US" dirty="0"/>
              <a:t>ode.js: JavaScript runtime for server-side programming.</a:t>
            </a:r>
          </a:p>
        </p:txBody>
      </p:sp>
      <p:sp>
        <p:nvSpPr>
          <p:cNvPr id="10" name="Rectangle 9"/>
          <p:cNvSpPr/>
          <p:nvPr/>
        </p:nvSpPr>
        <p:spPr>
          <a:xfrm>
            <a:off x="4495800" y="2952750"/>
            <a:ext cx="4038600" cy="1754326"/>
          </a:xfrm>
          <a:prstGeom prst="rect">
            <a:avLst/>
          </a:prstGeom>
        </p:spPr>
        <p:txBody>
          <a:bodyPr wrap="square">
            <a:spAutoFit/>
          </a:bodyPr>
          <a:lstStyle/>
          <a:p>
            <a:r>
              <a:rPr lang="en-US" b="1" dirty="0" err="1"/>
              <a:t>Django</a:t>
            </a:r>
            <a:r>
              <a:rPr lang="en-US" b="1" dirty="0"/>
              <a:t> Stack</a:t>
            </a:r>
          </a:p>
          <a:p>
            <a:r>
              <a:rPr lang="en-US" dirty="0"/>
              <a:t>Python: Programming language. </a:t>
            </a:r>
          </a:p>
          <a:p>
            <a:r>
              <a:rPr lang="en-US" dirty="0" err="1"/>
              <a:t>Django</a:t>
            </a:r>
            <a:r>
              <a:rPr lang="en-US" dirty="0"/>
              <a:t>: High-level Python web framework. </a:t>
            </a:r>
          </a:p>
          <a:p>
            <a:r>
              <a:rPr lang="en-US" dirty="0" err="1"/>
              <a:t>PostgreSQL</a:t>
            </a:r>
            <a:r>
              <a:rPr lang="en-US" dirty="0"/>
              <a:t>: Relational database. </a:t>
            </a:r>
          </a:p>
          <a:p>
            <a:r>
              <a:rPr lang="en-US" dirty="0" err="1"/>
              <a:t>Nginx</a:t>
            </a:r>
            <a:r>
              <a:rPr lang="en-US" dirty="0"/>
              <a:t>: Web server.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7" name="Rectangle 6"/>
          <p:cNvSpPr/>
          <p:nvPr/>
        </p:nvSpPr>
        <p:spPr>
          <a:xfrm>
            <a:off x="381000" y="209550"/>
            <a:ext cx="4495800" cy="2185214"/>
          </a:xfrm>
          <a:prstGeom prst="rect">
            <a:avLst/>
          </a:prstGeom>
        </p:spPr>
        <p:txBody>
          <a:bodyPr wrap="square">
            <a:spAutoFit/>
          </a:bodyPr>
          <a:lstStyle/>
          <a:p>
            <a:r>
              <a:rPr lang="en-US" b="1" dirty="0"/>
              <a:t>Ruby on Rails Stack</a:t>
            </a:r>
          </a:p>
          <a:p>
            <a:endParaRPr lang="en-US" sz="1000" b="1" dirty="0"/>
          </a:p>
          <a:p>
            <a:r>
              <a:rPr lang="en-US" dirty="0"/>
              <a:t>Ruby: Programming language. </a:t>
            </a:r>
          </a:p>
          <a:p>
            <a:r>
              <a:rPr lang="en-US" dirty="0"/>
              <a:t>Rails: Web application framework written in Ruby. </a:t>
            </a:r>
          </a:p>
          <a:p>
            <a:r>
              <a:rPr lang="en-US" dirty="0" err="1"/>
              <a:t>SQLite</a:t>
            </a:r>
            <a:r>
              <a:rPr lang="en-US" dirty="0"/>
              <a:t>/</a:t>
            </a:r>
            <a:r>
              <a:rPr lang="en-US" dirty="0" err="1"/>
              <a:t>MySQL</a:t>
            </a:r>
            <a:r>
              <a:rPr lang="en-US" dirty="0"/>
              <a:t>/</a:t>
            </a:r>
            <a:r>
              <a:rPr lang="en-US" dirty="0" err="1"/>
              <a:t>PostgreSQL</a:t>
            </a:r>
            <a:r>
              <a:rPr lang="en-US" dirty="0"/>
              <a:t>: Relational databases. </a:t>
            </a:r>
          </a:p>
          <a:p>
            <a:r>
              <a:rPr lang="en-US" dirty="0"/>
              <a:t>Puma/</a:t>
            </a:r>
            <a:r>
              <a:rPr lang="en-US" dirty="0" err="1"/>
              <a:t>Nginx</a:t>
            </a:r>
            <a:r>
              <a:rPr lang="en-US" dirty="0"/>
              <a:t>: Web servers.</a:t>
            </a:r>
          </a:p>
        </p:txBody>
      </p:sp>
      <p:pic>
        <p:nvPicPr>
          <p:cNvPr id="49153" name="Picture 1" descr="C:\Pankaj\Reet Technologies\Files,Artwork &amp; Mktg\ykx1n1e49o9haiu5khwi.jpg"/>
          <p:cNvPicPr>
            <a:picLocks noChangeAspect="1" noChangeArrowheads="1"/>
          </p:cNvPicPr>
          <p:nvPr/>
        </p:nvPicPr>
        <p:blipFill>
          <a:blip r:embed="rId3"/>
          <a:srcRect/>
          <a:stretch>
            <a:fillRect/>
          </a:stretch>
        </p:blipFill>
        <p:spPr bwMode="auto">
          <a:xfrm>
            <a:off x="5029201" y="0"/>
            <a:ext cx="4114800" cy="5143500"/>
          </a:xfrm>
          <a:prstGeom prst="rect">
            <a:avLst/>
          </a:prstGeom>
          <a:noFill/>
        </p:spPr>
      </p:pic>
      <p:sp>
        <p:nvSpPr>
          <p:cNvPr id="6" name="Rectangle 5"/>
          <p:cNvSpPr/>
          <p:nvPr/>
        </p:nvSpPr>
        <p:spPr>
          <a:xfrm>
            <a:off x="381000" y="2495550"/>
            <a:ext cx="4724400" cy="2585323"/>
          </a:xfrm>
          <a:prstGeom prst="rect">
            <a:avLst/>
          </a:prstGeom>
        </p:spPr>
        <p:txBody>
          <a:bodyPr wrap="square">
            <a:spAutoFit/>
          </a:bodyPr>
          <a:lstStyle/>
          <a:p>
            <a:r>
              <a:rPr lang="en-US" b="1" dirty="0"/>
              <a:t>Java Full Stack</a:t>
            </a:r>
          </a:p>
          <a:p>
            <a:endParaRPr lang="en-US" b="1" dirty="0"/>
          </a:p>
          <a:p>
            <a:r>
              <a:rPr lang="en-US" dirty="0" err="1"/>
              <a:t>Docker</a:t>
            </a:r>
            <a:r>
              <a:rPr lang="en-US" dirty="0"/>
              <a:t> &amp; </a:t>
            </a:r>
            <a:r>
              <a:rPr lang="en-US" dirty="0" err="1"/>
              <a:t>Kubernetes</a:t>
            </a:r>
            <a:endParaRPr lang="en-US" dirty="0"/>
          </a:p>
          <a:p>
            <a:r>
              <a:rPr lang="en-US" dirty="0" err="1"/>
              <a:t>Rest,Rest</a:t>
            </a:r>
            <a:r>
              <a:rPr lang="en-US" dirty="0"/>
              <a:t> Full, </a:t>
            </a:r>
            <a:r>
              <a:rPr lang="en-US" dirty="0" err="1"/>
              <a:t>Microservices,RDBMS,NoSQL,API</a:t>
            </a:r>
            <a:endParaRPr lang="en-US" dirty="0"/>
          </a:p>
          <a:p>
            <a:r>
              <a:rPr lang="en-IN" b="1" dirty="0"/>
              <a:t>React JS, </a:t>
            </a:r>
            <a:r>
              <a:rPr lang="en-IN" b="1" dirty="0" err="1"/>
              <a:t>NodeJS</a:t>
            </a:r>
            <a:r>
              <a:rPr lang="en-IN" b="1" dirty="0"/>
              <a:t>, HTML,HTML5,CSS,</a:t>
            </a:r>
          </a:p>
          <a:p>
            <a:r>
              <a:rPr lang="en-IN" b="1" dirty="0" err="1"/>
              <a:t>Bootstrap,JavaScript</a:t>
            </a:r>
            <a:r>
              <a:rPr lang="en-IN" b="1" dirty="0"/>
              <a:t>,</a:t>
            </a:r>
            <a:endParaRPr lang="en-US" dirty="0"/>
          </a:p>
          <a:p>
            <a:r>
              <a:rPr lang="en-IN" b="1" dirty="0"/>
              <a:t>Frame works </a:t>
            </a:r>
            <a:r>
              <a:rPr lang="en-IN" dirty="0"/>
              <a:t>- Mocha, Jasmine, Karma, JEST</a:t>
            </a:r>
            <a:endParaRPr lang="en-US" dirty="0"/>
          </a:p>
          <a:p>
            <a:r>
              <a:rPr lang="en-IN" b="1" dirty="0"/>
              <a:t>Messenger </a:t>
            </a:r>
            <a:r>
              <a:rPr lang="en-IN" dirty="0"/>
              <a:t>- Postman, Kafka, </a:t>
            </a:r>
            <a:r>
              <a:rPr lang="en-IN" dirty="0" err="1"/>
              <a:t>ActiveMQ</a:t>
            </a:r>
            <a:r>
              <a:rPr lang="en-IN" dirty="0"/>
              <a:t> or </a:t>
            </a:r>
            <a:r>
              <a:rPr lang="en-IN" dirty="0" err="1"/>
              <a:t>RabbitMQ</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Rectangle 5"/>
          <p:cNvSpPr/>
          <p:nvPr/>
        </p:nvSpPr>
        <p:spPr>
          <a:xfrm>
            <a:off x="2286000" y="133350"/>
            <a:ext cx="4724400" cy="523220"/>
          </a:xfrm>
          <a:prstGeom prst="rect">
            <a:avLst/>
          </a:prstGeom>
        </p:spPr>
        <p:txBody>
          <a:bodyPr wrap="square">
            <a:spAutoFit/>
          </a:bodyPr>
          <a:lstStyle/>
          <a:p>
            <a:r>
              <a:rPr lang="en-US" sz="2800" b="1" dirty="0"/>
              <a:t>Choosing a Technical Stack</a:t>
            </a:r>
          </a:p>
        </p:txBody>
      </p:sp>
      <p:pic>
        <p:nvPicPr>
          <p:cNvPr id="48131" name="Picture 3" descr="C:\Pankaj\Reet Technologies\Files,Artwork &amp; Mktg\ruby_dr.jpg"/>
          <p:cNvPicPr>
            <a:picLocks noChangeAspect="1" noChangeArrowheads="1"/>
          </p:cNvPicPr>
          <p:nvPr/>
        </p:nvPicPr>
        <p:blipFill>
          <a:blip r:embed="rId3" cstate="print"/>
          <a:srcRect/>
          <a:stretch>
            <a:fillRect/>
          </a:stretch>
        </p:blipFill>
        <p:spPr bwMode="auto">
          <a:xfrm>
            <a:off x="0" y="1047750"/>
            <a:ext cx="4343400" cy="3048000"/>
          </a:xfrm>
          <a:prstGeom prst="rect">
            <a:avLst/>
          </a:prstGeom>
          <a:noFill/>
        </p:spPr>
      </p:pic>
      <p:sp>
        <p:nvSpPr>
          <p:cNvPr id="7" name="Rectangle 6"/>
          <p:cNvSpPr/>
          <p:nvPr/>
        </p:nvSpPr>
        <p:spPr>
          <a:xfrm>
            <a:off x="4572000" y="619185"/>
            <a:ext cx="4572000" cy="4524315"/>
          </a:xfrm>
          <a:prstGeom prst="rect">
            <a:avLst/>
          </a:prstGeom>
        </p:spPr>
        <p:txBody>
          <a:bodyPr>
            <a:spAutoFit/>
          </a:bodyPr>
          <a:lstStyle/>
          <a:p>
            <a:pPr marL="342900" lvl="0" indent="-342900" fontAlgn="base">
              <a:lnSpc>
                <a:spcPct val="150000"/>
              </a:lnSpc>
              <a:spcBef>
                <a:spcPct val="0"/>
              </a:spcBef>
              <a:spcAft>
                <a:spcPct val="0"/>
              </a:spcAft>
              <a:buFont typeface="+mj-lt"/>
              <a:buAutoNum type="arabicPeriod"/>
            </a:pPr>
            <a:r>
              <a:rPr lang="en-US" sz="1600" dirty="0">
                <a:latin typeface="Arial" charset="0"/>
                <a:cs typeface="Arial" charset="0"/>
              </a:rPr>
              <a:t>Project Requirements and Goals</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Scalability</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Security and Compliance</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Team Expertise</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Community Support and Ecosystem</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Time to Market</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Cost and Budget</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Compatibility with Existing Systems</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Performance Needs</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Long-Term Maintenance and Support</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Flexibility for Future Enhancements</a:t>
            </a:r>
          </a:p>
          <a:p>
            <a:pPr marL="342900" lvl="0" indent="-342900" eaLnBrk="0" fontAlgn="base" hangingPunct="0">
              <a:lnSpc>
                <a:spcPct val="150000"/>
              </a:lnSpc>
              <a:spcBef>
                <a:spcPct val="0"/>
              </a:spcBef>
              <a:spcAft>
                <a:spcPct val="0"/>
              </a:spcAft>
              <a:buFont typeface="+mj-lt"/>
              <a:buAutoNum type="arabicPeriod"/>
            </a:pPr>
            <a:r>
              <a:rPr lang="en-US" sz="1600" dirty="0">
                <a:latin typeface="Arial" charset="0"/>
                <a:cs typeface="Arial" charset="0"/>
              </a:rPr>
              <a:t>Vendor Lock-In Risks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Rectangle 5"/>
          <p:cNvSpPr/>
          <p:nvPr/>
        </p:nvSpPr>
        <p:spPr>
          <a:xfrm>
            <a:off x="533400" y="1581150"/>
            <a:ext cx="2895600" cy="1938992"/>
          </a:xfrm>
          <a:prstGeom prst="rect">
            <a:avLst/>
          </a:prstGeom>
        </p:spPr>
        <p:txBody>
          <a:bodyPr wrap="square">
            <a:spAutoFit/>
          </a:bodyPr>
          <a:lstStyle/>
          <a:p>
            <a:pPr algn="ctr"/>
            <a:r>
              <a:rPr lang="en-US" sz="12000" b="1" dirty="0"/>
              <a:t>API</a:t>
            </a:r>
          </a:p>
        </p:txBody>
      </p:sp>
      <p:pic>
        <p:nvPicPr>
          <p:cNvPr id="1027" name="Picture 3" descr="C:\Users\prema\Downloads\rest-api.png.crdownload"/>
          <p:cNvPicPr>
            <a:picLocks noChangeAspect="1" noChangeArrowheads="1"/>
          </p:cNvPicPr>
          <p:nvPr/>
        </p:nvPicPr>
        <p:blipFill>
          <a:blip r:embed="rId3"/>
          <a:srcRect/>
          <a:stretch>
            <a:fillRect/>
          </a:stretch>
        </p:blipFill>
        <p:spPr bwMode="auto">
          <a:xfrm>
            <a:off x="3565525" y="285750"/>
            <a:ext cx="5197475" cy="439622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Rectangle 5"/>
          <p:cNvSpPr/>
          <p:nvPr/>
        </p:nvSpPr>
        <p:spPr>
          <a:xfrm>
            <a:off x="3048000" y="57150"/>
            <a:ext cx="2362200" cy="523220"/>
          </a:xfrm>
          <a:prstGeom prst="rect">
            <a:avLst/>
          </a:prstGeom>
        </p:spPr>
        <p:txBody>
          <a:bodyPr wrap="square">
            <a:spAutoFit/>
          </a:bodyPr>
          <a:lstStyle/>
          <a:p>
            <a:r>
              <a:rPr lang="en-IN" sz="2800" b="1" dirty="0"/>
              <a:t>What is API ?</a:t>
            </a:r>
            <a:endParaRPr lang="en-US" sz="2800" b="1" dirty="0"/>
          </a:p>
        </p:txBody>
      </p:sp>
      <p:sp>
        <p:nvSpPr>
          <p:cNvPr id="7" name="Rectangle 6"/>
          <p:cNvSpPr/>
          <p:nvPr/>
        </p:nvSpPr>
        <p:spPr>
          <a:xfrm>
            <a:off x="228600" y="438150"/>
            <a:ext cx="8686800" cy="4693593"/>
          </a:xfrm>
          <a:prstGeom prst="rect">
            <a:avLst/>
          </a:prstGeom>
        </p:spPr>
        <p:txBody>
          <a:bodyPr wrap="square">
            <a:spAutoFit/>
          </a:bodyPr>
          <a:lstStyle/>
          <a:p>
            <a:pPr marL="342900" lvl="0" indent="-342900" fontAlgn="base">
              <a:lnSpc>
                <a:spcPct val="150000"/>
              </a:lnSpc>
              <a:spcBef>
                <a:spcPct val="0"/>
              </a:spcBef>
              <a:spcAft>
                <a:spcPct val="0"/>
              </a:spcAft>
            </a:pPr>
            <a:r>
              <a:rPr lang="en-US" sz="1600" b="1" dirty="0">
                <a:latin typeface="Arial" charset="0"/>
                <a:cs typeface="Arial" charset="0"/>
              </a:rPr>
              <a:t>Application Programming interface</a:t>
            </a:r>
          </a:p>
          <a:p>
            <a:pPr marL="342900" lvl="0" indent="-342900" fontAlgn="base">
              <a:lnSpc>
                <a:spcPct val="150000"/>
              </a:lnSpc>
              <a:spcBef>
                <a:spcPct val="0"/>
              </a:spcBef>
              <a:spcAft>
                <a:spcPct val="0"/>
              </a:spcAft>
            </a:pPr>
            <a:r>
              <a:rPr lang="en-US" sz="1600" dirty="0"/>
              <a:t>It is a collection of communication protocols and subroutines used by various programs to </a:t>
            </a:r>
          </a:p>
          <a:p>
            <a:pPr marL="342900" lvl="0" indent="-342900" fontAlgn="base">
              <a:lnSpc>
                <a:spcPct val="150000"/>
              </a:lnSpc>
              <a:spcBef>
                <a:spcPct val="0"/>
              </a:spcBef>
              <a:spcAft>
                <a:spcPct val="0"/>
              </a:spcAft>
            </a:pPr>
            <a:r>
              <a:rPr lang="en-US" sz="1600" dirty="0"/>
              <a:t>communicate between them. It is a Connecting tool between 2 Applications to Exchange the Data. </a:t>
            </a:r>
          </a:p>
          <a:p>
            <a:pPr marL="342900" lvl="0" indent="-342900" fontAlgn="base">
              <a:lnSpc>
                <a:spcPct val="150000"/>
              </a:lnSpc>
              <a:spcBef>
                <a:spcPct val="0"/>
              </a:spcBef>
              <a:spcAft>
                <a:spcPct val="0"/>
              </a:spcAft>
            </a:pPr>
            <a:r>
              <a:rPr lang="en-US" sz="1600" dirty="0"/>
              <a:t>A programmer can make use of various API tools to make their program easier and simpler</a:t>
            </a:r>
          </a:p>
          <a:p>
            <a:pPr fontAlgn="base"/>
            <a:r>
              <a:rPr lang="en-US" sz="1600" b="1" dirty="0"/>
              <a:t>Types of APIs</a:t>
            </a:r>
          </a:p>
          <a:p>
            <a:pPr fontAlgn="base"/>
            <a:r>
              <a:rPr lang="en-IN" sz="1600" dirty="0"/>
              <a:t>Web API -  Local API - Programme API</a:t>
            </a:r>
          </a:p>
          <a:p>
            <a:pPr fontAlgn="base"/>
            <a:endParaRPr lang="en-IN" sz="1600" dirty="0">
              <a:latin typeface="Arial" charset="0"/>
              <a:cs typeface="Arial" charset="0"/>
            </a:endParaRPr>
          </a:p>
          <a:p>
            <a:pPr fontAlgn="base"/>
            <a:r>
              <a:rPr lang="en-US" sz="1600" b="1" dirty="0"/>
              <a:t>What are REST APIs?</a:t>
            </a:r>
          </a:p>
          <a:p>
            <a:pPr fontAlgn="base"/>
            <a:r>
              <a:rPr lang="en-US" sz="1600" dirty="0"/>
              <a:t>REST stands for </a:t>
            </a:r>
            <a:r>
              <a:rPr lang="en-US" sz="1600" b="1" dirty="0"/>
              <a:t>Representational State Transfer</a:t>
            </a:r>
            <a:r>
              <a:rPr lang="en-US" sz="1600" dirty="0"/>
              <a:t>, and follows the constraints of REST architecture allowing interaction with </a:t>
            </a:r>
            <a:r>
              <a:rPr lang="en-US" sz="1600" dirty="0" err="1"/>
              <a:t>RESTful</a:t>
            </a:r>
            <a:r>
              <a:rPr lang="en-US" sz="1600" dirty="0"/>
              <a:t> web services. It defines a set of functions (GET, PUT, POST, DELETE) that clients use to access server data. The functions used are:</a:t>
            </a:r>
          </a:p>
          <a:p>
            <a:pPr fontAlgn="base"/>
            <a:endParaRPr lang="en-US" sz="1100" dirty="0"/>
          </a:p>
          <a:p>
            <a:pPr fontAlgn="base"/>
            <a:r>
              <a:rPr lang="en-US" sz="1600" dirty="0"/>
              <a:t>GET (retrieve a record)</a:t>
            </a:r>
          </a:p>
          <a:p>
            <a:pPr fontAlgn="base"/>
            <a:r>
              <a:rPr lang="en-US" sz="1600" dirty="0"/>
              <a:t>PUT (update a record)</a:t>
            </a:r>
          </a:p>
          <a:p>
            <a:pPr fontAlgn="base"/>
            <a:r>
              <a:rPr lang="en-US" sz="1600" dirty="0"/>
              <a:t>POST (create a record)</a:t>
            </a:r>
          </a:p>
          <a:p>
            <a:pPr fontAlgn="base"/>
            <a:r>
              <a:rPr lang="en-US" sz="1600" dirty="0"/>
              <a:t>DELETE (delete the record)</a:t>
            </a:r>
          </a:p>
          <a:p>
            <a:pPr fontAlgn="base"/>
            <a:endParaRPr lang="en-US" sz="1600" dirty="0">
              <a:latin typeface="Arial" charset="0"/>
              <a:cs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Rectangle 5"/>
          <p:cNvSpPr/>
          <p:nvPr/>
        </p:nvSpPr>
        <p:spPr>
          <a:xfrm>
            <a:off x="3048000" y="133350"/>
            <a:ext cx="3962400" cy="523220"/>
          </a:xfrm>
          <a:prstGeom prst="rect">
            <a:avLst/>
          </a:prstGeom>
        </p:spPr>
        <p:txBody>
          <a:bodyPr wrap="square">
            <a:spAutoFit/>
          </a:bodyPr>
          <a:lstStyle/>
          <a:p>
            <a:r>
              <a:rPr lang="en-IN" sz="2800" b="1" dirty="0"/>
              <a:t>What is API ?</a:t>
            </a:r>
            <a:endParaRPr lang="en-US" sz="2800" b="1" dirty="0"/>
          </a:p>
        </p:txBody>
      </p:sp>
      <p:sp>
        <p:nvSpPr>
          <p:cNvPr id="7" name="Rectangle 6"/>
          <p:cNvSpPr/>
          <p:nvPr/>
        </p:nvSpPr>
        <p:spPr>
          <a:xfrm>
            <a:off x="533400" y="438150"/>
            <a:ext cx="7924800" cy="4801314"/>
          </a:xfrm>
          <a:prstGeom prst="rect">
            <a:avLst/>
          </a:prstGeom>
        </p:spPr>
        <p:txBody>
          <a:bodyPr wrap="square">
            <a:spAutoFit/>
          </a:bodyPr>
          <a:lstStyle/>
          <a:p>
            <a:pPr algn="just" fontAlgn="base"/>
            <a:r>
              <a:rPr lang="en-US" b="1" dirty="0"/>
              <a:t>Types of APIs</a:t>
            </a:r>
          </a:p>
          <a:p>
            <a:pPr algn="just" fontAlgn="base"/>
            <a:endParaRPr lang="en-US" sz="800" dirty="0"/>
          </a:p>
          <a:p>
            <a:pPr algn="just" fontAlgn="base"/>
            <a:r>
              <a:rPr lang="en-US" sz="1600" b="1" dirty="0"/>
              <a:t>1. Web API</a:t>
            </a:r>
            <a:r>
              <a:rPr lang="en-US" sz="1600" dirty="0"/>
              <a:t> - A </a:t>
            </a:r>
            <a:r>
              <a:rPr lang="en-US" sz="1600" b="1" dirty="0"/>
              <a:t>Web API </a:t>
            </a:r>
            <a:r>
              <a:rPr lang="en-US" sz="1600" dirty="0"/>
              <a:t>also called Web Services is an extensively used API over the web and can be easily accessed using the HTTP protocols. A Web </a:t>
            </a:r>
            <a:r>
              <a:rPr lang="en-US" sz="1600" b="1" dirty="0"/>
              <a:t>application programming interface is </a:t>
            </a:r>
            <a:r>
              <a:rPr lang="en-US" sz="1600" dirty="0"/>
              <a:t>an open-source interface and can be used by a large number of clients through their phones, tablets, or PCs. Web API Is simply an API for the web. It is an API that can be accessed using the HTTP protocol. It can be built using </a:t>
            </a:r>
            <a:r>
              <a:rPr lang="en-US" sz="1600" b="1" dirty="0"/>
              <a:t>Java, </a:t>
            </a:r>
            <a:r>
              <a:rPr lang="en-US" sz="1600" b="1" dirty="0" err="1"/>
              <a:t>.Net</a:t>
            </a:r>
            <a:endParaRPr lang="en-US" sz="1600" b="1" dirty="0"/>
          </a:p>
          <a:p>
            <a:pPr algn="just" fontAlgn="base"/>
            <a:endParaRPr lang="en-US" sz="800" dirty="0"/>
          </a:p>
          <a:p>
            <a:pPr algn="just" fontAlgn="base"/>
            <a:r>
              <a:rPr lang="en-US" sz="1600" b="1" dirty="0"/>
              <a:t>2. LOCAL APIs </a:t>
            </a:r>
            <a:r>
              <a:rPr lang="en-US" sz="1600" dirty="0"/>
              <a:t>In this type of API, the programmers get the local middleware services. TAPI (Telephony Application Programming Interface), and .NET are common examples of Local APIs.</a:t>
            </a:r>
            <a:r>
              <a:rPr lang="en-US" sz="1600" b="1" dirty="0"/>
              <a:t> A Local API</a:t>
            </a:r>
            <a:r>
              <a:rPr lang="en-US" sz="1600" dirty="0"/>
              <a:t>, specifically, refers to an API that is </a:t>
            </a:r>
            <a:r>
              <a:rPr lang="en-US" sz="1600" b="1" dirty="0"/>
              <a:t>hosted locally on your machine </a:t>
            </a:r>
            <a:r>
              <a:rPr lang="en-US" sz="1600" dirty="0"/>
              <a:t>or within your network. This means that the services provided by the API are accessible only within a limited environment, such as a local development server or an intranet.</a:t>
            </a:r>
          </a:p>
          <a:p>
            <a:pPr algn="just" fontAlgn="base"/>
            <a:endParaRPr lang="en-US" sz="800" dirty="0"/>
          </a:p>
          <a:p>
            <a:pPr algn="just" fontAlgn="base"/>
            <a:br>
              <a:rPr lang="en-US" sz="1600" dirty="0"/>
            </a:br>
            <a:r>
              <a:rPr lang="en-US" sz="1600" dirty="0"/>
              <a:t>Local APIs are commonly used during the development and testing phases of software projects, allowing developers to simulate interactions with external systems without relying on a live, remote API. TAPI (Telephony Application Programming Interface), and .NET are common examples of Local APIs.</a:t>
            </a:r>
          </a:p>
          <a:p>
            <a:pPr marL="342900" lvl="0" indent="-342900" algn="just" fontAlgn="base">
              <a:lnSpc>
                <a:spcPct val="150000"/>
              </a:lnSpc>
              <a:spcBef>
                <a:spcPct val="0"/>
              </a:spcBef>
              <a:spcAft>
                <a:spcPct val="0"/>
              </a:spcAft>
            </a:pPr>
            <a:endParaRPr lang="en-US" sz="1600" dirty="0">
              <a:latin typeface="Arial" charset="0"/>
              <a:cs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6" name="Rectangle 5"/>
          <p:cNvSpPr/>
          <p:nvPr/>
        </p:nvSpPr>
        <p:spPr>
          <a:xfrm>
            <a:off x="3048000" y="133350"/>
            <a:ext cx="3962400" cy="523220"/>
          </a:xfrm>
          <a:prstGeom prst="rect">
            <a:avLst/>
          </a:prstGeom>
        </p:spPr>
        <p:txBody>
          <a:bodyPr wrap="square">
            <a:spAutoFit/>
          </a:bodyPr>
          <a:lstStyle/>
          <a:p>
            <a:r>
              <a:rPr lang="en-IN" sz="2800" b="1" dirty="0"/>
              <a:t>What is API ?</a:t>
            </a:r>
            <a:endParaRPr lang="en-US" sz="2800" b="1" dirty="0"/>
          </a:p>
        </p:txBody>
      </p:sp>
      <p:sp>
        <p:nvSpPr>
          <p:cNvPr id="7" name="Rectangle 6"/>
          <p:cNvSpPr/>
          <p:nvPr/>
        </p:nvSpPr>
        <p:spPr>
          <a:xfrm>
            <a:off x="533400" y="796826"/>
            <a:ext cx="7924800" cy="1969770"/>
          </a:xfrm>
          <a:prstGeom prst="rect">
            <a:avLst/>
          </a:prstGeom>
        </p:spPr>
        <p:txBody>
          <a:bodyPr wrap="square">
            <a:spAutoFit/>
          </a:bodyPr>
          <a:lstStyle/>
          <a:p>
            <a:pPr algn="just" fontAlgn="base"/>
            <a:r>
              <a:rPr lang="en-US" b="1" dirty="0"/>
              <a:t>Types of APIs</a:t>
            </a:r>
          </a:p>
          <a:p>
            <a:pPr algn="just" fontAlgn="base"/>
            <a:endParaRPr lang="en-US" sz="1600" dirty="0"/>
          </a:p>
          <a:p>
            <a:pPr algn="just" fontAlgn="base"/>
            <a:endParaRPr lang="en-US" sz="1600" dirty="0"/>
          </a:p>
          <a:p>
            <a:pPr algn="just" fontAlgn="base"/>
            <a:r>
              <a:rPr lang="en-US" sz="1600" b="1" dirty="0"/>
              <a:t>3. PROGRAM APIs </a:t>
            </a:r>
            <a:r>
              <a:rPr lang="en-US" sz="1600" dirty="0"/>
              <a:t>It makes a remote program appear to be local by making use of RPCs (Remote Procedural Calls). SOAP is a well-known example of this type of API. </a:t>
            </a:r>
            <a:r>
              <a:rPr lang="en-US" sz="1600" dirty="0" err="1"/>
              <a:t>Specialised</a:t>
            </a:r>
            <a:r>
              <a:rPr lang="en-US" sz="1600" dirty="0"/>
              <a:t> API made to Run a Application or a Program like </a:t>
            </a:r>
            <a:r>
              <a:rPr lang="en-US" sz="1600" dirty="0" err="1"/>
              <a:t>Travso</a:t>
            </a:r>
            <a:r>
              <a:rPr lang="en-US" sz="1600" dirty="0"/>
              <a:t>, Nexus India or </a:t>
            </a:r>
            <a:r>
              <a:rPr lang="en-US" sz="1600" dirty="0" err="1"/>
              <a:t>Insta</a:t>
            </a:r>
            <a:r>
              <a:rPr lang="en-US" sz="1600" dirty="0"/>
              <a:t> or FB.</a:t>
            </a:r>
          </a:p>
          <a:p>
            <a:pPr marL="342900" lvl="0" indent="-342900" algn="just" fontAlgn="base">
              <a:lnSpc>
                <a:spcPct val="150000"/>
              </a:lnSpc>
              <a:spcBef>
                <a:spcPct val="0"/>
              </a:spcBef>
              <a:spcAft>
                <a:spcPct val="0"/>
              </a:spcAft>
            </a:pPr>
            <a:endParaRPr lang="en-US" sz="1600" dirty="0">
              <a:latin typeface="Arial" charset="0"/>
              <a:cs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685800" y="1809750"/>
            <a:ext cx="8229600" cy="857250"/>
          </a:xfrm>
        </p:spPr>
        <p:txBody>
          <a:bodyPr/>
          <a:lstStyle/>
          <a:p>
            <a:r>
              <a:rPr lang="en-IN" b="1" dirty="0"/>
              <a:t>Website Technologies</a:t>
            </a:r>
            <a:endParaRPr lang="en-US"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2381"/>
            <a:ext cx="9144000" cy="5143500"/>
          </a:xfrm>
          <a:prstGeom prst="rect">
            <a:avLst/>
          </a:prstGeom>
          <a:noFill/>
        </p:spPr>
      </p:pic>
      <p:sp>
        <p:nvSpPr>
          <p:cNvPr id="2" name="Title 1"/>
          <p:cNvSpPr>
            <a:spLocks noGrp="1"/>
          </p:cNvSpPr>
          <p:nvPr>
            <p:ph type="title"/>
          </p:nvPr>
        </p:nvSpPr>
        <p:spPr/>
        <p:txBody>
          <a:bodyPr/>
          <a:lstStyle/>
          <a:p>
            <a:r>
              <a:rPr lang="en-IN" b="1" dirty="0"/>
              <a:t>Website Technologies</a:t>
            </a:r>
            <a:endParaRPr lang="en-US" b="1" dirty="0"/>
          </a:p>
        </p:txBody>
      </p:sp>
      <p:sp>
        <p:nvSpPr>
          <p:cNvPr id="7" name="Rectangle 6"/>
          <p:cNvSpPr/>
          <p:nvPr/>
        </p:nvSpPr>
        <p:spPr>
          <a:xfrm>
            <a:off x="685800" y="1150025"/>
            <a:ext cx="7086600" cy="3139321"/>
          </a:xfrm>
          <a:prstGeom prst="rect">
            <a:avLst/>
          </a:prstGeom>
        </p:spPr>
        <p:txBody>
          <a:bodyPr wrap="square">
            <a:spAutoFit/>
          </a:bodyPr>
          <a:lstStyle/>
          <a:p>
            <a:r>
              <a:rPr lang="en-US" b="1" dirty="0"/>
              <a:t>A website is a collection of web pages that are linked together by a domain name and stored on a web server.</a:t>
            </a:r>
          </a:p>
          <a:p>
            <a:endParaRPr lang="en-IN" dirty="0"/>
          </a:p>
          <a:p>
            <a:r>
              <a:rPr lang="en-IN" dirty="0"/>
              <a:t>Website are developed on various platforms or Technologies as per the Product or Service Requirement</a:t>
            </a:r>
          </a:p>
          <a:p>
            <a:pPr marL="342900" indent="-342900"/>
            <a:endParaRPr lang="en-IN" dirty="0"/>
          </a:p>
          <a:p>
            <a:pPr marL="342900" indent="-342900">
              <a:buAutoNum type="arabicPeriod"/>
            </a:pPr>
            <a:r>
              <a:rPr lang="en-IN" dirty="0"/>
              <a:t>React &amp; Node JS	</a:t>
            </a:r>
          </a:p>
          <a:p>
            <a:pPr marL="342900" indent="-342900">
              <a:buAutoNum type="arabicPeriod"/>
            </a:pPr>
            <a:r>
              <a:rPr lang="en-IN" dirty="0"/>
              <a:t>Word press</a:t>
            </a:r>
          </a:p>
          <a:p>
            <a:pPr marL="342900" indent="-342900">
              <a:buAutoNum type="arabicPeriod"/>
            </a:pPr>
            <a:r>
              <a:rPr lang="en-IN" dirty="0"/>
              <a:t>PHP</a:t>
            </a:r>
          </a:p>
          <a:p>
            <a:pPr marL="342900" indent="-342900">
              <a:buAutoNum type="arabicPeriod"/>
            </a:pPr>
            <a:r>
              <a:rPr lang="en-IN" dirty="0" err="1"/>
              <a:t>Shopify</a:t>
            </a:r>
            <a:endParaRPr lang="en-IN" dirty="0"/>
          </a:p>
          <a:p>
            <a:pPr marL="342900" indent="-342900">
              <a:buAutoNum type="arabicPeriod"/>
            </a:pPr>
            <a:r>
              <a:rPr lang="en-IN" dirty="0"/>
              <a:t>Woo Commerce</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p:txBody>
          <a:bodyPr/>
          <a:lstStyle/>
          <a:p>
            <a:r>
              <a:rPr lang="en-IN" b="1" dirty="0"/>
              <a:t>Website Types</a:t>
            </a:r>
            <a:endParaRPr lang="en-US" b="1" dirty="0"/>
          </a:p>
        </p:txBody>
      </p:sp>
      <p:sp>
        <p:nvSpPr>
          <p:cNvPr id="7" name="Rectangle 6"/>
          <p:cNvSpPr/>
          <p:nvPr/>
        </p:nvSpPr>
        <p:spPr>
          <a:xfrm>
            <a:off x="685800" y="1150025"/>
            <a:ext cx="7620000" cy="3693319"/>
          </a:xfrm>
          <a:prstGeom prst="rect">
            <a:avLst/>
          </a:prstGeom>
        </p:spPr>
        <p:txBody>
          <a:bodyPr wrap="square">
            <a:spAutoFit/>
          </a:bodyPr>
          <a:lstStyle/>
          <a:p>
            <a:pPr fontAlgn="base"/>
            <a:r>
              <a:rPr lang="en-US" b="1" dirty="0"/>
              <a:t>Static Website:</a:t>
            </a:r>
            <a:r>
              <a:rPr lang="en-US" dirty="0"/>
              <a:t> In Static Websites, Web pages are returned by the server which are prebuilt source code files built using simple languages such as HTML, CSS, or JavaScript. There is no processing of content on the server (according to the user) in Static Websites. </a:t>
            </a:r>
          </a:p>
          <a:p>
            <a:pPr fontAlgn="base"/>
            <a:endParaRPr lang="en-US" dirty="0"/>
          </a:p>
          <a:p>
            <a:pPr algn="just" fontAlgn="base"/>
            <a:r>
              <a:rPr lang="en-US" b="1" dirty="0"/>
              <a:t>Dynamic Website:</a:t>
            </a:r>
            <a:r>
              <a:rPr lang="en-US" dirty="0"/>
              <a:t> A </a:t>
            </a:r>
            <a:r>
              <a:rPr lang="en-US" b="1" dirty="0"/>
              <a:t>dynamic website</a:t>
            </a:r>
            <a:r>
              <a:rPr lang="en-US" dirty="0"/>
              <a:t> is a site that displays different content and adapts to user interactions in real time. Unlike static websites, which show fixed content, dynamic websites fetch data from a database or server to generate personalized or updated content. Examples include e-commerce sites, social media platforms, and blogs with user-generated content AND server-side scripting languages such as PHP, Node.js, ASP.NET and many more supported by the server. </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p:txBody>
          <a:bodyPr/>
          <a:lstStyle/>
          <a:p>
            <a:r>
              <a:rPr lang="en-IN" b="1" dirty="0"/>
              <a:t>Layouts and Important Points</a:t>
            </a:r>
            <a:endParaRPr lang="en-US" b="1" dirty="0"/>
          </a:p>
        </p:txBody>
      </p:sp>
      <p:sp>
        <p:nvSpPr>
          <p:cNvPr id="7" name="Rectangle 6"/>
          <p:cNvSpPr/>
          <p:nvPr/>
        </p:nvSpPr>
        <p:spPr>
          <a:xfrm>
            <a:off x="685800" y="1150025"/>
            <a:ext cx="7086600" cy="3139321"/>
          </a:xfrm>
          <a:prstGeom prst="rect">
            <a:avLst/>
          </a:prstGeom>
        </p:spPr>
        <p:txBody>
          <a:bodyPr wrap="square">
            <a:spAutoFit/>
          </a:bodyPr>
          <a:lstStyle/>
          <a:p>
            <a:r>
              <a:rPr lang="en-IN" dirty="0"/>
              <a:t>Website layouts are required to be analysed for a professional look. Following Points should be considered while considering the layouts.</a:t>
            </a:r>
          </a:p>
          <a:p>
            <a:endParaRPr lang="en-IN" dirty="0"/>
          </a:p>
          <a:p>
            <a:pPr marL="342900" indent="-342900">
              <a:buAutoNum type="arabicPeriod"/>
            </a:pPr>
            <a:r>
              <a:rPr lang="en-IN" dirty="0"/>
              <a:t>Colour Combination</a:t>
            </a:r>
          </a:p>
          <a:p>
            <a:pPr marL="342900" indent="-342900">
              <a:buAutoNum type="arabicPeriod"/>
            </a:pPr>
            <a:r>
              <a:rPr lang="en-IN" dirty="0"/>
              <a:t>Layout Selection as per the business Requirement</a:t>
            </a:r>
          </a:p>
          <a:p>
            <a:pPr marL="342900" indent="-342900">
              <a:buAutoNum type="arabicPeriod"/>
            </a:pPr>
            <a:r>
              <a:rPr lang="en-IN" dirty="0"/>
              <a:t>Landing Page Layout with photo and Head content</a:t>
            </a:r>
          </a:p>
          <a:p>
            <a:pPr marL="342900" indent="-342900">
              <a:buAutoNum type="arabicPeriod"/>
            </a:pPr>
            <a:r>
              <a:rPr lang="en-IN" dirty="0"/>
              <a:t>Headers with Home, Services, About us Tab</a:t>
            </a:r>
          </a:p>
          <a:p>
            <a:pPr marL="342900" indent="-342900">
              <a:buAutoNum type="arabicPeriod"/>
            </a:pPr>
            <a:r>
              <a:rPr lang="en-IN" dirty="0"/>
              <a:t>Logo Placement</a:t>
            </a:r>
          </a:p>
          <a:p>
            <a:pPr marL="342900" indent="-342900">
              <a:buAutoNum type="arabicPeriod"/>
            </a:pPr>
            <a:r>
              <a:rPr lang="en-IN" dirty="0"/>
              <a:t>Services and Products Display placement</a:t>
            </a:r>
          </a:p>
          <a:p>
            <a:pPr marL="342900" indent="-342900">
              <a:buAutoNum type="arabicPeriod"/>
            </a:pPr>
            <a:r>
              <a:rPr lang="en-IN" dirty="0"/>
              <a:t>Address, Contact and Maps location on Webpage</a:t>
            </a:r>
          </a:p>
          <a:p>
            <a:pPr marL="342900" indent="-342900">
              <a:buAutoNum type="arabicPeriod"/>
            </a:pP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9050"/>
            <a:ext cx="9144000" cy="5143500"/>
          </a:xfrm>
          <a:prstGeom prst="rect">
            <a:avLst/>
          </a:prstGeom>
          <a:noFill/>
        </p:spPr>
      </p:pic>
      <p:sp>
        <p:nvSpPr>
          <p:cNvPr id="2" name="Title 1"/>
          <p:cNvSpPr>
            <a:spLocks noGrp="1"/>
          </p:cNvSpPr>
          <p:nvPr>
            <p:ph type="title"/>
          </p:nvPr>
        </p:nvSpPr>
        <p:spPr/>
        <p:txBody>
          <a:bodyPr>
            <a:noAutofit/>
          </a:bodyPr>
          <a:lstStyle/>
          <a:p>
            <a:r>
              <a:rPr lang="en-IN" sz="3200" b="1" dirty="0"/>
              <a:t>Payment Integration and Payment Gateway</a:t>
            </a:r>
            <a:endParaRPr lang="en-US" sz="3200" b="1" dirty="0"/>
          </a:p>
        </p:txBody>
      </p:sp>
      <p:sp>
        <p:nvSpPr>
          <p:cNvPr id="7" name="Rectangle 6"/>
          <p:cNvSpPr/>
          <p:nvPr/>
        </p:nvSpPr>
        <p:spPr>
          <a:xfrm>
            <a:off x="685800" y="1150025"/>
            <a:ext cx="7086600" cy="2308324"/>
          </a:xfrm>
          <a:prstGeom prst="rect">
            <a:avLst/>
          </a:prstGeom>
        </p:spPr>
        <p:txBody>
          <a:bodyPr wrap="square">
            <a:spAutoFit/>
          </a:bodyPr>
          <a:lstStyle/>
          <a:p>
            <a:pPr algn="just"/>
            <a:endParaRPr lang="en-IN" dirty="0"/>
          </a:p>
          <a:p>
            <a:pPr marL="342900" indent="-342900" algn="just">
              <a:buAutoNum type="arabicPeriod"/>
            </a:pPr>
            <a:r>
              <a:rPr lang="en-IN" b="1" dirty="0"/>
              <a:t>What is a payment Gateway</a:t>
            </a:r>
          </a:p>
          <a:p>
            <a:pPr marL="342900" indent="-342900" algn="just"/>
            <a:endParaRPr lang="en-IN" b="1" dirty="0"/>
          </a:p>
          <a:p>
            <a:pPr marL="342900" indent="-342900" algn="just"/>
            <a:r>
              <a:rPr lang="en-US" dirty="0"/>
              <a:t>	A </a:t>
            </a:r>
            <a:r>
              <a:rPr lang="en-US" dirty="0">
                <a:hlinkClick r:id="rId3"/>
              </a:rPr>
              <a:t>payment gateway</a:t>
            </a:r>
            <a:r>
              <a:rPr lang="en-US" dirty="0"/>
              <a:t> is a digital service that allows businesses to accept and </a:t>
            </a:r>
            <a:r>
              <a:rPr lang="en-US" dirty="0">
                <a:hlinkClick r:id="rId4"/>
              </a:rPr>
              <a:t>process payments</a:t>
            </a:r>
            <a:r>
              <a:rPr lang="en-US" dirty="0"/>
              <a:t>, such as credit cards, debit cards, and other payment methods, through websites or mobile apps. It acts as a secure bridge between the merchant and the bank, ensuring seamless transactions both online and in physical stores.</a:t>
            </a:r>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noAutofit/>
          </a:bodyPr>
          <a:lstStyle/>
          <a:p>
            <a:r>
              <a:rPr lang="en-IN" sz="3200" b="1" dirty="0"/>
              <a:t>Payment Integration</a:t>
            </a:r>
            <a:endParaRPr lang="en-US" sz="3200" b="1" dirty="0"/>
          </a:p>
        </p:txBody>
      </p:sp>
      <p:sp>
        <p:nvSpPr>
          <p:cNvPr id="7" name="Rectangle 6"/>
          <p:cNvSpPr/>
          <p:nvPr/>
        </p:nvSpPr>
        <p:spPr>
          <a:xfrm>
            <a:off x="685800" y="819150"/>
            <a:ext cx="7086600" cy="3970318"/>
          </a:xfrm>
          <a:prstGeom prst="rect">
            <a:avLst/>
          </a:prstGeom>
        </p:spPr>
        <p:txBody>
          <a:bodyPr wrap="square">
            <a:spAutoFit/>
          </a:bodyPr>
          <a:lstStyle/>
          <a:p>
            <a:pPr fontAlgn="base"/>
            <a:r>
              <a:rPr lang="en-US" dirty="0"/>
              <a:t>To add a payment gateway, select a service provider and integrate it into your website’s checkout process. You can customize it to accept multiple payment methods, depending on your needs.</a:t>
            </a:r>
          </a:p>
          <a:p>
            <a:pPr fontAlgn="base"/>
            <a:endParaRPr lang="en-US" dirty="0"/>
          </a:p>
          <a:p>
            <a:pPr fontAlgn="base"/>
            <a:r>
              <a:rPr lang="en-US" dirty="0"/>
              <a:t>For example, </a:t>
            </a:r>
            <a:r>
              <a:rPr lang="en-US" b="1" dirty="0" err="1"/>
              <a:t>Razorpay</a:t>
            </a:r>
            <a:r>
              <a:rPr lang="en-US" dirty="0"/>
              <a:t> offers various </a:t>
            </a:r>
            <a:r>
              <a:rPr lang="en-US" dirty="0">
                <a:hlinkClick r:id="rId3"/>
              </a:rPr>
              <a:t>integration options</a:t>
            </a:r>
            <a:r>
              <a:rPr lang="en-US" dirty="0"/>
              <a:t>:</a:t>
            </a:r>
          </a:p>
          <a:p>
            <a:pPr fontAlgn="base"/>
            <a:endParaRPr lang="en-US" dirty="0"/>
          </a:p>
          <a:p>
            <a:pPr fontAlgn="base"/>
            <a:r>
              <a:rPr lang="en-US" b="1" dirty="0"/>
              <a:t>1. API Integration</a:t>
            </a:r>
            <a:r>
              <a:rPr lang="en-US" dirty="0"/>
              <a:t>: Ideal for custom websites and apps, providing maximum flexibility.</a:t>
            </a:r>
          </a:p>
          <a:p>
            <a:pPr fontAlgn="base"/>
            <a:endParaRPr lang="en-US" dirty="0"/>
          </a:p>
          <a:p>
            <a:pPr fontAlgn="base"/>
            <a:r>
              <a:rPr lang="en-US" b="1" dirty="0"/>
              <a:t>2. </a:t>
            </a:r>
            <a:r>
              <a:rPr lang="en-US" b="1" dirty="0" err="1"/>
              <a:t>Plugin</a:t>
            </a:r>
            <a:r>
              <a:rPr lang="en-US" b="1" dirty="0"/>
              <a:t> Integration</a:t>
            </a:r>
            <a:r>
              <a:rPr lang="en-US" dirty="0"/>
              <a:t>: Best for platforms like </a:t>
            </a:r>
            <a:r>
              <a:rPr lang="en-US" dirty="0" err="1"/>
              <a:t>WordPress</a:t>
            </a:r>
            <a:r>
              <a:rPr lang="en-US" dirty="0"/>
              <a:t>, </a:t>
            </a:r>
            <a:r>
              <a:rPr lang="en-US" dirty="0" err="1"/>
              <a:t>Shopify</a:t>
            </a:r>
            <a:r>
              <a:rPr lang="en-US" dirty="0"/>
              <a:t>, </a:t>
            </a:r>
            <a:r>
              <a:rPr lang="en-US" dirty="0" err="1"/>
              <a:t>WooCommerce</a:t>
            </a:r>
            <a:r>
              <a:rPr lang="en-US" dirty="0"/>
              <a:t>, and </a:t>
            </a:r>
            <a:r>
              <a:rPr lang="en-US" dirty="0" err="1"/>
              <a:t>Wix</a:t>
            </a:r>
            <a:r>
              <a:rPr lang="en-US" dirty="0"/>
              <a:t>.</a:t>
            </a:r>
          </a:p>
          <a:p>
            <a:pPr fontAlgn="base"/>
            <a:endParaRPr lang="en-US" dirty="0"/>
          </a:p>
          <a:p>
            <a:pPr fontAlgn="base"/>
            <a:r>
              <a:rPr lang="en-US" b="1" dirty="0"/>
              <a:t>3. SDK (Software Development Kit) Integration</a:t>
            </a:r>
            <a:r>
              <a:rPr lang="en-US" dirty="0"/>
              <a:t>: Allows developers to build a custom payment experience for mobile apps or websites.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noAutofit/>
          </a:bodyPr>
          <a:lstStyle/>
          <a:p>
            <a:r>
              <a:rPr lang="en-IN" sz="3200" b="1" dirty="0"/>
              <a:t>How does it work?</a:t>
            </a:r>
            <a:endParaRPr lang="en-US" sz="3200" b="1" dirty="0"/>
          </a:p>
        </p:txBody>
      </p:sp>
      <p:sp>
        <p:nvSpPr>
          <p:cNvPr id="7" name="Rectangle 6"/>
          <p:cNvSpPr/>
          <p:nvPr/>
        </p:nvSpPr>
        <p:spPr>
          <a:xfrm>
            <a:off x="685800" y="742950"/>
            <a:ext cx="7696200" cy="4278094"/>
          </a:xfrm>
          <a:prstGeom prst="rect">
            <a:avLst/>
          </a:prstGeom>
        </p:spPr>
        <p:txBody>
          <a:bodyPr wrap="square">
            <a:spAutoFit/>
          </a:bodyPr>
          <a:lstStyle/>
          <a:p>
            <a:pPr fontAlgn="base"/>
            <a:r>
              <a:rPr lang="en-US" sz="1600" b="1" dirty="0"/>
              <a:t>Authorization and Bank Response</a:t>
            </a:r>
          </a:p>
          <a:p>
            <a:pPr fontAlgn="base"/>
            <a:endParaRPr lang="en-US" sz="1600" b="1" dirty="0"/>
          </a:p>
          <a:p>
            <a:pPr fontAlgn="base"/>
            <a:r>
              <a:rPr lang="en-US" sz="1600" dirty="0"/>
              <a:t>Once the acquiring bank receives the transaction details, it verifies various parameters to ensure the transaction’s authenticity. These may include the customer’s identity, bank details, and, for larger amounts, their spending patterns.</a:t>
            </a:r>
          </a:p>
          <a:p>
            <a:pPr fontAlgn="base"/>
            <a:endParaRPr lang="en-US" sz="1600" dirty="0"/>
          </a:p>
          <a:p>
            <a:pPr marL="342900" indent="-342900" fontAlgn="base">
              <a:buAutoNum type="arabicPeriod"/>
            </a:pPr>
            <a:r>
              <a:rPr lang="en-US" sz="1600" b="1" dirty="0"/>
              <a:t>Issuing Bank Response</a:t>
            </a:r>
            <a:r>
              <a:rPr lang="en-US" sz="1600" dirty="0"/>
              <a:t>: After verification, the acquiring bank communicates with the issuing bank, which sends back a response indicating whether the transaction is approved or declined.</a:t>
            </a:r>
          </a:p>
          <a:p>
            <a:pPr marL="342900" indent="-342900" fontAlgn="base">
              <a:buAutoNum type="arabicPeriod"/>
            </a:pPr>
            <a:endParaRPr lang="en-US" sz="1600" dirty="0"/>
          </a:p>
          <a:p>
            <a:pPr fontAlgn="base"/>
            <a:r>
              <a:rPr lang="en-US" sz="1600" b="1" dirty="0"/>
              <a:t>2.  Customer Notification</a:t>
            </a:r>
            <a:r>
              <a:rPr lang="en-US" sz="1600" dirty="0"/>
              <a:t>: The payment gateway then informs the acquiring bank of the result. The merchant redirects the customer to display the transaction status:</a:t>
            </a:r>
          </a:p>
          <a:p>
            <a:pPr fontAlgn="base"/>
            <a:endParaRPr lang="en-US" sz="1600" dirty="0"/>
          </a:p>
          <a:p>
            <a:pPr fontAlgn="base"/>
            <a:r>
              <a:rPr lang="en-US" sz="1600" b="1" dirty="0"/>
              <a:t>If Approved</a:t>
            </a:r>
            <a:r>
              <a:rPr lang="en-US" sz="1600" dirty="0"/>
              <a:t>: The customer sees a confirmation message with their order details.</a:t>
            </a:r>
          </a:p>
          <a:p>
            <a:pPr fontAlgn="base"/>
            <a:endParaRPr lang="en-US" sz="1600" dirty="0"/>
          </a:p>
          <a:p>
            <a:pPr fontAlgn="base"/>
            <a:r>
              <a:rPr lang="en-US" sz="1600" b="1" dirty="0"/>
              <a:t>If Declined</a:t>
            </a:r>
            <a:r>
              <a:rPr lang="en-US" sz="1600" dirty="0"/>
              <a:t>: The customer is prompted to retry the payment using different methods.</a:t>
            </a:r>
          </a:p>
          <a:p>
            <a:pPr fontAlgn="base"/>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noAutofit/>
          </a:bodyPr>
          <a:lstStyle/>
          <a:p>
            <a:r>
              <a:rPr lang="en-IN" sz="3200" b="1" dirty="0"/>
              <a:t>Block Chain</a:t>
            </a:r>
            <a:endParaRPr lang="en-US" sz="3200" b="1" dirty="0"/>
          </a:p>
        </p:txBody>
      </p:sp>
      <p:sp>
        <p:nvSpPr>
          <p:cNvPr id="7" name="Rectangle 6"/>
          <p:cNvSpPr/>
          <p:nvPr/>
        </p:nvSpPr>
        <p:spPr>
          <a:xfrm>
            <a:off x="685800" y="742950"/>
            <a:ext cx="7696200" cy="3785652"/>
          </a:xfrm>
          <a:prstGeom prst="rect">
            <a:avLst/>
          </a:prstGeom>
        </p:spPr>
        <p:txBody>
          <a:bodyPr wrap="square">
            <a:spAutoFit/>
          </a:bodyPr>
          <a:lstStyle/>
          <a:p>
            <a:r>
              <a:rPr lang="en-US" sz="1600" dirty="0" err="1"/>
              <a:t>Blockchain</a:t>
            </a:r>
            <a:r>
              <a:rPr lang="en-US" sz="1600" dirty="0"/>
              <a:t> is a decentralized, digital ledger technology that securely records transactions across a network of computers. Each transaction is grouped into a "block," and these blocks are linked together in chronological order, forming a "chain."</a:t>
            </a:r>
          </a:p>
          <a:p>
            <a:r>
              <a:rPr lang="en-US" sz="1600" dirty="0"/>
              <a:t>Key features of </a:t>
            </a:r>
            <a:r>
              <a:rPr lang="en-US" sz="1600" dirty="0" err="1"/>
              <a:t>blockchain</a:t>
            </a:r>
            <a:r>
              <a:rPr lang="en-US" sz="1600" dirty="0"/>
              <a:t> include:</a:t>
            </a:r>
          </a:p>
          <a:p>
            <a:endParaRPr lang="en-US" sz="1600" dirty="0"/>
          </a:p>
          <a:p>
            <a:r>
              <a:rPr lang="en-US" sz="1600" b="1" dirty="0"/>
              <a:t>Transparency</a:t>
            </a:r>
            <a:r>
              <a:rPr lang="en-US" sz="1600" dirty="0"/>
              <a:t>: All participants can view the transactions.</a:t>
            </a:r>
          </a:p>
          <a:p>
            <a:endParaRPr lang="en-US" sz="1600" dirty="0"/>
          </a:p>
          <a:p>
            <a:r>
              <a:rPr lang="en-US" sz="1600" b="1" dirty="0"/>
              <a:t>Security</a:t>
            </a:r>
            <a:r>
              <a:rPr lang="en-US" sz="1600" dirty="0"/>
              <a:t>: Data is encrypted, making it tamper-resistant.</a:t>
            </a:r>
          </a:p>
          <a:p>
            <a:endParaRPr lang="en-US" sz="1600" dirty="0"/>
          </a:p>
          <a:p>
            <a:r>
              <a:rPr lang="en-US" sz="1600" b="1" dirty="0"/>
              <a:t>Decentralization</a:t>
            </a:r>
            <a:r>
              <a:rPr lang="en-US" sz="1600" dirty="0"/>
              <a:t>: No central authority controls it; decisions are made collectively.</a:t>
            </a:r>
            <a:endParaRPr lang="en-US" sz="1600"/>
          </a:p>
          <a:p>
            <a:endParaRPr lang="en-US" sz="1600" dirty="0"/>
          </a:p>
          <a:p>
            <a:r>
              <a:rPr lang="en-US" sz="1600" b="1" dirty="0"/>
              <a:t>Immutability</a:t>
            </a:r>
            <a:r>
              <a:rPr lang="en-US" sz="1600" dirty="0"/>
              <a:t>: Once a block is added, it cannot be altered or deleted.</a:t>
            </a:r>
          </a:p>
          <a:p>
            <a:r>
              <a:rPr lang="en-US" sz="1600" dirty="0"/>
              <a:t>It’s commonly used in </a:t>
            </a:r>
            <a:r>
              <a:rPr lang="en-US" sz="1600" dirty="0" err="1"/>
              <a:t>cryptocurrencies</a:t>
            </a:r>
            <a:r>
              <a:rPr lang="en-US" sz="1600" dirty="0"/>
              <a:t> (like </a:t>
            </a:r>
            <a:r>
              <a:rPr lang="en-US" sz="1600" dirty="0" err="1"/>
              <a:t>Bitcoin</a:t>
            </a:r>
            <a:r>
              <a:rPr lang="en-US" sz="1600" dirty="0"/>
              <a:t>), supply chain tracking, smart contracts, and more.</a:t>
            </a:r>
          </a:p>
          <a:p>
            <a:pPr fontAlgn="base"/>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Human Resource - HR</a:t>
            </a:r>
            <a:endParaRPr lang="en-US" b="1" dirty="0"/>
          </a:p>
        </p:txBody>
      </p:sp>
      <p:sp>
        <p:nvSpPr>
          <p:cNvPr id="6" name="Content Placeholder 5"/>
          <p:cNvSpPr>
            <a:spLocks noGrp="1"/>
          </p:cNvSpPr>
          <p:nvPr>
            <p:ph idx="1"/>
          </p:nvPr>
        </p:nvSpPr>
        <p:spPr>
          <a:xfrm>
            <a:off x="838200" y="1123950"/>
            <a:ext cx="3657600" cy="1143000"/>
          </a:xfrm>
        </p:spPr>
        <p:txBody>
          <a:bodyPr>
            <a:noAutofit/>
          </a:bodyPr>
          <a:lstStyle/>
          <a:p>
            <a:r>
              <a:rPr lang="en-IN" sz="1800" b="1" dirty="0"/>
              <a:t>Recruitment – Talent Acquisition</a:t>
            </a:r>
          </a:p>
          <a:p>
            <a:r>
              <a:rPr lang="en-IN" sz="1800" b="1" dirty="0"/>
              <a:t>Staffing</a:t>
            </a:r>
          </a:p>
          <a:p>
            <a:r>
              <a:rPr lang="en-IN" sz="1800" b="1" dirty="0"/>
              <a:t>Payroll</a:t>
            </a:r>
            <a:endParaRPr lang="en-US" sz="1800" b="1" dirty="0"/>
          </a:p>
        </p:txBody>
      </p:sp>
      <p:sp>
        <p:nvSpPr>
          <p:cNvPr id="7" name="Content Placeholder 5"/>
          <p:cNvSpPr txBox="1">
            <a:spLocks/>
          </p:cNvSpPr>
          <p:nvPr/>
        </p:nvSpPr>
        <p:spPr>
          <a:xfrm>
            <a:off x="5257800" y="2495550"/>
            <a:ext cx="3505200" cy="22098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	Recruitment Portals</a:t>
            </a: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kumimoji="0" lang="en-IN" sz="1600" b="0" i="0" u="none" strike="noStrike" kern="1200" cap="none" spc="0" normalizeH="0" baseline="0" noProof="0" dirty="0" err="1">
                <a:ln>
                  <a:noFill/>
                </a:ln>
                <a:solidFill>
                  <a:schemeClr val="tx1"/>
                </a:solidFill>
                <a:effectLst/>
                <a:uLnTx/>
                <a:uFillTx/>
                <a:latin typeface="+mn-lt"/>
                <a:ea typeface="+mn-ea"/>
                <a:cs typeface="+mn-cs"/>
              </a:rPr>
              <a:t>Naukri</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lang="en-IN" sz="1600" dirty="0"/>
              <a:t>Monster</a:t>
            </a: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kumimoji="0" lang="en-IN" sz="1600" b="0" i="0" u="none" strike="noStrike" kern="1200" cap="none" spc="0" normalizeH="0" baseline="0" noProof="0" dirty="0" err="1">
                <a:ln>
                  <a:noFill/>
                </a:ln>
                <a:solidFill>
                  <a:schemeClr val="tx1"/>
                </a:solidFill>
                <a:effectLst/>
                <a:uLnTx/>
                <a:uFillTx/>
                <a:latin typeface="+mn-lt"/>
                <a:ea typeface="+mn-ea"/>
                <a:cs typeface="+mn-cs"/>
              </a:rPr>
              <a:t>Diajob</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lang="en-IN" sz="1600" dirty="0"/>
              <a:t>Work </a:t>
            </a:r>
            <a:r>
              <a:rPr lang="en-IN" sz="1600" dirty="0" err="1"/>
              <a:t>india</a:t>
            </a:r>
            <a:endParaRPr lang="en-IN" sz="1600" dirty="0"/>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kumimoji="0" lang="en-IN" sz="1600" b="0" i="0" u="none" strike="noStrike" kern="1200" cap="none" spc="0" normalizeH="0" baseline="0" noProof="0" dirty="0" err="1">
                <a:ln>
                  <a:noFill/>
                </a:ln>
                <a:solidFill>
                  <a:schemeClr val="tx1"/>
                </a:solidFill>
                <a:effectLst/>
                <a:uLnTx/>
                <a:uFillTx/>
                <a:latin typeface="+mn-lt"/>
                <a:ea typeface="+mn-ea"/>
                <a:cs typeface="+mn-cs"/>
              </a:rPr>
              <a:t>Freshers</a:t>
            </a:r>
            <a:r>
              <a:rPr kumimoji="0" lang="en-IN" sz="1600" b="0" i="0" u="none" strike="noStrike" kern="1200" cap="none" spc="0" normalizeH="0" baseline="0" noProof="0" dirty="0">
                <a:ln>
                  <a:noFill/>
                </a:ln>
                <a:solidFill>
                  <a:schemeClr val="tx1"/>
                </a:solidFill>
                <a:effectLst/>
                <a:uLnTx/>
                <a:uFillTx/>
                <a:latin typeface="+mn-lt"/>
                <a:ea typeface="+mn-ea"/>
                <a:cs typeface="+mn-cs"/>
              </a:rPr>
              <a:t> World</a:t>
            </a: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lang="en-IN" sz="1600" dirty="0" err="1"/>
              <a:t>Linkedin</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5"/>
          <p:cNvSpPr txBox="1">
            <a:spLocks/>
          </p:cNvSpPr>
          <p:nvPr/>
        </p:nvSpPr>
        <p:spPr>
          <a:xfrm>
            <a:off x="838200" y="2495550"/>
            <a:ext cx="3429000" cy="2286000"/>
          </a:xfrm>
          <a:prstGeom prst="rect">
            <a:avLst/>
          </a:prstGeom>
        </p:spPr>
        <p:txBody>
          <a:bodyPr vert="horz" lIns="91440" tIns="45720" rIns="91440" bIns="45720" rtlCol="0">
            <a:noAutofit/>
          </a:bodyPr>
          <a:lstStyle/>
          <a:p>
            <a:pPr marL="342900" marR="0" lvl="0" indent="-342900" algn="ctr" defTabSz="914400" rtl="0" eaLnBrk="1" fontAlgn="auto" latinLnBrk="0" hangingPunct="1">
              <a:spcBef>
                <a:spcPct val="20000"/>
              </a:spcBef>
              <a:spcAft>
                <a:spcPts val="0"/>
              </a:spcAft>
              <a:buClrTx/>
              <a:buSzTx/>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	Techniques of Recruitment</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Portals Hunt</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Google Search</a:t>
            </a:r>
          </a:p>
          <a:p>
            <a:pPr marL="342900" marR="0" lvl="0" indent="-342900" algn="l" defTabSz="914400" rtl="0" eaLnBrk="1" fontAlgn="auto" latinLnBrk="0" hangingPunct="1">
              <a:spcBef>
                <a:spcPct val="20000"/>
              </a:spcBef>
              <a:spcAft>
                <a:spcPts val="0"/>
              </a:spcAft>
              <a:buClrTx/>
              <a:buSzTx/>
              <a:buAutoNum type="arabicPeriod"/>
              <a:tabLst/>
              <a:defRPr/>
            </a:pPr>
            <a:r>
              <a:rPr kumimoji="0" lang="en-IN" sz="1600" b="0" i="0" u="none" strike="noStrike" kern="1200" cap="none" spc="0" normalizeH="0" baseline="0" noProof="0" dirty="0">
                <a:ln>
                  <a:noFill/>
                </a:ln>
                <a:solidFill>
                  <a:schemeClr val="tx1"/>
                </a:solidFill>
                <a:effectLst/>
                <a:uLnTx/>
                <a:uFillTx/>
                <a:latin typeface="+mn-lt"/>
                <a:ea typeface="+mn-ea"/>
                <a:cs typeface="+mn-cs"/>
              </a:rPr>
              <a:t>X-ray Search</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err="1"/>
              <a:t>Naukri</a:t>
            </a:r>
            <a:r>
              <a:rPr lang="en-IN" sz="1600" dirty="0"/>
              <a:t> – Boolean Search</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err="1"/>
              <a:t>Linkedin</a:t>
            </a:r>
            <a:r>
              <a:rPr lang="en-IN" sz="1600" dirty="0"/>
              <a:t> Search</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56322" name="Picture 2" descr="C:\Pankaj\Reet Technologies\Files,Artwork &amp; Mktg\disrupting_the_hr_workforce_5cc32496b50f0.jpg"/>
          <p:cNvPicPr>
            <a:picLocks noChangeAspect="1" noChangeArrowheads="1"/>
          </p:cNvPicPr>
          <p:nvPr/>
        </p:nvPicPr>
        <p:blipFill>
          <a:blip r:embed="rId3"/>
          <a:srcRect/>
          <a:stretch>
            <a:fillRect/>
          </a:stretch>
        </p:blipFill>
        <p:spPr bwMode="auto">
          <a:xfrm>
            <a:off x="4572000" y="895350"/>
            <a:ext cx="4572000" cy="147955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Human Resource - HR</a:t>
            </a:r>
            <a:endParaRPr lang="en-US" b="1" dirty="0"/>
          </a:p>
        </p:txBody>
      </p:sp>
      <p:sp>
        <p:nvSpPr>
          <p:cNvPr id="6" name="Content Placeholder 5"/>
          <p:cNvSpPr>
            <a:spLocks noGrp="1"/>
          </p:cNvSpPr>
          <p:nvPr>
            <p:ph idx="1"/>
          </p:nvPr>
        </p:nvSpPr>
        <p:spPr>
          <a:xfrm>
            <a:off x="838200" y="1123950"/>
            <a:ext cx="3657600" cy="1143000"/>
          </a:xfrm>
        </p:spPr>
        <p:txBody>
          <a:bodyPr>
            <a:noAutofit/>
          </a:bodyPr>
          <a:lstStyle/>
          <a:p>
            <a:pPr marL="0" indent="0">
              <a:buNone/>
            </a:pPr>
            <a:r>
              <a:rPr lang="en-IN" sz="1800" b="1" dirty="0"/>
              <a:t>Boolean Search - Naukri</a:t>
            </a:r>
          </a:p>
          <a:p>
            <a:r>
              <a:rPr lang="en-IN" sz="1800" dirty="0"/>
              <a:t>And</a:t>
            </a:r>
          </a:p>
          <a:p>
            <a:r>
              <a:rPr lang="en-IN" sz="1800" dirty="0"/>
              <a:t>Or</a:t>
            </a:r>
          </a:p>
          <a:p>
            <a:r>
              <a:rPr lang="en-IN" sz="1800" dirty="0"/>
              <a:t>Not</a:t>
            </a:r>
          </a:p>
          <a:p>
            <a:r>
              <a:rPr lang="en-IN" sz="1800" dirty="0"/>
              <a:t>Using “</a:t>
            </a:r>
          </a:p>
          <a:p>
            <a:endParaRPr lang="en-US" sz="1800" b="1" dirty="0"/>
          </a:p>
        </p:txBody>
      </p:sp>
      <p:sp>
        <p:nvSpPr>
          <p:cNvPr id="9" name="Content Placeholder 5"/>
          <p:cNvSpPr txBox="1">
            <a:spLocks/>
          </p:cNvSpPr>
          <p:nvPr/>
        </p:nvSpPr>
        <p:spPr>
          <a:xfrm>
            <a:off x="2438400" y="2876550"/>
            <a:ext cx="3429000" cy="1905000"/>
          </a:xfrm>
          <a:prstGeom prst="rect">
            <a:avLst/>
          </a:prstGeom>
        </p:spPr>
        <p:txBody>
          <a:bodyPr vert="horz" lIns="91440" tIns="45720" rIns="91440" bIns="45720" rtlCol="0">
            <a:noAutofit/>
          </a:bodyPr>
          <a:lstStyle/>
          <a:p>
            <a:pPr marL="342900" marR="0" lvl="0" indent="-342900" algn="ctr" defTabSz="914400" rtl="0" eaLnBrk="1" fontAlgn="auto" latinLnBrk="0" hangingPunct="1">
              <a:spcBef>
                <a:spcPct val="20000"/>
              </a:spcBef>
              <a:spcAft>
                <a:spcPts val="0"/>
              </a:spcAft>
              <a:buClrTx/>
              <a:buSzTx/>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	</a:t>
            </a:r>
            <a:r>
              <a:rPr lang="en-IN" sz="1600" b="1" dirty="0"/>
              <a:t>X-Ray Search</a:t>
            </a:r>
            <a:endParaRPr kumimoji="0" lang="en-IN" sz="16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Site :</a:t>
            </a:r>
          </a:p>
          <a:p>
            <a:pPr marL="342900" marR="0" lvl="0" indent="-342900" algn="l" defTabSz="914400" rtl="0" eaLnBrk="1" fontAlgn="auto" latinLnBrk="0" hangingPunct="1">
              <a:spcBef>
                <a:spcPct val="20000"/>
              </a:spcBef>
              <a:spcAft>
                <a:spcPts val="0"/>
              </a:spcAft>
              <a:buClrTx/>
              <a:buSzTx/>
              <a:buAutoNum type="arabicPeriod"/>
              <a:tabLst/>
              <a:defRPr/>
            </a:pPr>
            <a:r>
              <a:rPr kumimoji="0" lang="en-IN" sz="1600" b="0" i="0" u="none" strike="noStrike" kern="1200" cap="none" spc="0" normalizeH="0" baseline="0" noProof="0" dirty="0" err="1">
                <a:ln>
                  <a:noFill/>
                </a:ln>
                <a:solidFill>
                  <a:schemeClr val="tx1"/>
                </a:solidFill>
                <a:effectLst/>
                <a:uLnTx/>
                <a:uFillTx/>
                <a:latin typeface="+mn-lt"/>
                <a:ea typeface="+mn-ea"/>
                <a:cs typeface="+mn-cs"/>
              </a:rPr>
              <a:t>InURL</a:t>
            </a:r>
            <a:r>
              <a:rPr kumimoji="0" lang="en-IN" sz="16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err="1"/>
              <a:t>Filetype:PDF</a:t>
            </a:r>
            <a:r>
              <a:rPr lang="en-IN" sz="1600" dirty="0"/>
              <a:t>/Docs</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And OR NOT</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Using “</a:t>
            </a:r>
          </a:p>
          <a:p>
            <a:pPr marL="342900" marR="0" lvl="0" indent="-342900" algn="l" defTabSz="914400" rtl="0" eaLnBrk="1" fontAlgn="auto" latinLnBrk="0" hangingPunct="1">
              <a:spcBef>
                <a:spcPct val="20000"/>
              </a:spcBef>
              <a:spcAft>
                <a:spcPts val="0"/>
              </a:spcAft>
              <a:buClrTx/>
              <a:buSzTx/>
              <a:buAutoNum type="arabicPeriod"/>
              <a:tabLst/>
              <a:defRPr/>
            </a:pPr>
            <a:endParaRPr lang="en-IN" sz="1600" dirty="0"/>
          </a:p>
          <a:p>
            <a:pPr marL="342900" marR="0" lvl="0" indent="-342900" algn="l" defTabSz="914400" rtl="0" eaLnBrk="1" fontAlgn="auto" latinLnBrk="0" hangingPunct="1">
              <a:spcBef>
                <a:spcPct val="20000"/>
              </a:spcBef>
              <a:spcAft>
                <a:spcPts val="0"/>
              </a:spcAft>
              <a:buClrTx/>
              <a:buSzTx/>
              <a:buAutoNum type="arabicPeriod"/>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56322" name="Picture 2" descr="C:\Pankaj\Reet Technologies\Files,Artwork &amp; Mktg\disrupting_the_hr_workforce_5cc32496b50f0.jpg"/>
          <p:cNvPicPr>
            <a:picLocks noChangeAspect="1" noChangeArrowheads="1"/>
          </p:cNvPicPr>
          <p:nvPr/>
        </p:nvPicPr>
        <p:blipFill>
          <a:blip r:embed="rId3"/>
          <a:srcRect/>
          <a:stretch>
            <a:fillRect/>
          </a:stretch>
        </p:blipFill>
        <p:spPr bwMode="auto">
          <a:xfrm>
            <a:off x="4572000" y="895350"/>
            <a:ext cx="4572000" cy="1479550"/>
          </a:xfrm>
          <a:prstGeom prst="rect">
            <a:avLst/>
          </a:prstGeom>
          <a:noFill/>
        </p:spPr>
      </p:pic>
    </p:spTree>
    <p:extLst>
      <p:ext uri="{BB962C8B-B14F-4D97-AF65-F5344CB8AC3E}">
        <p14:creationId xmlns:p14="http://schemas.microsoft.com/office/powerpoint/2010/main" val="2659942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Human Resource - HR</a:t>
            </a:r>
            <a:endParaRPr lang="en-US" b="1" dirty="0"/>
          </a:p>
        </p:txBody>
      </p:sp>
      <p:sp>
        <p:nvSpPr>
          <p:cNvPr id="6" name="Content Placeholder 5"/>
          <p:cNvSpPr>
            <a:spLocks noGrp="1"/>
          </p:cNvSpPr>
          <p:nvPr>
            <p:ph idx="1"/>
          </p:nvPr>
        </p:nvSpPr>
        <p:spPr>
          <a:xfrm>
            <a:off x="838200" y="1123950"/>
            <a:ext cx="3657600" cy="533400"/>
          </a:xfrm>
        </p:spPr>
        <p:txBody>
          <a:bodyPr>
            <a:noAutofit/>
          </a:bodyPr>
          <a:lstStyle/>
          <a:p>
            <a:r>
              <a:rPr lang="en-IN" sz="1800" b="1" dirty="0"/>
              <a:t>Important Points</a:t>
            </a:r>
            <a:endParaRPr lang="en-US" sz="1800" b="1" dirty="0"/>
          </a:p>
        </p:txBody>
      </p:sp>
      <p:sp>
        <p:nvSpPr>
          <p:cNvPr id="7" name="Content Placeholder 5"/>
          <p:cNvSpPr txBox="1">
            <a:spLocks/>
          </p:cNvSpPr>
          <p:nvPr/>
        </p:nvSpPr>
        <p:spPr>
          <a:xfrm>
            <a:off x="5257800" y="2495550"/>
            <a:ext cx="3505200" cy="2209800"/>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	Recruitment </a:t>
            </a:r>
            <a:r>
              <a:rPr lang="en-IN" sz="1600" b="1" dirty="0"/>
              <a:t>Process</a:t>
            </a:r>
            <a:endParaRPr kumimoji="0" lang="en-IN" sz="16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kumimoji="0" lang="en-IN" sz="1600" b="0" i="0" u="none" strike="noStrike" kern="1200" cap="none" spc="0" normalizeH="0" baseline="0" noProof="0" dirty="0">
                <a:ln>
                  <a:noFill/>
                </a:ln>
                <a:solidFill>
                  <a:schemeClr val="tx1"/>
                </a:solidFill>
                <a:effectLst/>
                <a:uLnTx/>
                <a:uFillTx/>
                <a:latin typeface="+mn-lt"/>
                <a:ea typeface="+mn-ea"/>
                <a:cs typeface="+mn-cs"/>
              </a:rPr>
              <a:t>Job Description</a:t>
            </a:r>
          </a:p>
          <a:p>
            <a:pPr marL="342900" marR="0" lvl="0" indent="-342900" algn="l" defTabSz="914400" rtl="0" eaLnBrk="1" fontAlgn="auto" latinLnBrk="0" hangingPunct="1">
              <a:lnSpc>
                <a:spcPct val="100000"/>
              </a:lnSpc>
              <a:spcBef>
                <a:spcPct val="20000"/>
              </a:spcBef>
              <a:spcAft>
                <a:spcPts val="0"/>
              </a:spcAft>
              <a:buClrTx/>
              <a:buSzTx/>
              <a:buAutoNum type="arabicPeriod"/>
              <a:tabLst/>
              <a:defRPr/>
            </a:pPr>
            <a:r>
              <a:rPr lang="en-IN" sz="1600" dirty="0"/>
              <a:t>Resume Analysis</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5"/>
          <p:cNvSpPr txBox="1">
            <a:spLocks/>
          </p:cNvSpPr>
          <p:nvPr/>
        </p:nvSpPr>
        <p:spPr>
          <a:xfrm>
            <a:off x="838200" y="1657350"/>
            <a:ext cx="3429000" cy="312420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kumimoji="0" lang="en-IN" sz="1600" b="1" i="0" u="none" strike="noStrike" kern="1200" cap="none" spc="0" normalizeH="0" baseline="0" noProof="0" dirty="0">
                <a:ln>
                  <a:noFill/>
                </a:ln>
                <a:solidFill>
                  <a:schemeClr val="tx1"/>
                </a:solidFill>
                <a:effectLst/>
                <a:uLnTx/>
                <a:uFillTx/>
                <a:latin typeface="+mn-lt"/>
                <a:ea typeface="+mn-ea"/>
                <a:cs typeface="+mn-cs"/>
              </a:rPr>
              <a:t>From Candidate</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Notice Period</a:t>
            </a:r>
          </a:p>
          <a:p>
            <a:pPr marL="342900" marR="0" lvl="0" indent="-342900" algn="l" defTabSz="914400" rtl="0" eaLnBrk="1" fontAlgn="auto" latinLnBrk="0" hangingPunct="1">
              <a:spcBef>
                <a:spcPct val="20000"/>
              </a:spcBef>
              <a:spcAft>
                <a:spcPts val="0"/>
              </a:spcAft>
              <a:buClrTx/>
              <a:buSzTx/>
              <a:buAutoNum type="arabicPeriod"/>
              <a:tabLst/>
              <a:defRPr/>
            </a:pPr>
            <a:r>
              <a:rPr kumimoji="0" lang="en-IN" sz="1600" b="0" i="0" u="none" strike="noStrike" kern="1200" cap="none" spc="0" normalizeH="0" baseline="0" noProof="0" dirty="0">
                <a:ln>
                  <a:noFill/>
                </a:ln>
                <a:solidFill>
                  <a:schemeClr val="tx1"/>
                </a:solidFill>
                <a:effectLst/>
                <a:uLnTx/>
                <a:uFillTx/>
                <a:latin typeface="+mn-lt"/>
                <a:ea typeface="+mn-ea"/>
                <a:cs typeface="+mn-cs"/>
              </a:rPr>
              <a:t>Is the Candidate good fit</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Generic Round of Discussion</a:t>
            </a:r>
          </a:p>
          <a:p>
            <a:pPr marL="342900" marR="0" lvl="0" indent="-342900" algn="l" defTabSz="914400" rtl="0" eaLnBrk="1" fontAlgn="auto" latinLnBrk="0" hangingPunct="1">
              <a:spcBef>
                <a:spcPct val="20000"/>
              </a:spcBef>
              <a:spcAft>
                <a:spcPts val="0"/>
              </a:spcAft>
              <a:buClrTx/>
              <a:buSzTx/>
              <a:buAutoNum type="arabicPeriod"/>
              <a:tabLst/>
              <a:defRPr/>
            </a:pPr>
            <a:r>
              <a:rPr kumimoji="0" lang="en-IN" sz="1600" b="0" i="0" u="none" strike="noStrike" kern="1200" cap="none" spc="0" normalizeH="0" baseline="0" noProof="0" dirty="0">
                <a:ln>
                  <a:noFill/>
                </a:ln>
                <a:solidFill>
                  <a:schemeClr val="tx1"/>
                </a:solidFill>
                <a:effectLst/>
                <a:uLnTx/>
                <a:uFillTx/>
                <a:latin typeface="+mn-lt"/>
                <a:ea typeface="+mn-ea"/>
                <a:cs typeface="+mn-cs"/>
              </a:rPr>
              <a:t>Current CTC</a:t>
            </a:r>
          </a:p>
          <a:p>
            <a:pPr marL="342900" marR="0" lvl="0" indent="-342900" algn="l" defTabSz="914400" rtl="0" eaLnBrk="1" fontAlgn="auto" latinLnBrk="0" hangingPunct="1">
              <a:spcBef>
                <a:spcPct val="20000"/>
              </a:spcBef>
              <a:spcAft>
                <a:spcPts val="0"/>
              </a:spcAft>
              <a:buClrTx/>
              <a:buSzTx/>
              <a:buAutoNum type="arabicPeriod"/>
              <a:tabLst/>
              <a:defRPr/>
            </a:pPr>
            <a:r>
              <a:rPr lang="en-IN" sz="1600" dirty="0"/>
              <a:t>Expected CTC</a:t>
            </a: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56322" name="Picture 2" descr="C:\Pankaj\Reet Technologies\Files,Artwork &amp; Mktg\disrupting_the_hr_workforce_5cc32496b50f0.jpg"/>
          <p:cNvPicPr>
            <a:picLocks noChangeAspect="1" noChangeArrowheads="1"/>
          </p:cNvPicPr>
          <p:nvPr/>
        </p:nvPicPr>
        <p:blipFill>
          <a:blip r:embed="rId3"/>
          <a:srcRect/>
          <a:stretch>
            <a:fillRect/>
          </a:stretch>
        </p:blipFill>
        <p:spPr bwMode="auto">
          <a:xfrm>
            <a:off x="4572000" y="895350"/>
            <a:ext cx="4572000" cy="147955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Roles &amp; Responsibilities of HR</a:t>
            </a:r>
            <a:endParaRPr lang="en-US" b="1" dirty="0"/>
          </a:p>
        </p:txBody>
      </p:sp>
      <p:sp>
        <p:nvSpPr>
          <p:cNvPr id="9" name="Content Placeholder 5"/>
          <p:cNvSpPr txBox="1">
            <a:spLocks/>
          </p:cNvSpPr>
          <p:nvPr/>
        </p:nvSpPr>
        <p:spPr>
          <a:xfrm>
            <a:off x="914400" y="971550"/>
            <a:ext cx="7848600" cy="3810000"/>
          </a:xfrm>
          <a:prstGeom prst="rect">
            <a:avLst/>
          </a:prstGeom>
        </p:spPr>
        <p:txBody>
          <a:bodyPr vert="horz" lIns="91440" tIns="45720" rIns="91440" bIns="45720" rtlCol="0">
            <a:noAutofit/>
          </a:bodyPr>
          <a:lstStyle/>
          <a:p>
            <a:pPr marL="342900" indent="-342900">
              <a:buAutoNum type="arabicPeriod"/>
            </a:pPr>
            <a:r>
              <a:rPr lang="en-IN" sz="1600" dirty="0"/>
              <a:t>Hunting out Right candidates for the company</a:t>
            </a:r>
          </a:p>
          <a:p>
            <a:pPr marL="342900" indent="-342900">
              <a:buAutoNum type="arabicPeriod"/>
            </a:pPr>
            <a:r>
              <a:rPr lang="en-IN" sz="1600" dirty="0"/>
              <a:t>Filtering the candidates via basic 1</a:t>
            </a:r>
            <a:r>
              <a:rPr lang="en-IN" sz="1600" baseline="30000" dirty="0"/>
              <a:t>st</a:t>
            </a:r>
            <a:r>
              <a:rPr lang="en-IN" sz="1600" dirty="0"/>
              <a:t> Round of Interview by HR.</a:t>
            </a:r>
          </a:p>
          <a:p>
            <a:pPr marL="342900" indent="-342900">
              <a:buAutoNum type="arabicPeriod"/>
            </a:pPr>
            <a:r>
              <a:rPr lang="en-IN" sz="1600" dirty="0"/>
              <a:t>Arranging interviews with senior management and stakeholders</a:t>
            </a:r>
          </a:p>
          <a:p>
            <a:pPr marL="342900" indent="-342900">
              <a:buAutoNum type="arabicPeriod"/>
            </a:pPr>
            <a:r>
              <a:rPr lang="en-IN" sz="1600" dirty="0"/>
              <a:t>Maintaining own tracker</a:t>
            </a:r>
          </a:p>
          <a:p>
            <a:pPr marL="342900" indent="-342900">
              <a:buAutoNum type="arabicPeriod"/>
            </a:pPr>
            <a:r>
              <a:rPr lang="en-IN" sz="1600" dirty="0"/>
              <a:t>Bifurcating candidate profiles received</a:t>
            </a:r>
          </a:p>
          <a:p>
            <a:pPr marL="342900" indent="-342900">
              <a:buAutoNum type="arabicPeriod"/>
            </a:pPr>
            <a:r>
              <a:rPr lang="en-IN" sz="1600" dirty="0"/>
              <a:t>Utilising the profiles which were not selected</a:t>
            </a:r>
          </a:p>
          <a:p>
            <a:pPr marL="342900" indent="-342900">
              <a:buAutoNum type="arabicPeriod"/>
            </a:pPr>
            <a:r>
              <a:rPr lang="en-IN" sz="1600" dirty="0"/>
              <a:t>Fitting the candidate in Either or Department with Required skills</a:t>
            </a:r>
          </a:p>
          <a:p>
            <a:pPr marL="342900" indent="-342900">
              <a:buAutoNum type="arabicPeriod"/>
            </a:pPr>
            <a:r>
              <a:rPr lang="en-IN" sz="1600" dirty="0"/>
              <a:t>Maintaining the Company decorum and Objective of the Company with team coordination.</a:t>
            </a:r>
          </a:p>
          <a:p>
            <a:pPr marL="342900" indent="-342900">
              <a:buAutoNum type="arabicPeriod"/>
            </a:pPr>
            <a:r>
              <a:rPr lang="en-IN" sz="1600" dirty="0"/>
              <a:t>Looking after the requirements of the departments</a:t>
            </a:r>
          </a:p>
          <a:p>
            <a:pPr marL="342900" indent="-342900">
              <a:buAutoNum type="arabicPeriod"/>
            </a:pPr>
            <a:r>
              <a:rPr lang="en-IN" sz="1600" dirty="0"/>
              <a:t>Rolling the salaries in Time</a:t>
            </a:r>
          </a:p>
          <a:p>
            <a:pPr marL="342900" indent="-342900">
              <a:buAutoNum type="arabicPeriod"/>
            </a:pPr>
            <a:r>
              <a:rPr lang="en-IN" sz="1600" dirty="0"/>
              <a:t>Designing the policies which are fit in the Legal frame as per the Indian Constitution.</a:t>
            </a:r>
          </a:p>
          <a:p>
            <a:pPr marL="342900" indent="-342900">
              <a:buAutoNum type="arabicPeriod"/>
            </a:pPr>
            <a:r>
              <a:rPr lang="en-IN" sz="1600" dirty="0"/>
              <a:t>Making the member Follow up the company policies.</a:t>
            </a:r>
          </a:p>
          <a:p>
            <a:pPr marL="342900" indent="-342900">
              <a:buAutoNum type="arabicPeriod"/>
            </a:pPr>
            <a:r>
              <a:rPr lang="en-IN" sz="1600" dirty="0"/>
              <a:t>Arranging Training sessions and Events of the company</a:t>
            </a:r>
            <a:endParaRPr lang="en-US" sz="1600" dirty="0"/>
          </a:p>
          <a:p>
            <a:pPr marL="342900" marR="0" lvl="0" indent="-342900" algn="l" defTabSz="914400" rtl="0" eaLnBrk="1" fontAlgn="auto" latinLnBrk="0" hangingPunct="1">
              <a:spcBef>
                <a:spcPct val="20000"/>
              </a:spcBef>
              <a:spcAft>
                <a:spcPts val="0"/>
              </a:spcAft>
              <a:buClrTx/>
              <a:buSzTx/>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Interview Questions</a:t>
            </a:r>
            <a:endParaRPr lang="en-US" b="1" dirty="0"/>
          </a:p>
        </p:txBody>
      </p:sp>
      <p:sp>
        <p:nvSpPr>
          <p:cNvPr id="9" name="Content Placeholder 5"/>
          <p:cNvSpPr txBox="1">
            <a:spLocks/>
          </p:cNvSpPr>
          <p:nvPr/>
        </p:nvSpPr>
        <p:spPr>
          <a:xfrm>
            <a:off x="914400" y="1200150"/>
            <a:ext cx="7848600" cy="3581400"/>
          </a:xfrm>
          <a:prstGeom prst="rect">
            <a:avLst/>
          </a:prstGeom>
        </p:spPr>
        <p:txBody>
          <a:bodyPr vert="horz" lIns="91440" tIns="45720" rIns="91440" bIns="45720" rtlCol="0">
            <a:noAutofit/>
          </a:bodyPr>
          <a:lstStyle/>
          <a:p>
            <a:pPr marL="342900" indent="-342900">
              <a:buAutoNum type="arabicPeriod"/>
            </a:pPr>
            <a:r>
              <a:rPr lang="en-IN" sz="1600" dirty="0"/>
              <a:t>Give a Short Intro About your Self</a:t>
            </a:r>
          </a:p>
          <a:p>
            <a:pPr marL="342900" indent="-342900">
              <a:buAutoNum type="arabicPeriod"/>
            </a:pPr>
            <a:r>
              <a:rPr lang="en-IN" sz="1600" dirty="0"/>
              <a:t>What is you current Company into.</a:t>
            </a:r>
          </a:p>
          <a:p>
            <a:pPr marL="342900" indent="-342900">
              <a:buAutoNum type="arabicPeriod"/>
            </a:pPr>
            <a:r>
              <a:rPr lang="en-IN" sz="1600" dirty="0"/>
              <a:t>What are your Roles and Responsibilities.</a:t>
            </a:r>
          </a:p>
          <a:p>
            <a:pPr marL="342900" indent="-342900">
              <a:buAutoNum type="arabicPeriod"/>
            </a:pPr>
            <a:r>
              <a:rPr lang="en-IN" sz="1600" dirty="0"/>
              <a:t>What Projects have you worked on.</a:t>
            </a:r>
          </a:p>
          <a:p>
            <a:pPr marL="342900" indent="-342900">
              <a:buAutoNum type="arabicPeriod"/>
            </a:pPr>
            <a:r>
              <a:rPr lang="en-IN" sz="1600" dirty="0"/>
              <a:t>What Technologies have you worked on.</a:t>
            </a:r>
          </a:p>
          <a:p>
            <a:pPr marL="342900" indent="-342900">
              <a:buAutoNum type="arabicPeriod"/>
            </a:pPr>
            <a:r>
              <a:rPr lang="en-IN" sz="1600" dirty="0"/>
              <a:t>On what Markets you have worked on.</a:t>
            </a:r>
          </a:p>
          <a:p>
            <a:pPr marL="342900" indent="-342900">
              <a:buAutoNum type="arabicPeriod"/>
            </a:pPr>
            <a:r>
              <a:rPr lang="en-IN" sz="1600" dirty="0"/>
              <a:t>On which Technology you think you are Best in.</a:t>
            </a:r>
          </a:p>
          <a:p>
            <a:pPr marL="342900" indent="-342900">
              <a:buAutoNum type="arabicPeriod"/>
            </a:pPr>
            <a:r>
              <a:rPr lang="en-IN" sz="1600" dirty="0"/>
              <a:t>What is your Notice Period.</a:t>
            </a:r>
          </a:p>
          <a:p>
            <a:pPr marL="342900" indent="-342900">
              <a:buAutoNum type="arabicPeriod"/>
            </a:pPr>
            <a:r>
              <a:rPr lang="en-IN" sz="1600" dirty="0"/>
              <a:t>What is your Current CTC &amp; Expected CTC.</a:t>
            </a:r>
          </a:p>
          <a:p>
            <a:pPr marL="342900" indent="-342900">
              <a:buAutoNum type="arabicPeriod"/>
            </a:pPr>
            <a:endParaRPr lang="en-IN" sz="1600" dirty="0"/>
          </a:p>
          <a:p>
            <a:pPr marL="342900" indent="-342900"/>
            <a:endParaRPr lang="en-US" sz="1600" dirty="0"/>
          </a:p>
          <a:p>
            <a:pPr marL="342900" marR="0" lvl="0" indent="-342900" algn="l" defTabSz="914400" rtl="0" eaLnBrk="1" fontAlgn="auto" latinLnBrk="0" hangingPunct="1">
              <a:spcBef>
                <a:spcPct val="20000"/>
              </a:spcBef>
              <a:spcAft>
                <a:spcPts val="0"/>
              </a:spcAft>
              <a:buClrTx/>
              <a:buSzTx/>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pic>
        <p:nvPicPr>
          <p:cNvPr id="1031" name="Picture 7" descr="C:\Users\prema\Downloads\Artificial-intelligence.jpeg"/>
          <p:cNvPicPr>
            <a:picLocks noChangeAspect="1" noChangeArrowheads="1"/>
          </p:cNvPicPr>
          <p:nvPr/>
        </p:nvPicPr>
        <p:blipFill>
          <a:blip r:embed="rId3"/>
          <a:srcRect/>
          <a:stretch>
            <a:fillRect/>
          </a:stretch>
        </p:blipFill>
        <p:spPr bwMode="auto">
          <a:xfrm>
            <a:off x="0" y="-1"/>
            <a:ext cx="9144000" cy="5143501"/>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914400" y="895350"/>
            <a:ext cx="7543800" cy="3539430"/>
          </a:xfrm>
          <a:prstGeom prst="rect">
            <a:avLst/>
          </a:prstGeom>
        </p:spPr>
        <p:txBody>
          <a:bodyPr wrap="square">
            <a:spAutoFit/>
          </a:bodyPr>
          <a:lstStyle/>
          <a:p>
            <a:r>
              <a:rPr lang="en-US" sz="1600" dirty="0"/>
              <a:t>Artificial Intelligence (AI) is the simulation of human intelligence by machines, especially computer systems. </a:t>
            </a:r>
          </a:p>
          <a:p>
            <a:endParaRPr lang="en-US" sz="1600" dirty="0"/>
          </a:p>
          <a:p>
            <a:r>
              <a:rPr lang="en-US" sz="1600" dirty="0"/>
              <a:t>It enables machines to perform tasks that typically require human intelligence, such as </a:t>
            </a:r>
          </a:p>
          <a:p>
            <a:pPr>
              <a:buFont typeface="Arial" pitchFamily="34" charset="0"/>
              <a:buChar char="•"/>
            </a:pPr>
            <a:r>
              <a:rPr lang="en-US" sz="1600" b="1" dirty="0"/>
              <a:t>Learning, </a:t>
            </a:r>
          </a:p>
          <a:p>
            <a:pPr>
              <a:buFont typeface="Arial" pitchFamily="34" charset="0"/>
              <a:buChar char="•"/>
            </a:pPr>
            <a:r>
              <a:rPr lang="en-US" sz="1600" b="1" dirty="0"/>
              <a:t>Reasoning, </a:t>
            </a:r>
          </a:p>
          <a:p>
            <a:pPr>
              <a:buFont typeface="Arial" pitchFamily="34" charset="0"/>
              <a:buChar char="•"/>
            </a:pPr>
            <a:r>
              <a:rPr lang="en-US" sz="1600" b="1" dirty="0"/>
              <a:t>Problem-solving, </a:t>
            </a:r>
          </a:p>
          <a:p>
            <a:pPr>
              <a:buFont typeface="Arial" pitchFamily="34" charset="0"/>
              <a:buChar char="•"/>
            </a:pPr>
            <a:r>
              <a:rPr lang="en-US" sz="1600" b="1" dirty="0"/>
              <a:t>Understanding language, and </a:t>
            </a:r>
          </a:p>
          <a:p>
            <a:pPr>
              <a:buFont typeface="Arial" pitchFamily="34" charset="0"/>
              <a:buChar char="•"/>
            </a:pPr>
            <a:r>
              <a:rPr lang="en-US" sz="1600" b="1" dirty="0"/>
              <a:t>Recognizing patterns. </a:t>
            </a:r>
          </a:p>
          <a:p>
            <a:endParaRPr lang="en-US" sz="1600" dirty="0"/>
          </a:p>
          <a:p>
            <a:r>
              <a:rPr lang="en-US" sz="1600" dirty="0"/>
              <a:t>AI systems use algorithms, data, and computational power to make decisions, automate processes, and adapt to changing environments.</a:t>
            </a:r>
          </a:p>
          <a:p>
            <a:endParaRPr lang="en-IN" sz="1600" dirty="0"/>
          </a:p>
          <a:p>
            <a:r>
              <a:rPr lang="en-IN" sz="1600" b="1" dirty="0">
                <a:solidFill>
                  <a:srgbClr val="FF0000"/>
                </a:solidFill>
              </a:rPr>
              <a:t>The base of AI is DATA. Large Amount of DATA. Without Data AI is not Possible</a:t>
            </a:r>
            <a:endParaRPr lang="en-US" sz="1600" b="1" dirty="0">
              <a:solidFill>
                <a:srgbClr val="FF0000"/>
              </a:solidFill>
            </a:endParaRPr>
          </a:p>
        </p:txBody>
      </p:sp>
      <p:sp>
        <p:nvSpPr>
          <p:cNvPr id="6" name="Title 1"/>
          <p:cNvSpPr>
            <a:spLocks noGrp="1"/>
          </p:cNvSpPr>
          <p:nvPr>
            <p:ph type="title"/>
          </p:nvPr>
        </p:nvSpPr>
        <p:spPr>
          <a:xfrm>
            <a:off x="457200" y="57150"/>
            <a:ext cx="8229600" cy="857250"/>
          </a:xfrm>
        </p:spPr>
        <p:txBody>
          <a:bodyPr/>
          <a:lstStyle/>
          <a:p>
            <a:r>
              <a:rPr lang="en-IN" b="1" dirty="0"/>
              <a:t>What is AI?</a:t>
            </a:r>
            <a:endParaRPr lang="en-US"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457200" y="895350"/>
            <a:ext cx="8382000" cy="3539430"/>
          </a:xfrm>
          <a:prstGeom prst="rect">
            <a:avLst/>
          </a:prstGeom>
        </p:spPr>
        <p:txBody>
          <a:bodyPr wrap="square">
            <a:spAutoFit/>
          </a:bodyPr>
          <a:lstStyle/>
          <a:p>
            <a:r>
              <a:rPr lang="en-US" sz="1600" dirty="0"/>
              <a:t>Artificial Intelligence (AI) encompasses several departments or domains, each focusing on specific areas of research, development, and application. The major departments covered in AI include:</a:t>
            </a:r>
          </a:p>
          <a:p>
            <a:endParaRPr lang="en-US" sz="1600" dirty="0"/>
          </a:p>
          <a:p>
            <a:r>
              <a:rPr lang="en-US" sz="1600" b="1" dirty="0"/>
              <a:t>1. Machine Learning (ML):</a:t>
            </a:r>
            <a:r>
              <a:rPr lang="en-US" sz="1600" dirty="0"/>
              <a:t> Focuses on teaching machines to learn from data and make predictions or decisions without explicit programming.</a:t>
            </a:r>
          </a:p>
          <a:p>
            <a:endParaRPr lang="en-US" sz="1600" dirty="0"/>
          </a:p>
          <a:p>
            <a:r>
              <a:rPr lang="en-US" sz="1600" b="1" dirty="0"/>
              <a:t>2. Deep Learning:</a:t>
            </a:r>
            <a:r>
              <a:rPr lang="en-US" sz="1600" dirty="0"/>
              <a:t> A subset of ML that uses artificial neural networks to model complex patterns and solve advanced tasks like image recognition and natural language processing.</a:t>
            </a:r>
          </a:p>
          <a:p>
            <a:endParaRPr lang="en-US" sz="1600" dirty="0"/>
          </a:p>
          <a:p>
            <a:r>
              <a:rPr lang="en-US" sz="1600" b="1" dirty="0"/>
              <a:t>3. Natural Language Processing (NLP):</a:t>
            </a:r>
            <a:r>
              <a:rPr lang="en-US" sz="1600" dirty="0"/>
              <a:t> Deals with enabling machines to understand, interpret, and generate human language (e.g., </a:t>
            </a:r>
            <a:r>
              <a:rPr lang="en-US" sz="1600" dirty="0" err="1"/>
              <a:t>chatbots</a:t>
            </a:r>
            <a:r>
              <a:rPr lang="en-US" sz="1600" dirty="0"/>
              <a:t>, language translation).</a:t>
            </a:r>
          </a:p>
          <a:p>
            <a:endParaRPr lang="en-US" sz="1600" dirty="0"/>
          </a:p>
          <a:p>
            <a:r>
              <a:rPr lang="en-US" sz="1600" b="1" dirty="0"/>
              <a:t>4. Computer Vision:</a:t>
            </a:r>
            <a:r>
              <a:rPr lang="en-US" sz="1600" dirty="0"/>
              <a:t> Focuses on enabling machines to interpret and process visual data, such as images and videos, to recognize objects, scenes, and actions.</a:t>
            </a:r>
          </a:p>
        </p:txBody>
      </p:sp>
      <p:sp>
        <p:nvSpPr>
          <p:cNvPr id="6" name="Title 1"/>
          <p:cNvSpPr>
            <a:spLocks noGrp="1"/>
          </p:cNvSpPr>
          <p:nvPr>
            <p:ph type="title"/>
          </p:nvPr>
        </p:nvSpPr>
        <p:spPr>
          <a:xfrm>
            <a:off x="457200" y="57150"/>
            <a:ext cx="8229600" cy="857250"/>
          </a:xfrm>
        </p:spPr>
        <p:txBody>
          <a:bodyPr>
            <a:normAutofit/>
          </a:bodyPr>
          <a:lstStyle/>
          <a:p>
            <a:r>
              <a:rPr lang="en-IN" sz="3200" b="1" dirty="0"/>
              <a:t>What are important AI departments?</a:t>
            </a:r>
            <a:endParaRPr lang="en-US" sz="3200"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9050"/>
            <a:ext cx="9144000" cy="5143500"/>
          </a:xfrm>
          <a:prstGeom prst="rect">
            <a:avLst/>
          </a:prstGeom>
          <a:noFill/>
        </p:spPr>
      </p:pic>
      <p:sp>
        <p:nvSpPr>
          <p:cNvPr id="5" name="Rectangle 4"/>
          <p:cNvSpPr/>
          <p:nvPr/>
        </p:nvSpPr>
        <p:spPr>
          <a:xfrm>
            <a:off x="533400" y="1123950"/>
            <a:ext cx="8153400" cy="3046988"/>
          </a:xfrm>
          <a:prstGeom prst="rect">
            <a:avLst/>
          </a:prstGeom>
        </p:spPr>
        <p:txBody>
          <a:bodyPr wrap="square">
            <a:spAutoFit/>
          </a:bodyPr>
          <a:lstStyle/>
          <a:p>
            <a:r>
              <a:rPr lang="en-US" sz="1600" b="1" dirty="0"/>
              <a:t>5. Robotics:</a:t>
            </a:r>
            <a:r>
              <a:rPr lang="en-US" sz="1600" dirty="0"/>
              <a:t> Involves designing and programming robots to perform tasks autonomously, including movement, manipulation, and interaction with the environment.</a:t>
            </a:r>
          </a:p>
          <a:p>
            <a:endParaRPr lang="en-US" sz="1600" dirty="0"/>
          </a:p>
          <a:p>
            <a:r>
              <a:rPr lang="en-US" sz="1600" b="1" dirty="0"/>
              <a:t>6. Expert Systems:</a:t>
            </a:r>
            <a:r>
              <a:rPr lang="en-US" sz="1600" dirty="0"/>
              <a:t> Uses AI to mimic the decision-making ability of a human expert in specific domains (e.g., medical diagnosis, legal advice).</a:t>
            </a:r>
          </a:p>
          <a:p>
            <a:endParaRPr lang="en-US" sz="1600" dirty="0"/>
          </a:p>
          <a:p>
            <a:r>
              <a:rPr lang="en-US" sz="1600" b="1" dirty="0"/>
              <a:t>7. Reinforcement Learning:</a:t>
            </a:r>
            <a:r>
              <a:rPr lang="en-US" sz="1600" dirty="0"/>
              <a:t> Focuses on training agents to make decisions by rewarding desired behaviors and penalizing undesired ones.</a:t>
            </a:r>
          </a:p>
          <a:p>
            <a:endParaRPr lang="en-US" sz="1600" dirty="0"/>
          </a:p>
          <a:p>
            <a:r>
              <a:rPr lang="en-US" sz="1600" b="1" dirty="0"/>
              <a:t>8. Speech Recognition:</a:t>
            </a:r>
            <a:r>
              <a:rPr lang="en-US" sz="1600" dirty="0"/>
              <a:t> Allows machines to recognize and process spoken language into text.</a:t>
            </a:r>
          </a:p>
          <a:p>
            <a:endParaRPr lang="en-US" sz="1600" dirty="0"/>
          </a:p>
          <a:p>
            <a:endParaRPr lang="en-US" sz="1600" dirty="0"/>
          </a:p>
        </p:txBody>
      </p:sp>
      <p:sp>
        <p:nvSpPr>
          <p:cNvPr id="8" name="Title 1"/>
          <p:cNvSpPr>
            <a:spLocks noGrp="1"/>
          </p:cNvSpPr>
          <p:nvPr>
            <p:ph type="title"/>
          </p:nvPr>
        </p:nvSpPr>
        <p:spPr>
          <a:xfrm>
            <a:off x="457200" y="57150"/>
            <a:ext cx="8229600" cy="857250"/>
          </a:xfrm>
        </p:spPr>
        <p:txBody>
          <a:bodyPr>
            <a:normAutofit/>
          </a:bodyPr>
          <a:lstStyle/>
          <a:p>
            <a:r>
              <a:rPr lang="en-IN" sz="3200" b="1" dirty="0"/>
              <a:t>What are important AI departments?</a:t>
            </a:r>
            <a:endParaRPr lang="en-US" sz="32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457200" y="895350"/>
            <a:ext cx="8382000" cy="2800767"/>
          </a:xfrm>
          <a:prstGeom prst="rect">
            <a:avLst/>
          </a:prstGeom>
        </p:spPr>
        <p:txBody>
          <a:bodyPr wrap="square">
            <a:spAutoFit/>
          </a:bodyPr>
          <a:lstStyle/>
          <a:p>
            <a:r>
              <a:rPr lang="en-US" sz="1600" b="1" dirty="0"/>
              <a:t>9. AI Ethics and Governance:</a:t>
            </a:r>
            <a:r>
              <a:rPr lang="en-US" sz="1600" dirty="0"/>
              <a:t> Examines the ethical implications and guidelines for AI development, ensuring fairness, transparency, and accountability.</a:t>
            </a:r>
          </a:p>
          <a:p>
            <a:endParaRPr lang="en-US" sz="1600" dirty="0"/>
          </a:p>
          <a:p>
            <a:r>
              <a:rPr lang="en-US" sz="1600" b="1" dirty="0"/>
              <a:t>10. Predictive Analytics:</a:t>
            </a:r>
            <a:r>
              <a:rPr lang="en-US" sz="1600" dirty="0"/>
              <a:t> Uses AI to analyze current and historical data to forecast future outcomes or trends.</a:t>
            </a:r>
          </a:p>
          <a:p>
            <a:endParaRPr lang="en-US" sz="1600" dirty="0"/>
          </a:p>
          <a:p>
            <a:r>
              <a:rPr lang="en-US" sz="1600" b="1" dirty="0"/>
              <a:t>11. Cognitive Computing:</a:t>
            </a:r>
            <a:r>
              <a:rPr lang="en-US" sz="1600" dirty="0"/>
              <a:t> Mimics human thought processes by integrating data, patterns, and context for advanced problem-solving.</a:t>
            </a:r>
          </a:p>
          <a:p>
            <a:endParaRPr lang="en-US" sz="1600" dirty="0"/>
          </a:p>
          <a:p>
            <a:r>
              <a:rPr lang="en-US" sz="1600" b="1" dirty="0"/>
              <a:t>12. Autonomous Systems:</a:t>
            </a:r>
            <a:r>
              <a:rPr lang="en-US" sz="1600" dirty="0"/>
              <a:t> Develops self-operating systems like self-driving cars or drones that can operate with minimal human intervention.</a:t>
            </a:r>
          </a:p>
        </p:txBody>
      </p:sp>
      <p:sp>
        <p:nvSpPr>
          <p:cNvPr id="6" name="Title 1"/>
          <p:cNvSpPr>
            <a:spLocks noGrp="1"/>
          </p:cNvSpPr>
          <p:nvPr>
            <p:ph type="title"/>
          </p:nvPr>
        </p:nvSpPr>
        <p:spPr>
          <a:xfrm>
            <a:off x="457200" y="57150"/>
            <a:ext cx="8229600" cy="857250"/>
          </a:xfrm>
        </p:spPr>
        <p:txBody>
          <a:bodyPr>
            <a:normAutofit/>
          </a:bodyPr>
          <a:lstStyle/>
          <a:p>
            <a:r>
              <a:rPr lang="en-IN" sz="3200" b="1" dirty="0"/>
              <a:t>What are important AI departments?</a:t>
            </a:r>
            <a:endParaRPr lang="en-US" sz="32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152400" y="895350"/>
            <a:ext cx="4572000" cy="4278094"/>
          </a:xfrm>
          <a:prstGeom prst="rect">
            <a:avLst/>
          </a:prstGeom>
        </p:spPr>
        <p:txBody>
          <a:bodyPr wrap="square">
            <a:spAutoFit/>
          </a:bodyPr>
          <a:lstStyle/>
          <a:p>
            <a:pPr>
              <a:buFont typeface="Arial" pitchFamily="34" charset="0"/>
              <a:buChar char="•"/>
            </a:pPr>
            <a:r>
              <a:rPr lang="en-US" sz="1600" b="1" dirty="0"/>
              <a:t>Mathematics and Statistics:</a:t>
            </a:r>
            <a:endParaRPr lang="en-US" sz="1600" dirty="0"/>
          </a:p>
          <a:p>
            <a:pPr lvl="1">
              <a:buFont typeface="Arial" pitchFamily="34" charset="0"/>
              <a:buChar char="•"/>
            </a:pPr>
            <a:r>
              <a:rPr lang="en-US" sz="1600" dirty="0"/>
              <a:t>Linear Algebra</a:t>
            </a:r>
          </a:p>
          <a:p>
            <a:pPr lvl="1">
              <a:buFont typeface="Arial" pitchFamily="34" charset="0"/>
              <a:buChar char="•"/>
            </a:pPr>
            <a:r>
              <a:rPr lang="en-US" sz="1600" dirty="0"/>
              <a:t>Probability and Statistics</a:t>
            </a:r>
          </a:p>
          <a:p>
            <a:pPr lvl="1">
              <a:buFont typeface="Arial" pitchFamily="34" charset="0"/>
              <a:buChar char="•"/>
            </a:pPr>
            <a:r>
              <a:rPr lang="en-US" sz="1600" dirty="0"/>
              <a:t>Calculus</a:t>
            </a:r>
          </a:p>
          <a:p>
            <a:pPr lvl="1">
              <a:buFont typeface="Arial" pitchFamily="34" charset="0"/>
              <a:buChar char="•"/>
            </a:pPr>
            <a:r>
              <a:rPr lang="en-US" sz="1600" dirty="0"/>
              <a:t>Optimization techniques</a:t>
            </a:r>
          </a:p>
          <a:p>
            <a:pPr lvl="1">
              <a:buFont typeface="Arial" pitchFamily="34" charset="0"/>
              <a:buChar char="•"/>
            </a:pPr>
            <a:endParaRPr lang="en-US" sz="1600" dirty="0"/>
          </a:p>
          <a:p>
            <a:pPr>
              <a:buFont typeface="Arial" pitchFamily="34" charset="0"/>
              <a:buChar char="•"/>
            </a:pPr>
            <a:r>
              <a:rPr lang="en-US" sz="1600" b="1" dirty="0"/>
              <a:t>Data Handling:</a:t>
            </a:r>
            <a:endParaRPr lang="en-US" sz="1600" dirty="0"/>
          </a:p>
          <a:p>
            <a:pPr lvl="1">
              <a:buFont typeface="Arial" pitchFamily="34" charset="0"/>
              <a:buChar char="•"/>
            </a:pPr>
            <a:r>
              <a:rPr lang="en-US" sz="1600" dirty="0"/>
              <a:t>Data preprocessing and cleaning</a:t>
            </a:r>
          </a:p>
          <a:p>
            <a:pPr lvl="1">
              <a:buFont typeface="Arial" pitchFamily="34" charset="0"/>
              <a:buChar char="•"/>
            </a:pPr>
            <a:r>
              <a:rPr lang="en-US" sz="1600" dirty="0"/>
              <a:t>Data visualization tools (e.g., </a:t>
            </a:r>
            <a:r>
              <a:rPr lang="en-US" sz="1600" dirty="0" err="1"/>
              <a:t>Matplotlib</a:t>
            </a:r>
            <a:r>
              <a:rPr lang="en-US" sz="1600" dirty="0"/>
              <a:t>, </a:t>
            </a:r>
            <a:r>
              <a:rPr lang="en-US" sz="1600" dirty="0" err="1"/>
              <a:t>Seaborn</a:t>
            </a:r>
            <a:r>
              <a:rPr lang="en-US" sz="1600" dirty="0"/>
              <a:t>)</a:t>
            </a:r>
          </a:p>
          <a:p>
            <a:pPr lvl="1">
              <a:buFont typeface="Arial" pitchFamily="34" charset="0"/>
              <a:buChar char="•"/>
            </a:pPr>
            <a:endParaRPr lang="en-US" sz="1600" dirty="0"/>
          </a:p>
          <a:p>
            <a:pPr>
              <a:buFont typeface="Arial" pitchFamily="34" charset="0"/>
              <a:buChar char="•"/>
            </a:pPr>
            <a:r>
              <a:rPr lang="en-US" sz="1600" b="1" dirty="0"/>
              <a:t>Machine Learning &amp; Deep Learning:</a:t>
            </a:r>
            <a:endParaRPr lang="en-US" sz="1600" dirty="0"/>
          </a:p>
          <a:p>
            <a:pPr lvl="1">
              <a:buFont typeface="Arial" pitchFamily="34" charset="0"/>
              <a:buChar char="•"/>
            </a:pPr>
            <a:r>
              <a:rPr lang="en-US" sz="1600" dirty="0"/>
              <a:t>Supervised, unsupervised, and reinforcement learning</a:t>
            </a:r>
          </a:p>
          <a:p>
            <a:pPr lvl="1">
              <a:buFont typeface="Arial" pitchFamily="34" charset="0"/>
              <a:buChar char="•"/>
            </a:pPr>
            <a:r>
              <a:rPr lang="en-US" sz="1600" dirty="0"/>
              <a:t>Neural networks, CNNs, RNNs, GANs</a:t>
            </a:r>
          </a:p>
          <a:p>
            <a:pPr lvl="1">
              <a:buFont typeface="Arial" pitchFamily="34" charset="0"/>
              <a:buChar char="•"/>
            </a:pPr>
            <a:r>
              <a:rPr lang="en-US" sz="1600" dirty="0"/>
              <a:t>Understanding AI frameworks and libraries</a:t>
            </a:r>
          </a:p>
          <a:p>
            <a:endParaRPr lang="en-US" sz="1600" dirty="0"/>
          </a:p>
        </p:txBody>
      </p:sp>
      <p:sp>
        <p:nvSpPr>
          <p:cNvPr id="6" name="Title 1"/>
          <p:cNvSpPr>
            <a:spLocks noGrp="1"/>
          </p:cNvSpPr>
          <p:nvPr>
            <p:ph type="title"/>
          </p:nvPr>
        </p:nvSpPr>
        <p:spPr>
          <a:xfrm>
            <a:off x="457200" y="57150"/>
            <a:ext cx="8229600" cy="857250"/>
          </a:xfrm>
        </p:spPr>
        <p:txBody>
          <a:bodyPr>
            <a:normAutofit/>
          </a:bodyPr>
          <a:lstStyle/>
          <a:p>
            <a:r>
              <a:rPr lang="en-IN" sz="3200" b="1" dirty="0"/>
              <a:t>Tech Skills of an AI Engineer?</a:t>
            </a:r>
            <a:endParaRPr lang="en-US" sz="3200" b="1" dirty="0"/>
          </a:p>
        </p:txBody>
      </p:sp>
      <p:sp>
        <p:nvSpPr>
          <p:cNvPr id="7" name="Rectangle 6"/>
          <p:cNvSpPr/>
          <p:nvPr/>
        </p:nvSpPr>
        <p:spPr>
          <a:xfrm>
            <a:off x="4495800" y="808256"/>
            <a:ext cx="4572000" cy="4031873"/>
          </a:xfrm>
          <a:prstGeom prst="rect">
            <a:avLst/>
          </a:prstGeom>
        </p:spPr>
        <p:txBody>
          <a:bodyPr>
            <a:spAutoFit/>
          </a:bodyPr>
          <a:lstStyle/>
          <a:p>
            <a:pPr>
              <a:buFont typeface="Arial" pitchFamily="34" charset="0"/>
              <a:buChar char="•"/>
            </a:pPr>
            <a:r>
              <a:rPr lang="en-US" sz="1600" b="1" dirty="0"/>
              <a:t>Natural Language Processing (NLP):</a:t>
            </a:r>
            <a:endParaRPr lang="en-US" sz="1600" dirty="0"/>
          </a:p>
          <a:p>
            <a:pPr lvl="1">
              <a:buFont typeface="Arial" pitchFamily="34" charset="0"/>
              <a:buChar char="•"/>
            </a:pPr>
            <a:r>
              <a:rPr lang="en-US" sz="1600" dirty="0"/>
              <a:t>Tokenization, sentiment analysis, language modeling</a:t>
            </a:r>
          </a:p>
          <a:p>
            <a:pPr lvl="1">
              <a:buFont typeface="Arial" pitchFamily="34" charset="0"/>
              <a:buChar char="•"/>
            </a:pPr>
            <a:r>
              <a:rPr lang="en-US" sz="1600" dirty="0"/>
              <a:t>NLP libraries like NLTK, </a:t>
            </a:r>
            <a:r>
              <a:rPr lang="en-US" sz="1600" dirty="0" err="1"/>
              <a:t>SpaCy</a:t>
            </a:r>
            <a:r>
              <a:rPr lang="en-US" sz="1600" dirty="0"/>
              <a:t>, Hugging Face</a:t>
            </a:r>
          </a:p>
          <a:p>
            <a:pPr lvl="1">
              <a:buFont typeface="Arial" pitchFamily="34" charset="0"/>
              <a:buChar char="•"/>
            </a:pPr>
            <a:endParaRPr lang="en-US" sz="1600" dirty="0"/>
          </a:p>
          <a:p>
            <a:pPr>
              <a:buFont typeface="Arial" pitchFamily="34" charset="0"/>
              <a:buChar char="•"/>
            </a:pPr>
            <a:r>
              <a:rPr lang="en-US" sz="1600" b="1" dirty="0"/>
              <a:t>Big Data and Cloud Computing:</a:t>
            </a:r>
            <a:endParaRPr lang="en-US" sz="1600" dirty="0"/>
          </a:p>
          <a:p>
            <a:pPr lvl="1">
              <a:buFont typeface="Arial" pitchFamily="34" charset="0"/>
              <a:buChar char="•"/>
            </a:pPr>
            <a:r>
              <a:rPr lang="en-US" sz="1600" dirty="0"/>
              <a:t>Big data tools: </a:t>
            </a:r>
            <a:r>
              <a:rPr lang="en-US" sz="1600" dirty="0" err="1"/>
              <a:t>Hadoop</a:t>
            </a:r>
            <a:r>
              <a:rPr lang="en-US" sz="1600" dirty="0"/>
              <a:t>, Spark</a:t>
            </a:r>
          </a:p>
          <a:p>
            <a:pPr lvl="1">
              <a:buFont typeface="Arial" pitchFamily="34" charset="0"/>
              <a:buChar char="•"/>
            </a:pPr>
            <a:r>
              <a:rPr lang="en-US" sz="1600" dirty="0"/>
              <a:t>Cloud platforms: AWS, Google Cloud, Azure</a:t>
            </a:r>
          </a:p>
          <a:p>
            <a:pPr lvl="1">
              <a:buFont typeface="Arial" pitchFamily="34" charset="0"/>
              <a:buChar char="•"/>
            </a:pPr>
            <a:endParaRPr lang="en-US" sz="1600" dirty="0"/>
          </a:p>
          <a:p>
            <a:pPr>
              <a:buFont typeface="Arial" pitchFamily="34" charset="0"/>
              <a:buChar char="•"/>
            </a:pPr>
            <a:r>
              <a:rPr lang="en-US" sz="1600" b="1" dirty="0"/>
              <a:t>Model Deployment and APIs:</a:t>
            </a:r>
            <a:endParaRPr lang="en-US" sz="1600" dirty="0"/>
          </a:p>
          <a:p>
            <a:pPr lvl="1">
              <a:buFont typeface="Arial" pitchFamily="34" charset="0"/>
              <a:buChar char="•"/>
            </a:pPr>
            <a:r>
              <a:rPr lang="en-US" sz="1600" dirty="0"/>
              <a:t>Deployment </a:t>
            </a:r>
            <a:r>
              <a:rPr lang="en-US" sz="1600" dirty="0" err="1"/>
              <a:t>FWks</a:t>
            </a:r>
            <a:r>
              <a:rPr lang="en-US" sz="1600" dirty="0"/>
              <a:t>: Flask, </a:t>
            </a:r>
            <a:r>
              <a:rPr lang="en-US" sz="1600" dirty="0" err="1"/>
              <a:t>FastAPI</a:t>
            </a:r>
            <a:r>
              <a:rPr lang="en-US" sz="1600" dirty="0"/>
              <a:t>, </a:t>
            </a:r>
            <a:r>
              <a:rPr lang="en-US" sz="1600" dirty="0" err="1"/>
              <a:t>Django</a:t>
            </a:r>
            <a:endParaRPr lang="en-US" sz="1600" dirty="0"/>
          </a:p>
          <a:p>
            <a:pPr lvl="1">
              <a:buFont typeface="Arial" pitchFamily="34" charset="0"/>
              <a:buChar char="•"/>
            </a:pPr>
            <a:r>
              <a:rPr lang="en-US" sz="1600" dirty="0"/>
              <a:t>Tools for containerization: </a:t>
            </a:r>
            <a:r>
              <a:rPr lang="en-US" sz="1600" dirty="0" err="1"/>
              <a:t>Docker</a:t>
            </a:r>
            <a:r>
              <a:rPr lang="en-US" sz="1600" dirty="0"/>
              <a:t>, </a:t>
            </a:r>
            <a:r>
              <a:rPr lang="en-US" sz="1600" dirty="0" err="1"/>
              <a:t>Kubernetes</a:t>
            </a:r>
            <a:endParaRPr lang="en-US" sz="1600" dirty="0"/>
          </a:p>
          <a:p>
            <a:pPr lvl="1">
              <a:buFont typeface="Arial" pitchFamily="34" charset="0"/>
              <a:buChar char="•"/>
            </a:pPr>
            <a:endParaRPr lang="en-US" sz="1600" dirty="0"/>
          </a:p>
          <a:p>
            <a:pPr>
              <a:buFont typeface="Arial" pitchFamily="34" charset="0"/>
              <a:buChar char="•"/>
            </a:pPr>
            <a:r>
              <a:rPr lang="en-US" sz="1600" b="1" dirty="0"/>
              <a:t>Version Control and Collaboration:</a:t>
            </a:r>
            <a:endParaRPr lang="en-US" sz="1600" dirty="0"/>
          </a:p>
          <a:p>
            <a:pPr lvl="1">
              <a:buFont typeface="Arial" pitchFamily="34" charset="0"/>
              <a:buChar char="•"/>
            </a:pPr>
            <a:r>
              <a:rPr lang="en-US" sz="1600" dirty="0" err="1"/>
              <a:t>Git</a:t>
            </a:r>
            <a:r>
              <a:rPr lang="en-US" sz="1600" dirty="0"/>
              <a:t>/</a:t>
            </a:r>
            <a:r>
              <a:rPr lang="en-US" sz="1600" dirty="0" err="1"/>
              <a:t>GitHub</a:t>
            </a:r>
            <a:r>
              <a:rPr lang="en-US" sz="1600" dirty="0"/>
              <a:t> for managing code</a:t>
            </a:r>
          </a:p>
          <a:p>
            <a:pPr lvl="1">
              <a:buFont typeface="Arial" pitchFamily="34" charset="0"/>
              <a:buChar char="•"/>
            </a:pPr>
            <a:r>
              <a:rPr lang="en-US" sz="1600" dirty="0"/>
              <a:t>Collaboration tools like JIRA or </a:t>
            </a:r>
            <a:r>
              <a:rPr lang="en-US" sz="1600" dirty="0" err="1"/>
              <a:t>Trello</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5" name="Rectangle 4"/>
          <p:cNvSpPr/>
          <p:nvPr/>
        </p:nvSpPr>
        <p:spPr>
          <a:xfrm>
            <a:off x="609600" y="895350"/>
            <a:ext cx="4038600" cy="2831544"/>
          </a:xfrm>
          <a:prstGeom prst="rect">
            <a:avLst/>
          </a:prstGeom>
        </p:spPr>
        <p:txBody>
          <a:bodyPr wrap="square">
            <a:spAutoFit/>
          </a:bodyPr>
          <a:lstStyle/>
          <a:p>
            <a:pPr>
              <a:buFont typeface="Arial" pitchFamily="34" charset="0"/>
              <a:buChar char="•"/>
            </a:pPr>
            <a:r>
              <a:rPr lang="en-US" b="1" dirty="0"/>
              <a:t>Programming Languages</a:t>
            </a:r>
          </a:p>
          <a:p>
            <a:endParaRPr lang="en-US" sz="1600" b="1" dirty="0"/>
          </a:p>
          <a:p>
            <a:r>
              <a:rPr lang="en-US" sz="1600" b="1" dirty="0"/>
              <a:t>Python</a:t>
            </a:r>
            <a:endParaRPr lang="en-US" sz="1600" dirty="0"/>
          </a:p>
          <a:p>
            <a:r>
              <a:rPr lang="en-US" sz="1600" b="1" dirty="0"/>
              <a:t>R</a:t>
            </a:r>
            <a:r>
              <a:rPr lang="en-US" sz="1600" dirty="0"/>
              <a:t>:</a:t>
            </a:r>
          </a:p>
          <a:p>
            <a:r>
              <a:rPr lang="en-US" sz="1600" b="1" dirty="0"/>
              <a:t>Java:</a:t>
            </a:r>
            <a:endParaRPr lang="en-US" sz="1600" dirty="0"/>
          </a:p>
          <a:p>
            <a:r>
              <a:rPr lang="en-US" sz="1600" b="1" dirty="0"/>
              <a:t>C++:</a:t>
            </a:r>
            <a:endParaRPr lang="en-US" sz="1600" dirty="0"/>
          </a:p>
          <a:p>
            <a:r>
              <a:rPr lang="en-US" sz="1600" b="1" dirty="0"/>
              <a:t>JavaScript:</a:t>
            </a:r>
            <a:endParaRPr lang="en-US" sz="1600" dirty="0"/>
          </a:p>
          <a:p>
            <a:r>
              <a:rPr lang="en-US" sz="1600" b="1" dirty="0"/>
              <a:t>Julia:</a:t>
            </a:r>
            <a:endParaRPr lang="en-US" sz="1600" dirty="0"/>
          </a:p>
          <a:p>
            <a:r>
              <a:rPr lang="en-US" sz="1600" b="1" dirty="0"/>
              <a:t>SQL:</a:t>
            </a:r>
            <a:endParaRPr lang="en-US" sz="1600" dirty="0"/>
          </a:p>
          <a:p>
            <a:pPr>
              <a:buFont typeface="Arial" pitchFamily="34" charset="0"/>
              <a:buChar char="•"/>
            </a:pPr>
            <a:endParaRPr lang="en-US" sz="1600" dirty="0"/>
          </a:p>
          <a:p>
            <a:endParaRPr lang="en-US" sz="1600" dirty="0"/>
          </a:p>
        </p:txBody>
      </p:sp>
      <p:sp>
        <p:nvSpPr>
          <p:cNvPr id="6" name="Title 1"/>
          <p:cNvSpPr>
            <a:spLocks noGrp="1"/>
          </p:cNvSpPr>
          <p:nvPr>
            <p:ph type="title"/>
          </p:nvPr>
        </p:nvSpPr>
        <p:spPr>
          <a:xfrm>
            <a:off x="457200" y="57150"/>
            <a:ext cx="8229600" cy="857250"/>
          </a:xfrm>
        </p:spPr>
        <p:txBody>
          <a:bodyPr>
            <a:normAutofit/>
          </a:bodyPr>
          <a:lstStyle/>
          <a:p>
            <a:r>
              <a:rPr lang="en-IN" sz="3200" b="1" dirty="0"/>
              <a:t>Languages &amp; Tools of AI </a:t>
            </a:r>
            <a:r>
              <a:rPr lang="en-IN" sz="3200" b="1" dirty="0" err="1"/>
              <a:t>Enginner</a:t>
            </a:r>
            <a:endParaRPr lang="en-US" sz="3200" b="1" dirty="0"/>
          </a:p>
        </p:txBody>
      </p:sp>
      <p:sp>
        <p:nvSpPr>
          <p:cNvPr id="8" name="Rectangle 7"/>
          <p:cNvSpPr/>
          <p:nvPr/>
        </p:nvSpPr>
        <p:spPr>
          <a:xfrm>
            <a:off x="3276600" y="895350"/>
            <a:ext cx="3657600" cy="3877985"/>
          </a:xfrm>
          <a:prstGeom prst="rect">
            <a:avLst/>
          </a:prstGeom>
        </p:spPr>
        <p:txBody>
          <a:bodyPr wrap="square">
            <a:spAutoFit/>
          </a:bodyPr>
          <a:lstStyle/>
          <a:p>
            <a:r>
              <a:rPr lang="en-US" b="1" dirty="0"/>
              <a:t>AI-Specific Tools and Frameworks:</a:t>
            </a:r>
          </a:p>
          <a:p>
            <a:endParaRPr lang="en-US" b="1" dirty="0"/>
          </a:p>
          <a:p>
            <a:r>
              <a:rPr lang="en-US" sz="1600" b="1" dirty="0"/>
              <a:t>1. Deep Learning Frameworks:</a:t>
            </a:r>
            <a:endParaRPr lang="en-US" sz="1600" dirty="0"/>
          </a:p>
          <a:p>
            <a:pPr lvl="1"/>
            <a:r>
              <a:rPr lang="en-US" sz="1600" dirty="0" err="1"/>
              <a:t>TensorFlow</a:t>
            </a:r>
            <a:endParaRPr lang="en-US" sz="1600" dirty="0"/>
          </a:p>
          <a:p>
            <a:pPr lvl="1"/>
            <a:r>
              <a:rPr lang="en-US" sz="1600" dirty="0" err="1"/>
              <a:t>PyTorch</a:t>
            </a:r>
            <a:endParaRPr lang="en-US" sz="1600" dirty="0"/>
          </a:p>
          <a:p>
            <a:pPr lvl="1"/>
            <a:r>
              <a:rPr lang="en-US" sz="1600" dirty="0" err="1"/>
              <a:t>Keras</a:t>
            </a:r>
            <a:endParaRPr lang="en-US" sz="1600" dirty="0"/>
          </a:p>
          <a:p>
            <a:pPr lvl="1"/>
            <a:r>
              <a:rPr lang="en-US" sz="1600" dirty="0" err="1"/>
              <a:t>MXNet</a:t>
            </a:r>
            <a:endParaRPr lang="en-US" sz="1600" dirty="0"/>
          </a:p>
          <a:p>
            <a:r>
              <a:rPr lang="en-US" sz="1600" b="1" dirty="0"/>
              <a:t>2. Data Processing Tools:</a:t>
            </a:r>
            <a:endParaRPr lang="en-US" sz="1600" dirty="0"/>
          </a:p>
          <a:p>
            <a:pPr lvl="1"/>
            <a:r>
              <a:rPr lang="en-US" sz="1600" dirty="0"/>
              <a:t>Apache Kafka</a:t>
            </a:r>
          </a:p>
          <a:p>
            <a:pPr lvl="1"/>
            <a:r>
              <a:rPr lang="en-US" sz="1600" dirty="0" err="1"/>
              <a:t>Dask</a:t>
            </a:r>
            <a:endParaRPr lang="en-US" sz="1600" dirty="0"/>
          </a:p>
          <a:p>
            <a:r>
              <a:rPr lang="en-US" sz="1600" b="1" dirty="0"/>
              <a:t>3. Visualization Tools:</a:t>
            </a:r>
            <a:endParaRPr lang="en-US" sz="1600" dirty="0"/>
          </a:p>
          <a:p>
            <a:pPr lvl="1"/>
            <a:r>
              <a:rPr lang="en-US" sz="1600" dirty="0"/>
              <a:t>Tableau</a:t>
            </a:r>
          </a:p>
          <a:p>
            <a:pPr lvl="1"/>
            <a:r>
              <a:rPr lang="en-US" sz="1600" dirty="0"/>
              <a:t>Power BI</a:t>
            </a:r>
          </a:p>
          <a:p>
            <a:pPr lvl="1"/>
            <a:r>
              <a:rPr lang="en-US" sz="1600" dirty="0" err="1"/>
              <a:t>Plotly</a:t>
            </a:r>
            <a:endParaRPr lang="en-US" sz="1600" dirty="0"/>
          </a:p>
          <a:p>
            <a:endParaRPr lang="en-US" dirty="0"/>
          </a:p>
        </p:txBody>
      </p:sp>
      <p:sp>
        <p:nvSpPr>
          <p:cNvPr id="9" name="Rectangle 8"/>
          <p:cNvSpPr/>
          <p:nvPr/>
        </p:nvSpPr>
        <p:spPr>
          <a:xfrm>
            <a:off x="6400800" y="1428750"/>
            <a:ext cx="2743200" cy="1815882"/>
          </a:xfrm>
          <a:prstGeom prst="rect">
            <a:avLst/>
          </a:prstGeom>
        </p:spPr>
        <p:txBody>
          <a:bodyPr wrap="square">
            <a:spAutoFit/>
          </a:bodyPr>
          <a:lstStyle/>
          <a:p>
            <a:r>
              <a:rPr lang="en-US" sz="1600" b="1" dirty="0"/>
              <a:t>4. Version Control:</a:t>
            </a:r>
            <a:endParaRPr lang="en-US" sz="1600" dirty="0"/>
          </a:p>
          <a:p>
            <a:pPr lvl="1"/>
            <a:r>
              <a:rPr lang="en-US" sz="1600" dirty="0" err="1"/>
              <a:t>Git</a:t>
            </a:r>
            <a:r>
              <a:rPr lang="en-US" sz="1600" dirty="0"/>
              <a:t> for collaborative development.</a:t>
            </a:r>
          </a:p>
          <a:p>
            <a:r>
              <a:rPr lang="en-US" sz="1600" b="1" dirty="0"/>
              <a:t>5. </a:t>
            </a:r>
            <a:r>
              <a:rPr lang="en-US" sz="1600" b="1" dirty="0" err="1"/>
              <a:t>AutoML</a:t>
            </a:r>
            <a:r>
              <a:rPr lang="en-US" sz="1600" b="1" dirty="0"/>
              <a:t> Platforms:</a:t>
            </a:r>
            <a:endParaRPr lang="en-US" sz="1600" dirty="0"/>
          </a:p>
          <a:p>
            <a:pPr lvl="1"/>
            <a:r>
              <a:rPr lang="en-US" sz="1600" dirty="0"/>
              <a:t>H2O.ai</a:t>
            </a:r>
          </a:p>
          <a:p>
            <a:pPr lvl="1"/>
            <a:r>
              <a:rPr lang="en-US" sz="1600" dirty="0"/>
              <a:t>Google </a:t>
            </a:r>
            <a:r>
              <a:rPr lang="en-US" sz="1600" dirty="0" err="1"/>
              <a:t>AutoML</a:t>
            </a:r>
            <a:endParaRPr lang="en-US" sz="1600" dirty="0"/>
          </a:p>
          <a:p>
            <a:pPr lvl="1"/>
            <a:r>
              <a:rPr lang="en-US" sz="1600" dirty="0" err="1"/>
              <a:t>DataRobot</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 name="Title 1"/>
          <p:cNvSpPr>
            <a:spLocks noGrp="1"/>
          </p:cNvSpPr>
          <p:nvPr>
            <p:ph type="title"/>
          </p:nvPr>
        </p:nvSpPr>
        <p:spPr>
          <a:xfrm>
            <a:off x="457200" y="57150"/>
            <a:ext cx="8229600" cy="857250"/>
          </a:xfrm>
        </p:spPr>
        <p:txBody>
          <a:bodyPr/>
          <a:lstStyle/>
          <a:p>
            <a:r>
              <a:rPr lang="en-IN" b="1" dirty="0"/>
              <a:t>Up-Skill Points</a:t>
            </a:r>
            <a:endParaRPr lang="en-US" b="1" dirty="0"/>
          </a:p>
        </p:txBody>
      </p:sp>
      <p:sp>
        <p:nvSpPr>
          <p:cNvPr id="9" name="Content Placeholder 5"/>
          <p:cNvSpPr txBox="1">
            <a:spLocks/>
          </p:cNvSpPr>
          <p:nvPr/>
        </p:nvSpPr>
        <p:spPr>
          <a:xfrm>
            <a:off x="914400" y="1200150"/>
            <a:ext cx="5105400" cy="3581400"/>
          </a:xfrm>
          <a:prstGeom prst="rect">
            <a:avLst/>
          </a:prstGeom>
        </p:spPr>
        <p:txBody>
          <a:bodyPr vert="horz" lIns="91440" tIns="45720" rIns="91440" bIns="45720" rtlCol="0">
            <a:noAutofit/>
          </a:bodyPr>
          <a:lstStyle/>
          <a:p>
            <a:pPr marL="342900" indent="-342900">
              <a:buAutoNum type="arabicPeriod"/>
            </a:pPr>
            <a:r>
              <a:rPr lang="en-IN" sz="1600" dirty="0"/>
              <a:t>Arranging Meetings on Goole, Zoom &amp; Teams</a:t>
            </a:r>
          </a:p>
          <a:p>
            <a:pPr marL="342900" indent="-342900">
              <a:buAutoNum type="arabicPeriod"/>
            </a:pPr>
            <a:r>
              <a:rPr lang="en-IN" sz="1600" dirty="0"/>
              <a:t>Booking a Google Calendar</a:t>
            </a:r>
          </a:p>
          <a:p>
            <a:pPr marL="342900" indent="-342900">
              <a:buAutoNum type="arabicPeriod"/>
            </a:pPr>
            <a:r>
              <a:rPr lang="en-IN" sz="1600" dirty="0"/>
              <a:t>Excel Practice with Tracker Maintenance</a:t>
            </a:r>
          </a:p>
          <a:p>
            <a:pPr marL="342900" indent="-342900">
              <a:buAutoNum type="arabicPeriod"/>
            </a:pPr>
            <a:r>
              <a:rPr lang="en-IN" sz="1600" dirty="0"/>
              <a:t>Client Calls &amp; Follow-ups</a:t>
            </a:r>
          </a:p>
          <a:p>
            <a:pPr marL="342900" indent="-342900">
              <a:buAutoNum type="arabicPeriod"/>
            </a:pPr>
            <a:r>
              <a:rPr lang="en-IN" sz="1600" dirty="0"/>
              <a:t>Linked-in Posts </a:t>
            </a:r>
          </a:p>
          <a:p>
            <a:pPr marL="342900" indent="-342900">
              <a:buAutoNum type="arabicPeriod"/>
            </a:pPr>
            <a:r>
              <a:rPr lang="en-IN" sz="1600" dirty="0"/>
              <a:t>Linked-in Connections</a:t>
            </a:r>
          </a:p>
          <a:p>
            <a:pPr marL="342900" indent="-342900">
              <a:buAutoNum type="arabicPeriod"/>
            </a:pPr>
            <a:r>
              <a:rPr lang="en-IN" sz="1600" dirty="0"/>
              <a:t>Emailing Strategies &amp; Professional Mails</a:t>
            </a:r>
          </a:p>
          <a:p>
            <a:pPr marL="342900" indent="-342900">
              <a:buAutoNum type="arabicPeriod"/>
            </a:pPr>
            <a:r>
              <a:rPr lang="en-IN" sz="1600" dirty="0"/>
              <a:t>Power Point presentations</a:t>
            </a:r>
          </a:p>
          <a:p>
            <a:pPr marL="342900" indent="-342900">
              <a:buAutoNum type="arabicPeriod"/>
            </a:pPr>
            <a:endParaRPr lang="en-IN" sz="1600" dirty="0"/>
          </a:p>
          <a:p>
            <a:pPr marL="342900" indent="-342900">
              <a:buAutoNum type="arabicPeriod"/>
            </a:pPr>
            <a:endParaRPr lang="en-IN" sz="1600" dirty="0"/>
          </a:p>
          <a:p>
            <a:pPr marL="342900" indent="-342900">
              <a:buAutoNum type="arabicPeriod"/>
            </a:pPr>
            <a:endParaRPr lang="en-IN" sz="1600" dirty="0"/>
          </a:p>
          <a:p>
            <a:pPr marL="342900" indent="-342900">
              <a:buAutoNum type="arabicPeriod"/>
            </a:pPr>
            <a:endParaRPr lang="en-IN" sz="1600" dirty="0"/>
          </a:p>
          <a:p>
            <a:pPr marL="342900" indent="-342900"/>
            <a:endParaRPr lang="en-US" sz="1600" dirty="0"/>
          </a:p>
          <a:p>
            <a:pPr marL="342900" marR="0" lvl="0" indent="-342900" algn="l" defTabSz="914400" rtl="0" eaLnBrk="1" fontAlgn="auto" latinLnBrk="0" hangingPunct="1">
              <a:spcBef>
                <a:spcPct val="20000"/>
              </a:spcBef>
              <a:spcAft>
                <a:spcPts val="0"/>
              </a:spcAft>
              <a:buClrTx/>
              <a:buSzTx/>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3" name="Rectangle 2"/>
          <p:cNvSpPr/>
          <p:nvPr/>
        </p:nvSpPr>
        <p:spPr>
          <a:xfrm>
            <a:off x="1371600" y="209550"/>
            <a:ext cx="3200400" cy="523220"/>
          </a:xfrm>
          <a:prstGeom prst="rect">
            <a:avLst/>
          </a:prstGeom>
        </p:spPr>
        <p:txBody>
          <a:bodyPr wrap="square">
            <a:spAutoFit/>
          </a:bodyPr>
          <a:lstStyle/>
          <a:p>
            <a:r>
              <a:rPr lang="en-US" sz="2800" b="1" dirty="0"/>
              <a:t>Sales &amp; Marketing</a:t>
            </a:r>
          </a:p>
        </p:txBody>
      </p:sp>
      <p:sp>
        <p:nvSpPr>
          <p:cNvPr id="6" name="Rectangle 5"/>
          <p:cNvSpPr/>
          <p:nvPr/>
        </p:nvSpPr>
        <p:spPr>
          <a:xfrm>
            <a:off x="609600" y="971550"/>
            <a:ext cx="4572000" cy="3139321"/>
          </a:xfrm>
          <a:prstGeom prst="rect">
            <a:avLst/>
          </a:prstGeom>
        </p:spPr>
        <p:txBody>
          <a:bodyPr>
            <a:spAutoFit/>
          </a:bodyPr>
          <a:lstStyle/>
          <a:p>
            <a:pPr algn="just"/>
            <a:r>
              <a:rPr lang="en-US" dirty="0"/>
              <a:t>Sales and marketing are two essential functions for any business, especially in the IT industry. </a:t>
            </a:r>
          </a:p>
          <a:p>
            <a:pPr algn="just"/>
            <a:endParaRPr lang="en-US" dirty="0"/>
          </a:p>
          <a:p>
            <a:pPr algn="just"/>
            <a:r>
              <a:rPr lang="en-US" dirty="0"/>
              <a:t>They work hand-in-hand to generate leads, nurture relationships, and ultimately drive revenue. </a:t>
            </a:r>
          </a:p>
          <a:p>
            <a:pPr algn="just"/>
            <a:endParaRPr lang="en-US" dirty="0"/>
          </a:p>
          <a:p>
            <a:pPr algn="just"/>
            <a:r>
              <a:rPr lang="en-US" dirty="0"/>
              <a:t>This presentation will delve into key aspects of IT sales and marketing, providing insights and strategies for success.</a:t>
            </a:r>
          </a:p>
        </p:txBody>
      </p:sp>
      <p:pic>
        <p:nvPicPr>
          <p:cNvPr id="46081" name="Picture 1" descr="C:\Pankaj\Reet Technologies\Files,Artwork &amp; Mktg\istockphoto-1395448518-1024x1024.jpg"/>
          <p:cNvPicPr>
            <a:picLocks noChangeAspect="1" noChangeArrowheads="1"/>
          </p:cNvPicPr>
          <p:nvPr/>
        </p:nvPicPr>
        <p:blipFill>
          <a:blip r:embed="rId3"/>
          <a:srcRect/>
          <a:stretch>
            <a:fillRect/>
          </a:stretch>
        </p:blipFill>
        <p:spPr bwMode="auto">
          <a:xfrm>
            <a:off x="5715000" y="0"/>
            <a:ext cx="3429000" cy="5150049"/>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solidFill>
            <a:schemeClr val="accent4">
              <a:lumMod val="40000"/>
              <a:lumOff val="60000"/>
            </a:schemeClr>
          </a:solidFill>
        </p:spPr>
      </p:pic>
      <p:sp>
        <p:nvSpPr>
          <p:cNvPr id="3" name="Rectangle 2"/>
          <p:cNvSpPr/>
          <p:nvPr/>
        </p:nvSpPr>
        <p:spPr>
          <a:xfrm>
            <a:off x="609600" y="361950"/>
            <a:ext cx="3962400" cy="1754326"/>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b="1" dirty="0"/>
              <a:t>Understanding the Product</a:t>
            </a:r>
          </a:p>
          <a:p>
            <a:pPr algn="just"/>
            <a:endParaRPr lang="en-US" b="1" dirty="0"/>
          </a:p>
          <a:p>
            <a:pPr algn="just"/>
            <a:r>
              <a:rPr lang="en-US" dirty="0"/>
              <a:t>Have in-depth knowledge of the IT products or services you are selling. Be able to explain technical features and benefits clearly and concisely.</a:t>
            </a:r>
          </a:p>
        </p:txBody>
      </p:sp>
      <p:sp>
        <p:nvSpPr>
          <p:cNvPr id="5" name="Rectangle 4"/>
          <p:cNvSpPr/>
          <p:nvPr/>
        </p:nvSpPr>
        <p:spPr>
          <a:xfrm>
            <a:off x="4876800" y="360224"/>
            <a:ext cx="3886200" cy="1754326"/>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b="1" dirty="0"/>
              <a:t>Identifying Target Audience</a:t>
            </a:r>
          </a:p>
          <a:p>
            <a:endParaRPr lang="en-US" b="1" dirty="0"/>
          </a:p>
          <a:p>
            <a:r>
              <a:rPr lang="en-US" dirty="0"/>
              <a:t>Know who your ideal customers are and their specific needs. Segment your market to tailor your approach effectively.</a:t>
            </a:r>
          </a:p>
        </p:txBody>
      </p:sp>
      <p:sp>
        <p:nvSpPr>
          <p:cNvPr id="6" name="Rectangle 5"/>
          <p:cNvSpPr/>
          <p:nvPr/>
        </p:nvSpPr>
        <p:spPr>
          <a:xfrm>
            <a:off x="609600" y="2571750"/>
            <a:ext cx="3962400" cy="2031325"/>
          </a:xfrm>
          <a:prstGeom prst="rect">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US" b="1" dirty="0"/>
              <a:t>Building Relationships</a:t>
            </a:r>
          </a:p>
          <a:p>
            <a:pPr algn="just"/>
            <a:r>
              <a:rPr lang="en-IN" b="1" dirty="0"/>
              <a:t>With Clients &amp; Vendors</a:t>
            </a:r>
          </a:p>
          <a:p>
            <a:pPr algn="just"/>
            <a:endParaRPr lang="en-US" b="1" dirty="0"/>
          </a:p>
          <a:p>
            <a:pPr algn="just"/>
            <a:r>
              <a:rPr lang="en-US" dirty="0"/>
              <a:t>Establish and maintain strong relationships with potential and existing clients. Practice active listening to understand their challenges and needs.</a:t>
            </a:r>
          </a:p>
        </p:txBody>
      </p:sp>
      <p:sp>
        <p:nvSpPr>
          <p:cNvPr id="7" name="Rectangle 6"/>
          <p:cNvSpPr/>
          <p:nvPr/>
        </p:nvSpPr>
        <p:spPr>
          <a:xfrm>
            <a:off x="4876800" y="2571751"/>
            <a:ext cx="3886200" cy="2031325"/>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b="1" dirty="0"/>
              <a:t>Value Proposition</a:t>
            </a:r>
          </a:p>
          <a:p>
            <a:endParaRPr lang="en-US" b="1" dirty="0"/>
          </a:p>
          <a:p>
            <a:r>
              <a:rPr lang="en-US" dirty="0"/>
              <a:t>Clearly articulate the unique value and benefits your product or service provides. Highlight how it solves specific problems or improves efficiency.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3" name="Rectangle 2"/>
          <p:cNvSpPr/>
          <p:nvPr/>
        </p:nvSpPr>
        <p:spPr>
          <a:xfrm>
            <a:off x="381000" y="133350"/>
            <a:ext cx="5339282" cy="523220"/>
          </a:xfrm>
          <a:prstGeom prst="rect">
            <a:avLst/>
          </a:prstGeom>
        </p:spPr>
        <p:txBody>
          <a:bodyPr wrap="none">
            <a:spAutoFit/>
          </a:bodyPr>
          <a:lstStyle/>
          <a:p>
            <a:r>
              <a:rPr lang="en-US" sz="2800" b="1" dirty="0"/>
              <a:t>Demonstrations and Presentations</a:t>
            </a:r>
          </a:p>
        </p:txBody>
      </p:sp>
      <p:sp>
        <p:nvSpPr>
          <p:cNvPr id="5" name="Rectangle 4"/>
          <p:cNvSpPr/>
          <p:nvPr/>
        </p:nvSpPr>
        <p:spPr>
          <a:xfrm>
            <a:off x="457200" y="971550"/>
            <a:ext cx="4800600" cy="3539430"/>
          </a:xfrm>
          <a:prstGeom prst="rect">
            <a:avLst/>
          </a:prstGeom>
        </p:spPr>
        <p:txBody>
          <a:bodyPr wrap="square">
            <a:spAutoFit/>
          </a:bodyPr>
          <a:lstStyle/>
          <a:p>
            <a:pPr algn="just"/>
            <a:r>
              <a:rPr lang="en-US" sz="1600" b="1" dirty="0"/>
              <a:t>Demonstrations and Presentations</a:t>
            </a:r>
          </a:p>
          <a:p>
            <a:pPr algn="just"/>
            <a:r>
              <a:rPr lang="en-US" sz="1600" dirty="0"/>
              <a:t>Conduct compelling product demos and presentations to showcase features and benefits. Use case studies and testimonials to build credibility.</a:t>
            </a:r>
          </a:p>
          <a:p>
            <a:pPr algn="just"/>
            <a:endParaRPr lang="en-US" sz="1600" dirty="0"/>
          </a:p>
          <a:p>
            <a:pPr algn="just"/>
            <a:r>
              <a:rPr lang="en-US" sz="1600" b="1" dirty="0"/>
              <a:t>Objection Handling</a:t>
            </a:r>
          </a:p>
          <a:p>
            <a:pPr algn="just"/>
            <a:r>
              <a:rPr lang="en-US" sz="1600" dirty="0"/>
              <a:t>Be prepared to address common objections and concerns. Provide clear, evidence-based responses to reassure potential clients.</a:t>
            </a:r>
          </a:p>
          <a:p>
            <a:pPr algn="just"/>
            <a:endParaRPr lang="en-US" sz="1600" dirty="0"/>
          </a:p>
          <a:p>
            <a:pPr algn="just"/>
            <a:r>
              <a:rPr lang="en-US" sz="1600" b="1" dirty="0"/>
              <a:t>Negotiation Skills</a:t>
            </a:r>
          </a:p>
          <a:p>
            <a:pPr algn="just"/>
            <a:r>
              <a:rPr lang="en-US" sz="1600" dirty="0"/>
              <a:t>Develop strong negotiation skills to close deals effectively. Understand client budgets and constraints to offer suitable solutions.</a:t>
            </a:r>
          </a:p>
        </p:txBody>
      </p:sp>
      <p:pic>
        <p:nvPicPr>
          <p:cNvPr id="54273" name="Picture 1" descr="C:\Pankaj\Reet Technologies\Files,Artwork &amp; Mktg\istockphoto-958531526-2048x2048.jpg"/>
          <p:cNvPicPr>
            <a:picLocks noChangeAspect="1" noChangeArrowheads="1"/>
          </p:cNvPicPr>
          <p:nvPr/>
        </p:nvPicPr>
        <p:blipFill>
          <a:blip r:embed="rId3" cstate="print"/>
          <a:srcRect/>
          <a:stretch>
            <a:fillRect/>
          </a:stretch>
        </p:blipFill>
        <p:spPr bwMode="auto">
          <a:xfrm>
            <a:off x="5719620" y="6277"/>
            <a:ext cx="3424380" cy="5137224"/>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graphicFrame>
        <p:nvGraphicFramePr>
          <p:cNvPr id="3" name="Table 2"/>
          <p:cNvGraphicFramePr>
            <a:graphicFrameLocks noGrp="1"/>
          </p:cNvGraphicFramePr>
          <p:nvPr/>
        </p:nvGraphicFramePr>
        <p:xfrm>
          <a:off x="1066800" y="1352550"/>
          <a:ext cx="7086600" cy="1005840"/>
        </p:xfrm>
        <a:graphic>
          <a:graphicData uri="http://schemas.openxmlformats.org/drawingml/2006/table">
            <a:tbl>
              <a:tblPr>
                <a:tableStyleId>{616DA210-FB5B-4158-B5E0-FEB733F419BA}</a:tableStyleId>
              </a:tblPr>
              <a:tblGrid>
                <a:gridCol w="23622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0">
                <a:tc>
                  <a:txBody>
                    <a:bodyPr/>
                    <a:lstStyle/>
                    <a:p>
                      <a:r>
                        <a:rPr lang="en-US" dirty="0"/>
                        <a:t>Conversion Rates</a:t>
                      </a:r>
                    </a:p>
                  </a:txBody>
                  <a:tcPr anchor="ctr"/>
                </a:tc>
                <a:tc>
                  <a:txBody>
                    <a:bodyPr/>
                    <a:lstStyle/>
                    <a:p>
                      <a:r>
                        <a:rPr lang="en-US"/>
                        <a:t>Average Deal Size</a:t>
                      </a:r>
                    </a:p>
                  </a:txBody>
                  <a:tcPr anchor="ctr"/>
                </a:tc>
                <a:tc>
                  <a:txBody>
                    <a:bodyPr/>
                    <a:lstStyle/>
                    <a:p>
                      <a:r>
                        <a:rPr lang="en-US"/>
                        <a:t>Sales Cycle Length</a:t>
                      </a:r>
                    </a:p>
                  </a:txBody>
                  <a:tcPr anchor="ctr"/>
                </a:tc>
                <a:extLst>
                  <a:ext uri="{0D108BD9-81ED-4DB2-BD59-A6C34878D82A}">
                    <a16:rowId xmlns:a16="http://schemas.microsoft.com/office/drawing/2014/main" val="10000"/>
                  </a:ext>
                </a:extLst>
              </a:tr>
              <a:tr h="0">
                <a:tc>
                  <a:txBody>
                    <a:bodyPr/>
                    <a:lstStyle/>
                    <a:p>
                      <a:r>
                        <a:rPr lang="en-US" dirty="0"/>
                        <a:t>Customer Satisfaction</a:t>
                      </a:r>
                    </a:p>
                  </a:txBody>
                  <a:tcPr anchor="ctr"/>
                </a:tc>
                <a:tc>
                  <a:txBody>
                    <a:bodyPr/>
                    <a:lstStyle/>
                    <a:p>
                      <a:r>
                        <a:rPr lang="en-US" dirty="0"/>
                        <a:t>Retention Rate</a:t>
                      </a:r>
                    </a:p>
                  </a:txBody>
                  <a:tcPr anchor="ctr"/>
                </a:tc>
                <a:tc>
                  <a:txBody>
                    <a:bodyPr/>
                    <a:lstStyle/>
                    <a:p>
                      <a:r>
                        <a:rPr lang="en-US" dirty="0"/>
                        <a:t>Lead Generation Efficiency</a:t>
                      </a:r>
                    </a:p>
                  </a:txBody>
                  <a:tcPr anchor="ctr"/>
                </a:tc>
                <a:extLst>
                  <a:ext uri="{0D108BD9-81ED-4DB2-BD59-A6C34878D82A}">
                    <a16:rowId xmlns:a16="http://schemas.microsoft.com/office/drawing/2014/main" val="10001"/>
                  </a:ext>
                </a:extLst>
              </a:tr>
            </a:tbl>
          </a:graphicData>
        </a:graphic>
      </p:graphicFrame>
      <p:sp>
        <p:nvSpPr>
          <p:cNvPr id="8" name="Rectangle 7"/>
          <p:cNvSpPr/>
          <p:nvPr/>
        </p:nvSpPr>
        <p:spPr>
          <a:xfrm>
            <a:off x="3048000" y="438150"/>
            <a:ext cx="3311291" cy="523220"/>
          </a:xfrm>
          <a:prstGeom prst="rect">
            <a:avLst/>
          </a:prstGeom>
        </p:spPr>
        <p:txBody>
          <a:bodyPr wrap="none">
            <a:spAutoFit/>
          </a:bodyPr>
          <a:lstStyle/>
          <a:p>
            <a:r>
              <a:rPr lang="en-US" sz="2800" b="1" dirty="0"/>
              <a:t>Performance Metrics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3" name="Rectangle 2"/>
          <p:cNvSpPr/>
          <p:nvPr/>
        </p:nvSpPr>
        <p:spPr>
          <a:xfrm>
            <a:off x="609600" y="895350"/>
            <a:ext cx="7848600" cy="3785652"/>
          </a:xfrm>
          <a:prstGeom prst="rect">
            <a:avLst/>
          </a:prstGeom>
        </p:spPr>
        <p:txBody>
          <a:bodyPr wrap="square">
            <a:spAutoFit/>
          </a:bodyPr>
          <a:lstStyle/>
          <a:p>
            <a:r>
              <a:rPr lang="en-US" sz="1600" b="1" dirty="0"/>
              <a:t>Digital Marketing</a:t>
            </a:r>
          </a:p>
          <a:p>
            <a:r>
              <a:rPr lang="en-US" sz="1600" dirty="0"/>
              <a:t>Leverage online channels like search engine optimization (SEO), pay-per-click (PPC) advertising, and content marketing to reach your target audience.</a:t>
            </a:r>
          </a:p>
          <a:p>
            <a:endParaRPr lang="en-US" sz="1600" dirty="0"/>
          </a:p>
          <a:p>
            <a:r>
              <a:rPr lang="en-US" sz="1600" b="1" dirty="0"/>
              <a:t>Social Media Marketing</a:t>
            </a:r>
          </a:p>
          <a:p>
            <a:r>
              <a:rPr lang="en-US" sz="1600" dirty="0"/>
              <a:t>Engage with potential customers on platforms like LinkedIn, Twitter, and </a:t>
            </a:r>
            <a:r>
              <a:rPr lang="en-US" sz="1600" dirty="0" err="1"/>
              <a:t>Facebook</a:t>
            </a:r>
            <a:r>
              <a:rPr lang="en-US" sz="1600" dirty="0"/>
              <a:t> to build brand awareness and generate leads.</a:t>
            </a:r>
          </a:p>
          <a:p>
            <a:endParaRPr lang="en-US" sz="1600" dirty="0"/>
          </a:p>
          <a:p>
            <a:r>
              <a:rPr lang="en-US" sz="1600" b="1" dirty="0"/>
              <a:t>Press Release &amp; Articles</a:t>
            </a:r>
          </a:p>
          <a:p>
            <a:r>
              <a:rPr lang="en-US" sz="1600" dirty="0"/>
              <a:t>Share news and insights about your company and products through press releases and industry publications to gain media attention.</a:t>
            </a:r>
          </a:p>
          <a:p>
            <a:endParaRPr lang="en-US" sz="1600" dirty="0"/>
          </a:p>
          <a:p>
            <a:r>
              <a:rPr lang="en-US" sz="1600" b="1" dirty="0" err="1"/>
              <a:t>Youtube</a:t>
            </a:r>
            <a:r>
              <a:rPr lang="en-US" sz="1600" b="1" dirty="0"/>
              <a:t> Ads</a:t>
            </a:r>
          </a:p>
          <a:p>
            <a:r>
              <a:rPr lang="en-US" sz="1600" dirty="0"/>
              <a:t>Utilize video marketing on YouTube to showcase your products and services in a visually engaging way.</a:t>
            </a:r>
          </a:p>
        </p:txBody>
      </p:sp>
      <p:sp>
        <p:nvSpPr>
          <p:cNvPr id="5" name="Rectangle 4"/>
          <p:cNvSpPr/>
          <p:nvPr/>
        </p:nvSpPr>
        <p:spPr>
          <a:xfrm>
            <a:off x="3581400" y="285750"/>
            <a:ext cx="1722523" cy="523220"/>
          </a:xfrm>
          <a:prstGeom prst="rect">
            <a:avLst/>
          </a:prstGeom>
        </p:spPr>
        <p:txBody>
          <a:bodyPr wrap="none">
            <a:spAutoFit/>
          </a:bodyPr>
          <a:lstStyle/>
          <a:p>
            <a:r>
              <a:rPr lang="en-US" sz="2800" b="1" dirty="0"/>
              <a:t>Marketing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590800" y="0"/>
            <a:ext cx="4572000" cy="609600"/>
          </a:xfrm>
          <a:prstGeom prst="rect">
            <a:avLst/>
          </a:prstGeom>
        </p:spPr>
        <p:txBody>
          <a:bodyPr vert="horz" lIns="91440" tIns="45720" rIns="91440" bIns="45720" rtlCol="0">
            <a:normAutofit/>
          </a:bodyPr>
          <a:lstStyle/>
          <a:p>
            <a:endParaRPr lang="en-US" sz="3200" b="1" dirty="0"/>
          </a:p>
        </p:txBody>
      </p:sp>
      <p:graphicFrame>
        <p:nvGraphicFramePr>
          <p:cNvPr id="5" name="Chart 4"/>
          <p:cNvGraphicFramePr/>
          <p:nvPr/>
        </p:nvGraphicFramePr>
        <p:xfrm>
          <a:off x="762000" y="209550"/>
          <a:ext cx="7543800" cy="4673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rema\Downloads\WhatsApp Image 2024-07-08 at 10.44.06 PM.jpeg"/>
          <p:cNvPicPr>
            <a:picLocks noChangeAspect="1" noChangeArrowheads="1"/>
          </p:cNvPicPr>
          <p:nvPr/>
        </p:nvPicPr>
        <p:blipFill>
          <a:blip r:embed="rId2"/>
          <a:srcRect/>
          <a:stretch>
            <a:fillRect/>
          </a:stretch>
        </p:blipFill>
        <p:spPr bwMode="auto">
          <a:xfrm>
            <a:off x="0" y="1"/>
            <a:ext cx="9144000" cy="5143500"/>
          </a:xfrm>
          <a:prstGeom prst="rect">
            <a:avLst/>
          </a:prstGeom>
          <a:noFill/>
        </p:spPr>
      </p:pic>
      <p:sp>
        <p:nvSpPr>
          <p:cNvPr id="25" name="Content Placeholder 5"/>
          <p:cNvSpPr txBox="1">
            <a:spLocks/>
          </p:cNvSpPr>
          <p:nvPr/>
        </p:nvSpPr>
        <p:spPr>
          <a:xfrm>
            <a:off x="2590800" y="0"/>
            <a:ext cx="4572000" cy="609600"/>
          </a:xfrm>
          <a:prstGeom prst="rect">
            <a:avLst/>
          </a:prstGeom>
        </p:spPr>
        <p:txBody>
          <a:bodyPr vert="horz" lIns="91440" tIns="45720" rIns="91440" bIns="45720" rtlCol="0">
            <a:normAutofit/>
          </a:bodyPr>
          <a:lstStyle/>
          <a:p>
            <a:endParaRPr lang="en-US" sz="3200" b="1" dirty="0"/>
          </a:p>
        </p:txBody>
      </p:sp>
      <p:graphicFrame>
        <p:nvGraphicFramePr>
          <p:cNvPr id="7" name="Diagram 6"/>
          <p:cNvGraphicFramePr/>
          <p:nvPr/>
        </p:nvGraphicFramePr>
        <p:xfrm>
          <a:off x="1219200" y="285750"/>
          <a:ext cx="6553200" cy="431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1971</TotalTime>
  <Words>4911</Words>
  <Application>Microsoft Office PowerPoint</Application>
  <PresentationFormat>On-screen Show (16:9)</PresentationFormat>
  <Paragraphs>700</Paragraphs>
  <Slides>68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Britannic Bold</vt:lpstr>
      <vt:lpstr>Calibri</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Departments in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Website Technologies</vt:lpstr>
      <vt:lpstr>Website Technologies</vt:lpstr>
      <vt:lpstr>Website Types</vt:lpstr>
      <vt:lpstr>Layouts and Important Points</vt:lpstr>
      <vt:lpstr>Payment Integration and Payment Gateway</vt:lpstr>
      <vt:lpstr>Payment Integration</vt:lpstr>
      <vt:lpstr>How does it work?</vt:lpstr>
      <vt:lpstr>Block Chain</vt:lpstr>
      <vt:lpstr>Human Resource - HR</vt:lpstr>
      <vt:lpstr>Human Resource - HR</vt:lpstr>
      <vt:lpstr>Human Resource - HR</vt:lpstr>
      <vt:lpstr>Roles &amp; Responsibilities of HR</vt:lpstr>
      <vt:lpstr>Interview Questions</vt:lpstr>
      <vt:lpstr>PowerPoint Presentation</vt:lpstr>
      <vt:lpstr>What is AI?</vt:lpstr>
      <vt:lpstr>What are important AI departments?</vt:lpstr>
      <vt:lpstr>What are important AI departments?</vt:lpstr>
      <vt:lpstr>What are important AI departments?</vt:lpstr>
      <vt:lpstr>Tech Skills of an AI Engineer?</vt:lpstr>
      <vt:lpstr>Languages &amp; Tools of AI Enginner</vt:lpstr>
      <vt:lpstr>Up-Skill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Premali Shintre</dc:creator>
  <cp:lastModifiedBy>Premali Shintre</cp:lastModifiedBy>
  <cp:revision>415</cp:revision>
  <dcterms:created xsi:type="dcterms:W3CDTF">2006-08-16T00:00:00Z</dcterms:created>
  <dcterms:modified xsi:type="dcterms:W3CDTF">2025-11-19T14:08:58Z</dcterms:modified>
</cp:coreProperties>
</file>